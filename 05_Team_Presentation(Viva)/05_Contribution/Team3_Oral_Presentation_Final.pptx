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F3E7AB4-C3D0-090F-928E-E4D7C167107D}">
          <p14:sldIdLst>
            <p14:sldId id="256"/>
            <p14:sldId id="257"/>
            <p14:sldId id="258"/>
          </p14:sldIdLst>
        </p14:section>
        <p14:section name="Mini Project 1" id="{4E76F283-CB6B-81EF-615F-0D774EDEB1DF}">
          <p14:sldIdLst>
            <p14:sldId id="259"/>
          </p14:sldIdLst>
        </p14:section>
        <p14:section name="MP1 Problem" id="{61F89860-BDBE-2274-2713-43653ECDECDB}">
          <p14:sldIdLst>
            <p14:sldId id="260"/>
            <p14:sldId id="261"/>
            <p14:sldId id="262"/>
          </p14:sldIdLst>
        </p14:section>
        <p14:section name="MP1 Proof" id="{58292E35-0D5B-E783-B7F7-73653AAD762D}">
          <p14:sldIdLst>
            <p14:sldId id="263"/>
            <p14:sldId id="264"/>
            <p14:sldId id="265"/>
          </p14:sldIdLst>
        </p14:section>
        <p14:section name="Mini Project 2" id="{92F2CC1E-5311-2015-BF38-22B8B198CD86}">
          <p14:sldIdLst>
            <p14:sldId id="266"/>
          </p14:sldIdLst>
        </p14:section>
        <p14:section name="MP2 Problem" id="{D5F50AD5-BB24-65E8-F5EB-F3ECA9870B4D}">
          <p14:sldIdLst>
            <p14:sldId id="267"/>
            <p14:sldId id="268"/>
          </p14:sldIdLst>
        </p14:section>
        <p14:section name="MP2 Solution" id="{7DCDDA14-F2F3-A54D-5F0C-5501C29109FE}">
          <p14:sldIdLst>
            <p14:sldId id="269"/>
          </p14:sldIdLst>
        </p14:section>
        <p14:section name="MP2 Proof" id="{8F470FC3-127E-CFAC-10D6-DD59D91FF1E2}">
          <p14:sldIdLst>
            <p14:sldId id="270"/>
            <p14:sldId id="271"/>
            <p14:sldId id="272"/>
          </p14:sldIdLst>
        </p14:section>
        <p14:section name="Mini Project 3" id="{54A29E40-2911-E38B-EEB0-7AFFBB351425}">
          <p14:sldIdLst>
            <p14:sldId id="273"/>
          </p14:sldIdLst>
        </p14:section>
        <p14:section name="MP3 Problem" id="{FAB5382F-BE67-E1E0-C1F3-E1017B3D056C}">
          <p14:sldIdLst>
            <p14:sldId id="274"/>
            <p14:sldId id="275"/>
            <p14:sldId id="276"/>
            <p14:sldId id="277"/>
          </p14:sldIdLst>
        </p14:section>
        <p14:section name="Mini Project 4" id="{1CEBD647-60D7-207A-045F-27F3316B6026}">
          <p14:sldIdLst>
            <p14:sldId id="278"/>
          </p14:sldIdLst>
        </p14:section>
        <p14:section name="MP4 Overview" id="{DB4E5CAB-32FF-12FA-B26E-A1ADB1043394}">
          <p14:sldIdLst>
            <p14:sldId id="279"/>
            <p14:sldId id="280"/>
            <p14:sldId id="281"/>
            <p14:sldId id="282"/>
            <p14:sldId id="283"/>
          </p14:sldIdLst>
        </p14:section>
        <p14:section name="Closing" id="{DAD636DE-5300-A817-E355-ADF83C619C68}">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Results</c:v>
                </c:pt>
              </c:strCache>
            </c:strRef>
          </c:tx>
          <c:spPr>
            <a:solidFill>
              <a:schemeClr val="accent1"/>
            </a:solidFill>
            <a:ln w="9525" cap="flat">
              <a:solidFill>
                <a:srgbClr val="F9F9F9"/>
              </a:solidFill>
              <a:prstDash val="solid"/>
              <a:round/>
            </a:ln>
            <a:effectLst/>
          </c:spPr>
          <c:dPt>
            <c:idx val="0"/>
            <c:bubble3D val="0"/>
            <c:spPr>
              <a:solidFill>
                <a:srgbClr val="2A9D8F"/>
              </a:solidFill>
              <a:ln w="25400" cap="flat">
                <a:solidFill>
                  <a:srgbClr val="FFFFFF"/>
                </a:solidFill>
                <a:prstDash val="solid"/>
                <a:round/>
              </a:ln>
              <a:effectLst/>
            </c:spPr>
            <c:extLst>
              <c:ext xmlns:c16="http://schemas.microsoft.com/office/drawing/2014/chart" uri="{C3380CC4-5D6E-409C-BE32-E72D297353CC}">
                <c16:uniqueId val="{00000001-0511-4857-AC9A-16E4BC6152C0}"/>
              </c:ext>
            </c:extLst>
          </c:dPt>
          <c:dPt>
            <c:idx val="1"/>
            <c:bubble3D val="0"/>
            <c:spPr>
              <a:solidFill>
                <a:srgbClr val="D64541"/>
              </a:solidFill>
              <a:ln w="25400" cap="flat">
                <a:solidFill>
                  <a:srgbClr val="FFFFFF"/>
                </a:solidFill>
                <a:prstDash val="solid"/>
                <a:round/>
              </a:ln>
              <a:effectLst/>
            </c:spPr>
            <c:extLst>
              <c:ext xmlns:c16="http://schemas.microsoft.com/office/drawing/2014/chart" uri="{C3380CC4-5D6E-409C-BE32-E72D297353CC}">
                <c16:uniqueId val="{00000003-0511-4857-AC9A-16E4BC6152C0}"/>
              </c:ext>
            </c:extLst>
          </c:dPt>
          <c:dLbls>
            <c:dLbl>
              <c:idx val="0"/>
              <c:numFmt formatCode="General" sourceLinked="0"/>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511-4857-AC9A-16E4BC6152C0}"/>
                </c:ext>
              </c:extLst>
            </c:dLbl>
            <c:dLbl>
              <c:idx val="1"/>
              <c:numFmt formatCode="General" sourceLinked="0"/>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511-4857-AC9A-16E4BC6152C0}"/>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Passed first time</c:v>
                </c:pt>
                <c:pt idx="1">
                  <c:v>Failed, then fixed</c:v>
                </c:pt>
              </c:strCache>
            </c:strRef>
          </c:cat>
          <c:val>
            <c:numRef>
              <c:f>Sheet1!$B$2:$B$3</c:f>
              <c:numCache>
                <c:formatCode>General</c:formatCode>
                <c:ptCount val="2"/>
                <c:pt idx="0">
                  <c:v>17</c:v>
                </c:pt>
                <c:pt idx="1">
                  <c:v>2</c:v>
                </c:pt>
              </c:numCache>
            </c:numRef>
          </c:val>
          <c:extLst>
            <c:ext xmlns:c16="http://schemas.microsoft.com/office/drawing/2014/chart" uri="{C3380CC4-5D6E-409C-BE32-E72D297353CC}">
              <c16:uniqueId val="{00000004-0511-4857-AC9A-16E4BC6152C0}"/>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300">
              <a:solidFill>
                <a:srgbClr val="1B233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03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txBody>
          <a:bodyPr/>
          <a:lstStyle/>
          <a:p>
            <a:endParaRPr lang="en-GB"/>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COM4401 · Team 3 · Team Oral Presentation</a:t>
            </a:r>
            <a:endParaRPr lang="en-US" sz="1000" dirty="0"/>
          </a:p>
        </p:txBody>
      </p:sp>
      <p:sp>
        <p:nvSpPr>
          <p:cNvPr id="4" name="Text 2"/>
          <p:cNvSpPr>
            <a:spLocks noGrp="1"/>
          </p:cNvSpPr>
          <p:nvPr>
            <p:ph type="title" idx="102" hasCustomPrompt="1"/>
          </p:nvPr>
        </p:nvSpPr>
        <p:spPr>
          <a:xfrm>
            <a:off x="548640" y="365760"/>
            <a:ext cx="9509760" cy="777240"/>
          </a:xfrm>
          <a:prstGeom prst="rect">
            <a:avLst/>
          </a:prstGeom>
          <a:noFill/>
          <a:ln/>
        </p:spPr>
        <p:txBody>
          <a:bodyPr wrap="square" rtlCol="0"/>
          <a:lstStyle>
            <a:lvl1pPr marL="0" indent="0" algn="l">
              <a:buNone/>
              <a:defRPr lang="en-US" sz="3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txBody>
          <a:bodyPr/>
          <a:lstStyle/>
          <a:p>
            <a:endParaRPr lang="en-GB"/>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COM4401 · Team 3 · Team Oral Presentation</a:t>
            </a:r>
            <a:endParaRPr lang="en-US" sz="1000" dirty="0"/>
          </a:p>
        </p:txBody>
      </p:sp>
      <p:sp>
        <p:nvSpPr>
          <p:cNvPr id="4" name="Text 2"/>
          <p:cNvSpPr>
            <a:spLocks noGrp="1"/>
          </p:cNvSpPr>
          <p:nvPr>
            <p:ph type="title" idx="102" hasCustomPrompt="1"/>
          </p:nvPr>
        </p:nvSpPr>
        <p:spPr>
          <a:xfrm>
            <a:off x="548640" y="365760"/>
            <a:ext cx="9509760" cy="777240"/>
          </a:xfrm>
          <a:prstGeom prst="rect">
            <a:avLst/>
          </a:prstGeom>
          <a:noFill/>
          <a:ln/>
        </p:spPr>
        <p:txBody>
          <a:bodyPr wrap="square" rtlCol="0"/>
          <a:lstStyle>
            <a:lvl1pPr marL="0" indent="0" algn="l">
              <a:buNone/>
              <a:defRPr lang="en-US" sz="3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EATUR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15.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chart" Target="../charts/chart1.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5.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ckdrop circle"/>
          <p:cNvSpPr/>
          <p:nvPr/>
        </p:nvSpPr>
        <p:spPr>
          <a:xfrm>
            <a:off x="7589520" y="457200"/>
            <a:ext cx="5120640" cy="5120640"/>
          </a:xfrm>
          <a:prstGeom prst="ellipse">
            <a:avLst/>
          </a:prstGeom>
          <a:solidFill>
            <a:schemeClr val="accent4">
              <a:alpha val="45000"/>
            </a:schemeClr>
          </a:solidFill>
          <a:ln w="12700">
            <a:solidFill>
              <a:schemeClr val="accent4"/>
            </a:solidFill>
            <a:prstDash val="solid"/>
          </a:ln>
        </p:spPr>
        <p:txBody>
          <a:bodyPr/>
          <a:lstStyle/>
          <a:p>
            <a:endParaRPr lang="en-GB"/>
          </a:p>
        </p:txBody>
      </p:sp>
      <p:sp>
        <p:nvSpPr>
          <p:cNvPr id="3" name="Text 1"/>
          <p:cNvSpPr txBox="1"/>
          <p:nvPr/>
        </p:nvSpPr>
        <p:spPr>
          <a:xfrm>
            <a:off x="822960" y="1417320"/>
            <a:ext cx="6400800" cy="320040"/>
          </a:xfrm>
          <a:prstGeom prst="rect">
            <a:avLst/>
          </a:prstGeom>
          <a:noFill/>
          <a:ln/>
        </p:spPr>
        <p:txBody>
          <a:bodyPr wrap="square" lIns="0" tIns="0" rIns="0" bIns="0" rtlCol="0" anchor="t"/>
          <a:lstStyle/>
          <a:p>
            <a:pPr marL="0" indent="0">
              <a:buNone/>
            </a:pPr>
            <a:r>
              <a:rPr lang="en-US" sz="1400" b="1" kern="0" spc="300" dirty="0">
                <a:solidFill>
                  <a:schemeClr val="accent2"/>
                </a:solidFill>
                <a:latin typeface="Calibri" pitchFamily="34" charset="0"/>
                <a:ea typeface="Calibri" pitchFamily="34" charset="-122"/>
                <a:cs typeface="Calibri" pitchFamily="34" charset="-120"/>
              </a:rPr>
              <a:t>COM4401 · TEAM ORAL PRESENTATION</a:t>
            </a:r>
            <a:endParaRPr lang="en-US" sz="1400" dirty="0"/>
          </a:p>
        </p:txBody>
      </p:sp>
      <p:sp>
        <p:nvSpPr>
          <p:cNvPr id="4" name="Text 2"/>
          <p:cNvSpPr txBox="1"/>
          <p:nvPr/>
        </p:nvSpPr>
        <p:spPr>
          <a:xfrm>
            <a:off x="822960" y="1920240"/>
            <a:ext cx="6949440" cy="2011680"/>
          </a:xfrm>
          <a:prstGeom prst="rect">
            <a:avLst/>
          </a:prstGeom>
          <a:noFill/>
          <a:ln/>
        </p:spPr>
        <p:txBody>
          <a:bodyPr wrap="square" lIns="0" tIns="0" rIns="0" bIns="0" rtlCol="0" anchor="t"/>
          <a:lstStyle/>
          <a:p>
            <a:pPr marL="0" indent="0">
              <a:buNone/>
            </a:pPr>
            <a:r>
              <a:rPr lang="en-US" sz="5200" b="1" dirty="0">
                <a:solidFill>
                  <a:schemeClr val="bg1"/>
                </a:solidFill>
                <a:latin typeface="Cambria" pitchFamily="34" charset="0"/>
                <a:ea typeface="Cambria" pitchFamily="34" charset="-122"/>
                <a:cs typeface="Cambria" pitchFamily="34" charset="-120"/>
              </a:rPr>
              <a:t>Four mini-projects, one story</a:t>
            </a:r>
            <a:endParaRPr lang="en-US" sz="5200" dirty="0"/>
          </a:p>
        </p:txBody>
      </p:sp>
      <p:sp>
        <p:nvSpPr>
          <p:cNvPr id="5" name="Text 3"/>
          <p:cNvSpPr txBox="1"/>
          <p:nvPr/>
        </p:nvSpPr>
        <p:spPr>
          <a:xfrm>
            <a:off x="822960" y="4069080"/>
            <a:ext cx="6766560" cy="640080"/>
          </a:xfrm>
          <a:prstGeom prst="rect">
            <a:avLst/>
          </a:prstGeom>
          <a:noFill/>
          <a:ln/>
        </p:spPr>
        <p:txBody>
          <a:bodyPr wrap="square" lIns="0" tIns="0" rIns="0" bIns="0" rtlCol="0" anchor="t"/>
          <a:lstStyle/>
          <a:p>
            <a:pPr marL="0" indent="0">
              <a:buNone/>
            </a:pPr>
            <a:r>
              <a:rPr lang="en-US" sz="1900" i="1" dirty="0">
                <a:solidFill>
                  <a:srgbClr val="C9D3EA"/>
                </a:solidFill>
                <a:latin typeface="Calibri" pitchFamily="34" charset="0"/>
                <a:ea typeface="Calibri" pitchFamily="34" charset="-122"/>
                <a:cs typeface="Calibri" pitchFamily="34" charset="-120"/>
              </a:rPr>
              <a:t>Computing · Software engineering · Networking · Cyber-security</a:t>
            </a:r>
            <a:endParaRPr lang="en-US" sz="1900" dirty="0"/>
          </a:p>
        </p:txBody>
      </p:sp>
      <p:sp>
        <p:nvSpPr>
          <p:cNvPr id="6" name="Text 4"/>
          <p:cNvSpPr txBox="1"/>
          <p:nvPr/>
        </p:nvSpPr>
        <p:spPr>
          <a:xfrm>
            <a:off x="822960" y="5852160"/>
            <a:ext cx="10515600" cy="365760"/>
          </a:xfrm>
          <a:prstGeom prst="rect">
            <a:avLst/>
          </a:prstGeom>
          <a:noFill/>
          <a:ln/>
        </p:spPr>
        <p:txBody>
          <a:bodyPr wrap="square" lIns="0" tIns="0" rIns="0" bIns="0" rtlCol="0" anchor="t"/>
          <a:lstStyle/>
          <a:p>
            <a:pPr marL="0" indent="0">
              <a:buNone/>
            </a:pPr>
            <a:r>
              <a:rPr lang="en-US" sz="1400" dirty="0">
                <a:solidFill>
                  <a:srgbClr val="C9D3EA"/>
                </a:solidFill>
                <a:latin typeface="Calibri" pitchFamily="34" charset="0"/>
                <a:ea typeface="Calibri" pitchFamily="34" charset="-122"/>
                <a:cs typeface="Calibri" pitchFamily="34" charset="-120"/>
              </a:rPr>
              <a:t>Team 3  ·  Enrique Manzano Ayala  ·  Chiamaka Eluwa  ·  Toby Mathew  ·  Fatimah Bibi</a:t>
            </a:r>
            <a:endParaRPr lang="en-US" sz="1400" dirty="0"/>
          </a:p>
        </p:txBody>
      </p:sp>
      <p:sp>
        <p:nvSpPr>
          <p:cNvPr id="7" name="project circle 1"/>
          <p:cNvSpPr/>
          <p:nvPr/>
        </p:nvSpPr>
        <p:spPr>
          <a:xfrm>
            <a:off x="8275320" y="1371600"/>
            <a:ext cx="1508760" cy="1508760"/>
          </a:xfrm>
          <a:prstGeom prst="ellipse">
            <a:avLst/>
          </a:prstGeom>
          <a:solidFill>
            <a:schemeClr val="accent1"/>
          </a:solidFill>
          <a:ln w="38100">
            <a:solidFill>
              <a:schemeClr val="tx2"/>
            </a:solidFill>
            <a:prstDash val="solid"/>
          </a:ln>
        </p:spPr>
        <p:txBody>
          <a:bodyPr/>
          <a:lstStyle/>
          <a:p>
            <a:endParaRPr lang="en-GB"/>
          </a:p>
        </p:txBody>
      </p:sp>
      <p:pic>
        <p:nvPicPr>
          <p:cNvPr id="8" name="project icon 1" descr="Project 1"/>
          <p:cNvPicPr>
            <a:picLocks noChangeAspect="1"/>
          </p:cNvPicPr>
          <p:nvPr/>
        </p:nvPicPr>
        <p:blipFill>
          <a:blip r:embed="rId3"/>
          <a:stretch>
            <a:fillRect/>
          </a:stretch>
        </p:blipFill>
        <p:spPr>
          <a:xfrm>
            <a:off x="8659368" y="1755648"/>
            <a:ext cx="740664" cy="740664"/>
          </a:xfrm>
          <a:prstGeom prst="rect">
            <a:avLst/>
          </a:prstGeom>
        </p:spPr>
      </p:pic>
      <p:sp>
        <p:nvSpPr>
          <p:cNvPr id="9" name="project circle 2"/>
          <p:cNvSpPr/>
          <p:nvPr/>
        </p:nvSpPr>
        <p:spPr>
          <a:xfrm>
            <a:off x="10012680" y="1371600"/>
            <a:ext cx="1508760" cy="1508760"/>
          </a:xfrm>
          <a:prstGeom prst="ellipse">
            <a:avLst/>
          </a:prstGeom>
          <a:solidFill>
            <a:schemeClr val="accent2"/>
          </a:solidFill>
          <a:ln w="38100">
            <a:solidFill>
              <a:schemeClr val="tx2"/>
            </a:solidFill>
            <a:prstDash val="solid"/>
          </a:ln>
        </p:spPr>
        <p:txBody>
          <a:bodyPr/>
          <a:lstStyle/>
          <a:p>
            <a:endParaRPr lang="en-GB"/>
          </a:p>
        </p:txBody>
      </p:sp>
      <p:pic>
        <p:nvPicPr>
          <p:cNvPr id="10" name="project icon 2" descr="Project 2"/>
          <p:cNvPicPr>
            <a:picLocks noChangeAspect="1"/>
          </p:cNvPicPr>
          <p:nvPr/>
        </p:nvPicPr>
        <p:blipFill>
          <a:blip r:embed="rId4"/>
          <a:stretch>
            <a:fillRect/>
          </a:stretch>
        </p:blipFill>
        <p:spPr>
          <a:xfrm>
            <a:off x="10396728" y="1755648"/>
            <a:ext cx="740664" cy="740664"/>
          </a:xfrm>
          <a:prstGeom prst="rect">
            <a:avLst/>
          </a:prstGeom>
        </p:spPr>
      </p:pic>
      <p:sp>
        <p:nvSpPr>
          <p:cNvPr id="11" name="project circle 3"/>
          <p:cNvSpPr/>
          <p:nvPr/>
        </p:nvSpPr>
        <p:spPr>
          <a:xfrm>
            <a:off x="8275320" y="3108960"/>
            <a:ext cx="1508760" cy="1508760"/>
          </a:xfrm>
          <a:prstGeom prst="ellipse">
            <a:avLst/>
          </a:prstGeom>
          <a:solidFill>
            <a:schemeClr val="accent4"/>
          </a:solidFill>
          <a:ln w="38100">
            <a:solidFill>
              <a:schemeClr val="tx2"/>
            </a:solidFill>
            <a:prstDash val="solid"/>
          </a:ln>
        </p:spPr>
        <p:txBody>
          <a:bodyPr/>
          <a:lstStyle/>
          <a:p>
            <a:endParaRPr lang="en-GB"/>
          </a:p>
        </p:txBody>
      </p:sp>
      <p:pic>
        <p:nvPicPr>
          <p:cNvPr id="12" name="project icon 3" descr="Project 3"/>
          <p:cNvPicPr>
            <a:picLocks noChangeAspect="1"/>
          </p:cNvPicPr>
          <p:nvPr/>
        </p:nvPicPr>
        <p:blipFill>
          <a:blip r:embed="rId5"/>
          <a:stretch>
            <a:fillRect/>
          </a:stretch>
        </p:blipFill>
        <p:spPr>
          <a:xfrm>
            <a:off x="8659368" y="3493008"/>
            <a:ext cx="740664" cy="740664"/>
          </a:xfrm>
          <a:prstGeom prst="rect">
            <a:avLst/>
          </a:prstGeom>
        </p:spPr>
      </p:pic>
      <p:sp>
        <p:nvSpPr>
          <p:cNvPr id="13" name="project circle 4"/>
          <p:cNvSpPr/>
          <p:nvPr/>
        </p:nvSpPr>
        <p:spPr>
          <a:xfrm>
            <a:off x="10012680" y="3108960"/>
            <a:ext cx="1508760" cy="1508760"/>
          </a:xfrm>
          <a:prstGeom prst="ellipse">
            <a:avLst/>
          </a:prstGeom>
          <a:solidFill>
            <a:schemeClr val="accent3"/>
          </a:solidFill>
          <a:ln w="38100">
            <a:solidFill>
              <a:schemeClr val="tx2"/>
            </a:solidFill>
            <a:prstDash val="solid"/>
          </a:ln>
        </p:spPr>
        <p:txBody>
          <a:bodyPr/>
          <a:lstStyle/>
          <a:p>
            <a:endParaRPr lang="en-GB"/>
          </a:p>
        </p:txBody>
      </p:sp>
      <p:pic>
        <p:nvPicPr>
          <p:cNvPr id="14" name="project icon 4" descr="Project 4"/>
          <p:cNvPicPr>
            <a:picLocks noChangeAspect="1"/>
          </p:cNvPicPr>
          <p:nvPr/>
        </p:nvPicPr>
        <p:blipFill>
          <a:blip r:embed="rId6"/>
          <a:stretch>
            <a:fillRect/>
          </a:stretch>
        </p:blipFill>
        <p:spPr>
          <a:xfrm>
            <a:off x="10396728" y="3493008"/>
            <a:ext cx="740664" cy="7406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Meet the team</a:t>
            </a:r>
            <a:endParaRPr lang="en-US" sz="3400" dirty="0"/>
          </a:p>
        </p:txBody>
      </p:sp>
      <p:sp>
        <p:nvSpPr>
          <p:cNvPr id="3" name="team card MP1"/>
          <p:cNvSpPr/>
          <p:nvPr/>
        </p:nvSpPr>
        <p:spPr>
          <a:xfrm>
            <a:off x="548640" y="1463040"/>
            <a:ext cx="2569464" cy="4480560"/>
          </a:xfrm>
          <a:prstGeom prst="roundRect">
            <a:avLst>
              <a:gd name="adj" fmla="val 3559"/>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team circle MP1"/>
          <p:cNvSpPr/>
          <p:nvPr/>
        </p:nvSpPr>
        <p:spPr>
          <a:xfrm>
            <a:off x="1284732" y="1828800"/>
            <a:ext cx="1097280" cy="1097280"/>
          </a:xfrm>
          <a:prstGeom prst="ellipse">
            <a:avLst/>
          </a:prstGeom>
          <a:solidFill>
            <a:schemeClr val="accent1"/>
          </a:solidFill>
          <a:ln w="12700">
            <a:solidFill>
              <a:schemeClr val="accent1"/>
            </a:solidFill>
            <a:prstDash val="solid"/>
          </a:ln>
        </p:spPr>
        <p:txBody>
          <a:bodyPr/>
          <a:lstStyle/>
          <a:p>
            <a:endParaRPr lang="en-GB"/>
          </a:p>
        </p:txBody>
      </p:sp>
      <p:pic>
        <p:nvPicPr>
          <p:cNvPr id="5" name="team icon MP1" descr="Computing"/>
          <p:cNvPicPr>
            <a:picLocks noChangeAspect="1"/>
          </p:cNvPicPr>
          <p:nvPr/>
        </p:nvPicPr>
        <p:blipFill>
          <a:blip r:embed="rId3"/>
          <a:stretch>
            <a:fillRect/>
          </a:stretch>
        </p:blipFill>
        <p:spPr>
          <a:xfrm>
            <a:off x="1568196" y="2112264"/>
            <a:ext cx="530352" cy="530352"/>
          </a:xfrm>
          <a:prstGeom prst="rect">
            <a:avLst/>
          </a:prstGeom>
        </p:spPr>
      </p:pic>
      <p:sp>
        <p:nvSpPr>
          <p:cNvPr id="6" name="Text 3"/>
          <p:cNvSpPr txBox="1"/>
          <p:nvPr/>
        </p:nvSpPr>
        <p:spPr>
          <a:xfrm>
            <a:off x="731520" y="3154680"/>
            <a:ext cx="2203704" cy="822960"/>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Enrique Manzano Ayala</a:t>
            </a:r>
            <a:endParaRPr lang="en-US" sz="2000" dirty="0"/>
          </a:p>
        </p:txBody>
      </p:sp>
      <p:sp>
        <p:nvSpPr>
          <p:cNvPr id="7" name="Text 4"/>
          <p:cNvSpPr txBox="1"/>
          <p:nvPr/>
        </p:nvSpPr>
        <p:spPr>
          <a:xfrm>
            <a:off x="731520" y="4023360"/>
            <a:ext cx="2203704" cy="365760"/>
          </a:xfrm>
          <a:prstGeom prst="rect">
            <a:avLst/>
          </a:prstGeom>
          <a:noFill/>
          <a:ln/>
        </p:spPr>
        <p:txBody>
          <a:bodyPr wrap="square" lIns="0" tIns="0" rIns="0" bIns="0" rtlCol="0" anchor="ctr"/>
          <a:lstStyle/>
          <a:p>
            <a:pPr marL="0" indent="0" algn="ctr">
              <a:buNone/>
            </a:pPr>
            <a:r>
              <a:rPr lang="en-US" sz="1400" dirty="0">
                <a:solidFill>
                  <a:srgbClr val="4A5876"/>
                </a:solidFill>
              </a:rPr>
              <a:t>Student ID 2518164</a:t>
            </a:r>
            <a:endParaRPr lang="en-US" sz="1400" dirty="0"/>
          </a:p>
        </p:txBody>
      </p:sp>
      <p:sp>
        <p:nvSpPr>
          <p:cNvPr id="8" name="team pill MP1"/>
          <p:cNvSpPr/>
          <p:nvPr/>
        </p:nvSpPr>
        <p:spPr>
          <a:xfrm>
            <a:off x="822960" y="4754880"/>
            <a:ext cx="2020824" cy="502920"/>
          </a:xfrm>
          <a:prstGeom prst="roundRect">
            <a:avLst>
              <a:gd name="adj" fmla="val 49091"/>
            </a:avLst>
          </a:prstGeom>
          <a:solidFill>
            <a:schemeClr val="accent1"/>
          </a:solidFill>
          <a:ln w="12700">
            <a:solidFill>
              <a:schemeClr val="accent1"/>
            </a:solidFill>
            <a:prstDash val="solid"/>
          </a:ln>
        </p:spPr>
        <p:txBody>
          <a:bodyPr/>
          <a:lstStyle/>
          <a:p>
            <a:endParaRPr lang="en-GB"/>
          </a:p>
        </p:txBody>
      </p:sp>
      <p:sp>
        <p:nvSpPr>
          <p:cNvPr id="9" name="Text 6"/>
          <p:cNvSpPr txBox="1"/>
          <p:nvPr/>
        </p:nvSpPr>
        <p:spPr>
          <a:xfrm>
            <a:off x="822960" y="4754880"/>
            <a:ext cx="2020824"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MP1 · Computing</a:t>
            </a:r>
            <a:endParaRPr lang="en-US" sz="1400" dirty="0"/>
          </a:p>
        </p:txBody>
      </p:sp>
      <p:sp>
        <p:nvSpPr>
          <p:cNvPr id="10" name="Text 7"/>
          <p:cNvSpPr txBox="1"/>
          <p:nvPr/>
        </p:nvSpPr>
        <p:spPr>
          <a:xfrm>
            <a:off x="731520" y="5394960"/>
            <a:ext cx="2203704" cy="320040"/>
          </a:xfrm>
          <a:prstGeom prst="rect">
            <a:avLst/>
          </a:prstGeom>
          <a:noFill/>
          <a:ln/>
        </p:spPr>
        <p:txBody>
          <a:bodyPr wrap="square" lIns="0" tIns="0" rIns="0" bIns="0" rtlCol="0" anchor="t"/>
          <a:lstStyle/>
          <a:p>
            <a:pPr marL="0" indent="0" algn="ctr">
              <a:buNone/>
            </a:pPr>
            <a:r>
              <a:rPr lang="en-US" sz="1300" i="1" dirty="0">
                <a:solidFill>
                  <a:srgbClr val="5A6785"/>
                </a:solidFill>
                <a:latin typeface="Calibri" pitchFamily="34" charset="0"/>
                <a:ea typeface="Calibri" pitchFamily="34" charset="-122"/>
                <a:cs typeface="Calibri" pitchFamily="34" charset="-120"/>
              </a:rPr>
              <a:t>Presents MP1</a:t>
            </a:r>
            <a:endParaRPr lang="en-US" sz="1300" dirty="0"/>
          </a:p>
        </p:txBody>
      </p:sp>
      <p:sp>
        <p:nvSpPr>
          <p:cNvPr id="11" name="team card MP2"/>
          <p:cNvSpPr/>
          <p:nvPr/>
        </p:nvSpPr>
        <p:spPr>
          <a:xfrm>
            <a:off x="3392424" y="1463040"/>
            <a:ext cx="2569464" cy="4480560"/>
          </a:xfrm>
          <a:prstGeom prst="roundRect">
            <a:avLst>
              <a:gd name="adj" fmla="val 3559"/>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2" name="team circle MP2"/>
          <p:cNvSpPr/>
          <p:nvPr/>
        </p:nvSpPr>
        <p:spPr>
          <a:xfrm>
            <a:off x="4128516" y="1828800"/>
            <a:ext cx="1097280" cy="1097280"/>
          </a:xfrm>
          <a:prstGeom prst="ellipse">
            <a:avLst/>
          </a:prstGeom>
          <a:solidFill>
            <a:schemeClr val="accent2"/>
          </a:solidFill>
          <a:ln w="12700">
            <a:solidFill>
              <a:schemeClr val="accent2"/>
            </a:solidFill>
            <a:prstDash val="solid"/>
          </a:ln>
        </p:spPr>
        <p:txBody>
          <a:bodyPr/>
          <a:lstStyle/>
          <a:p>
            <a:endParaRPr lang="en-GB"/>
          </a:p>
        </p:txBody>
      </p:sp>
      <p:pic>
        <p:nvPicPr>
          <p:cNvPr id="13" name="team icon MP2" descr="Software Engineering"/>
          <p:cNvPicPr>
            <a:picLocks noChangeAspect="1"/>
          </p:cNvPicPr>
          <p:nvPr/>
        </p:nvPicPr>
        <p:blipFill>
          <a:blip r:embed="rId4"/>
          <a:stretch>
            <a:fillRect/>
          </a:stretch>
        </p:blipFill>
        <p:spPr>
          <a:xfrm>
            <a:off x="4411980" y="2112264"/>
            <a:ext cx="530352" cy="530352"/>
          </a:xfrm>
          <a:prstGeom prst="rect">
            <a:avLst/>
          </a:prstGeom>
        </p:spPr>
      </p:pic>
      <p:sp>
        <p:nvSpPr>
          <p:cNvPr id="14" name="Text 10"/>
          <p:cNvSpPr txBox="1"/>
          <p:nvPr/>
        </p:nvSpPr>
        <p:spPr>
          <a:xfrm>
            <a:off x="3575304" y="3154680"/>
            <a:ext cx="2203704" cy="822960"/>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Chiamaka Eluwa</a:t>
            </a:r>
            <a:endParaRPr lang="en-US" sz="2000" dirty="0"/>
          </a:p>
        </p:txBody>
      </p:sp>
      <p:sp>
        <p:nvSpPr>
          <p:cNvPr id="15" name="Text 11"/>
          <p:cNvSpPr txBox="1"/>
          <p:nvPr/>
        </p:nvSpPr>
        <p:spPr>
          <a:xfrm>
            <a:off x="3575304" y="4023360"/>
            <a:ext cx="2203704" cy="365760"/>
          </a:xfrm>
          <a:prstGeom prst="rect">
            <a:avLst/>
          </a:prstGeom>
          <a:noFill/>
          <a:ln/>
        </p:spPr>
        <p:txBody>
          <a:bodyPr wrap="square" lIns="0" tIns="0" rIns="0" bIns="0" rtlCol="0" anchor="ctr"/>
          <a:lstStyle/>
          <a:p>
            <a:pPr marL="0" indent="0" algn="ctr">
              <a:buNone/>
            </a:pPr>
            <a:r>
              <a:rPr lang="en-US" sz="1400" dirty="0">
                <a:solidFill>
                  <a:srgbClr val="4A5876"/>
                </a:solidFill>
              </a:rPr>
              <a:t>Student ID 2505794</a:t>
            </a:r>
            <a:endParaRPr lang="en-US" sz="1400" dirty="0"/>
          </a:p>
        </p:txBody>
      </p:sp>
      <p:sp>
        <p:nvSpPr>
          <p:cNvPr id="16" name="team pill MP2"/>
          <p:cNvSpPr/>
          <p:nvPr/>
        </p:nvSpPr>
        <p:spPr>
          <a:xfrm>
            <a:off x="3666744" y="4754880"/>
            <a:ext cx="2020824"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sp>
        <p:nvSpPr>
          <p:cNvPr id="17" name="Text 13"/>
          <p:cNvSpPr txBox="1"/>
          <p:nvPr/>
        </p:nvSpPr>
        <p:spPr>
          <a:xfrm>
            <a:off x="3666744" y="4754880"/>
            <a:ext cx="2020824" cy="50292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MP2 · Software</a:t>
            </a:r>
            <a:endParaRPr lang="en-US" sz="1400" dirty="0"/>
          </a:p>
        </p:txBody>
      </p:sp>
      <p:sp>
        <p:nvSpPr>
          <p:cNvPr id="18" name="Text 14"/>
          <p:cNvSpPr txBox="1"/>
          <p:nvPr/>
        </p:nvSpPr>
        <p:spPr>
          <a:xfrm>
            <a:off x="3575304" y="5394960"/>
            <a:ext cx="2203704" cy="320040"/>
          </a:xfrm>
          <a:prstGeom prst="rect">
            <a:avLst/>
          </a:prstGeom>
          <a:noFill/>
          <a:ln/>
        </p:spPr>
        <p:txBody>
          <a:bodyPr wrap="square" lIns="0" tIns="0" rIns="0" bIns="0" rtlCol="0" anchor="t"/>
          <a:lstStyle/>
          <a:p>
            <a:pPr marL="0" indent="0" algn="ctr">
              <a:buNone/>
            </a:pPr>
            <a:r>
              <a:rPr lang="en-US" sz="1300" i="1" dirty="0">
                <a:solidFill>
                  <a:srgbClr val="5A6785"/>
                </a:solidFill>
                <a:latin typeface="Calibri" pitchFamily="34" charset="0"/>
                <a:ea typeface="Calibri" pitchFamily="34" charset="-122"/>
                <a:cs typeface="Calibri" pitchFamily="34" charset="-120"/>
              </a:rPr>
              <a:t>Presents MP2</a:t>
            </a:r>
            <a:endParaRPr lang="en-US" sz="1300" dirty="0"/>
          </a:p>
        </p:txBody>
      </p:sp>
      <p:sp>
        <p:nvSpPr>
          <p:cNvPr id="19" name="team card MP3"/>
          <p:cNvSpPr/>
          <p:nvPr/>
        </p:nvSpPr>
        <p:spPr>
          <a:xfrm>
            <a:off x="6236208" y="1463040"/>
            <a:ext cx="2569464" cy="4480560"/>
          </a:xfrm>
          <a:prstGeom prst="roundRect">
            <a:avLst>
              <a:gd name="adj" fmla="val 3559"/>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0" name="team circle MP3"/>
          <p:cNvSpPr/>
          <p:nvPr/>
        </p:nvSpPr>
        <p:spPr>
          <a:xfrm>
            <a:off x="6972300" y="1828800"/>
            <a:ext cx="1097280" cy="1097280"/>
          </a:xfrm>
          <a:prstGeom prst="ellipse">
            <a:avLst/>
          </a:prstGeom>
          <a:solidFill>
            <a:schemeClr val="accent4"/>
          </a:solidFill>
          <a:ln w="12700">
            <a:solidFill>
              <a:schemeClr val="accent4"/>
            </a:solidFill>
            <a:prstDash val="solid"/>
          </a:ln>
        </p:spPr>
        <p:txBody>
          <a:bodyPr/>
          <a:lstStyle/>
          <a:p>
            <a:endParaRPr lang="en-GB"/>
          </a:p>
        </p:txBody>
      </p:sp>
      <p:pic>
        <p:nvPicPr>
          <p:cNvPr id="21" name="team icon MP3" descr="Networking"/>
          <p:cNvPicPr>
            <a:picLocks noChangeAspect="1"/>
          </p:cNvPicPr>
          <p:nvPr/>
        </p:nvPicPr>
        <p:blipFill>
          <a:blip r:embed="rId5"/>
          <a:stretch>
            <a:fillRect/>
          </a:stretch>
        </p:blipFill>
        <p:spPr>
          <a:xfrm>
            <a:off x="7255764" y="2112264"/>
            <a:ext cx="530352" cy="530352"/>
          </a:xfrm>
          <a:prstGeom prst="rect">
            <a:avLst/>
          </a:prstGeom>
        </p:spPr>
      </p:pic>
      <p:sp>
        <p:nvSpPr>
          <p:cNvPr id="22" name="Text 17"/>
          <p:cNvSpPr txBox="1"/>
          <p:nvPr/>
        </p:nvSpPr>
        <p:spPr>
          <a:xfrm>
            <a:off x="6419088" y="3154680"/>
            <a:ext cx="2203704" cy="822960"/>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Toby Mathew</a:t>
            </a:r>
            <a:endParaRPr lang="en-US" sz="2000" dirty="0"/>
          </a:p>
        </p:txBody>
      </p:sp>
      <p:sp>
        <p:nvSpPr>
          <p:cNvPr id="23" name="Text 18"/>
          <p:cNvSpPr txBox="1"/>
          <p:nvPr/>
        </p:nvSpPr>
        <p:spPr>
          <a:xfrm>
            <a:off x="6419088" y="4023360"/>
            <a:ext cx="2203704" cy="365760"/>
          </a:xfrm>
          <a:prstGeom prst="rect">
            <a:avLst/>
          </a:prstGeom>
          <a:noFill/>
          <a:ln/>
        </p:spPr>
        <p:txBody>
          <a:bodyPr wrap="square" lIns="0" tIns="0" rIns="0" bIns="0" rtlCol="0" anchor="ctr"/>
          <a:lstStyle/>
          <a:p>
            <a:pPr marL="0" indent="0" algn="ctr">
              <a:buNone/>
            </a:pPr>
            <a:r>
              <a:rPr lang="en-US" sz="1400" dirty="0">
                <a:solidFill>
                  <a:srgbClr val="4A5876"/>
                </a:solidFill>
              </a:rPr>
              <a:t>Student ID 2600291</a:t>
            </a:r>
            <a:endParaRPr lang="en-US" sz="1400" dirty="0"/>
          </a:p>
        </p:txBody>
      </p:sp>
      <p:sp>
        <p:nvSpPr>
          <p:cNvPr id="24" name="team pill MP3"/>
          <p:cNvSpPr/>
          <p:nvPr/>
        </p:nvSpPr>
        <p:spPr>
          <a:xfrm>
            <a:off x="6510528" y="4754880"/>
            <a:ext cx="2020824" cy="502920"/>
          </a:xfrm>
          <a:prstGeom prst="roundRect">
            <a:avLst>
              <a:gd name="adj" fmla="val 49091"/>
            </a:avLst>
          </a:prstGeom>
          <a:solidFill>
            <a:schemeClr val="accent4"/>
          </a:solidFill>
          <a:ln w="12700">
            <a:solidFill>
              <a:schemeClr val="accent4"/>
            </a:solidFill>
            <a:prstDash val="solid"/>
          </a:ln>
        </p:spPr>
        <p:txBody>
          <a:bodyPr/>
          <a:lstStyle/>
          <a:p>
            <a:endParaRPr lang="en-GB"/>
          </a:p>
        </p:txBody>
      </p:sp>
      <p:sp>
        <p:nvSpPr>
          <p:cNvPr id="25" name="Text 20"/>
          <p:cNvSpPr txBox="1"/>
          <p:nvPr/>
        </p:nvSpPr>
        <p:spPr>
          <a:xfrm>
            <a:off x="6510528" y="4754880"/>
            <a:ext cx="2020824"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MP3 · Networking</a:t>
            </a:r>
            <a:endParaRPr lang="en-US" sz="1400" dirty="0"/>
          </a:p>
        </p:txBody>
      </p:sp>
      <p:sp>
        <p:nvSpPr>
          <p:cNvPr id="26" name="Text 21"/>
          <p:cNvSpPr txBox="1"/>
          <p:nvPr/>
        </p:nvSpPr>
        <p:spPr>
          <a:xfrm>
            <a:off x="6419088" y="5394960"/>
            <a:ext cx="2203704" cy="320040"/>
          </a:xfrm>
          <a:prstGeom prst="rect">
            <a:avLst/>
          </a:prstGeom>
          <a:noFill/>
          <a:ln/>
        </p:spPr>
        <p:txBody>
          <a:bodyPr wrap="square" lIns="0" tIns="0" rIns="0" bIns="0" rtlCol="0" anchor="t"/>
          <a:lstStyle/>
          <a:p>
            <a:pPr marL="0" indent="0" algn="ctr">
              <a:buNone/>
            </a:pPr>
            <a:r>
              <a:rPr lang="en-US" sz="1300" i="1" dirty="0">
                <a:solidFill>
                  <a:srgbClr val="5A6785"/>
                </a:solidFill>
                <a:latin typeface="Calibri" pitchFamily="34" charset="0"/>
                <a:ea typeface="Calibri" pitchFamily="34" charset="-122"/>
                <a:cs typeface="Calibri" pitchFamily="34" charset="-120"/>
              </a:rPr>
              <a:t>Presents MP3</a:t>
            </a:r>
            <a:endParaRPr lang="en-US" sz="1300" dirty="0"/>
          </a:p>
        </p:txBody>
      </p:sp>
      <p:sp>
        <p:nvSpPr>
          <p:cNvPr id="27" name="team card MP4"/>
          <p:cNvSpPr/>
          <p:nvPr/>
        </p:nvSpPr>
        <p:spPr>
          <a:xfrm>
            <a:off x="9079992" y="1463040"/>
            <a:ext cx="2569464" cy="4480560"/>
          </a:xfrm>
          <a:prstGeom prst="roundRect">
            <a:avLst>
              <a:gd name="adj" fmla="val 3559"/>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8" name="team circle MP4"/>
          <p:cNvSpPr/>
          <p:nvPr/>
        </p:nvSpPr>
        <p:spPr>
          <a:xfrm>
            <a:off x="9816084" y="1828800"/>
            <a:ext cx="1097280" cy="1097280"/>
          </a:xfrm>
          <a:prstGeom prst="ellipse">
            <a:avLst/>
          </a:prstGeom>
          <a:solidFill>
            <a:schemeClr val="accent3"/>
          </a:solidFill>
          <a:ln w="12700">
            <a:solidFill>
              <a:schemeClr val="accent3"/>
            </a:solidFill>
            <a:prstDash val="solid"/>
          </a:ln>
        </p:spPr>
        <p:txBody>
          <a:bodyPr/>
          <a:lstStyle/>
          <a:p>
            <a:endParaRPr lang="en-GB"/>
          </a:p>
        </p:txBody>
      </p:sp>
      <p:pic>
        <p:nvPicPr>
          <p:cNvPr id="29" name="team icon MP4" descr="Cyber-security"/>
          <p:cNvPicPr>
            <a:picLocks noChangeAspect="1"/>
          </p:cNvPicPr>
          <p:nvPr/>
        </p:nvPicPr>
        <p:blipFill>
          <a:blip r:embed="rId6"/>
          <a:stretch>
            <a:fillRect/>
          </a:stretch>
        </p:blipFill>
        <p:spPr>
          <a:xfrm>
            <a:off x="10099548" y="2112264"/>
            <a:ext cx="530352" cy="530352"/>
          </a:xfrm>
          <a:prstGeom prst="rect">
            <a:avLst/>
          </a:prstGeom>
        </p:spPr>
      </p:pic>
      <p:sp>
        <p:nvSpPr>
          <p:cNvPr id="30" name="Text 24"/>
          <p:cNvSpPr txBox="1"/>
          <p:nvPr/>
        </p:nvSpPr>
        <p:spPr>
          <a:xfrm>
            <a:off x="9262872" y="3154680"/>
            <a:ext cx="2203704" cy="822960"/>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Fatimah Bibi</a:t>
            </a:r>
            <a:endParaRPr lang="en-US" sz="2000" dirty="0"/>
          </a:p>
        </p:txBody>
      </p:sp>
      <p:sp>
        <p:nvSpPr>
          <p:cNvPr id="31" name="Text 25"/>
          <p:cNvSpPr txBox="1"/>
          <p:nvPr/>
        </p:nvSpPr>
        <p:spPr>
          <a:xfrm>
            <a:off x="9262872" y="4023360"/>
            <a:ext cx="2203704" cy="365760"/>
          </a:xfrm>
          <a:prstGeom prst="rect">
            <a:avLst/>
          </a:prstGeom>
          <a:noFill/>
          <a:ln/>
        </p:spPr>
        <p:txBody>
          <a:bodyPr wrap="square" lIns="0" tIns="0" rIns="0" bIns="0" rtlCol="0" anchor="ctr"/>
          <a:lstStyle/>
          <a:p>
            <a:pPr marL="0" indent="0" algn="ctr">
              <a:buNone/>
            </a:pPr>
            <a:r>
              <a:rPr lang="en-US" sz="1400" dirty="0">
                <a:solidFill>
                  <a:srgbClr val="4A5876"/>
                </a:solidFill>
              </a:rPr>
              <a:t>Student ID </a:t>
            </a:r>
            <a:r>
              <a:rPr lang="en-US" sz="1400" dirty="0">
                <a:solidFill>
                  <a:srgbClr val="1B2335"/>
                </a:solidFill>
                <a:highlight>
                  <a:srgbClr val="FFFF00"/>
                </a:highlight>
              </a:rPr>
              <a:t>[ID needed]</a:t>
            </a:r>
            <a:endParaRPr lang="en-US" sz="1400" dirty="0"/>
          </a:p>
        </p:txBody>
      </p:sp>
      <p:sp>
        <p:nvSpPr>
          <p:cNvPr id="32" name="team pill MP4"/>
          <p:cNvSpPr/>
          <p:nvPr/>
        </p:nvSpPr>
        <p:spPr>
          <a:xfrm>
            <a:off x="9354312" y="4754880"/>
            <a:ext cx="2020824" cy="502920"/>
          </a:xfrm>
          <a:prstGeom prst="roundRect">
            <a:avLst>
              <a:gd name="adj" fmla="val 49091"/>
            </a:avLst>
          </a:prstGeom>
          <a:solidFill>
            <a:schemeClr val="accent3"/>
          </a:solidFill>
          <a:ln w="12700">
            <a:solidFill>
              <a:schemeClr val="accent3"/>
            </a:solidFill>
            <a:prstDash val="solid"/>
          </a:ln>
        </p:spPr>
        <p:txBody>
          <a:bodyPr/>
          <a:lstStyle/>
          <a:p>
            <a:endParaRPr lang="en-GB"/>
          </a:p>
        </p:txBody>
      </p:sp>
      <p:sp>
        <p:nvSpPr>
          <p:cNvPr id="33" name="Text 27"/>
          <p:cNvSpPr txBox="1"/>
          <p:nvPr/>
        </p:nvSpPr>
        <p:spPr>
          <a:xfrm>
            <a:off x="9354312" y="4754880"/>
            <a:ext cx="2020824"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MP4 · Cyber-security</a:t>
            </a:r>
            <a:endParaRPr lang="en-US" sz="1400" dirty="0"/>
          </a:p>
        </p:txBody>
      </p:sp>
      <p:sp>
        <p:nvSpPr>
          <p:cNvPr id="34" name="Text 28"/>
          <p:cNvSpPr txBox="1"/>
          <p:nvPr/>
        </p:nvSpPr>
        <p:spPr>
          <a:xfrm>
            <a:off x="9262872" y="5394960"/>
            <a:ext cx="2203704" cy="320040"/>
          </a:xfrm>
          <a:prstGeom prst="rect">
            <a:avLst/>
          </a:prstGeom>
          <a:noFill/>
          <a:ln/>
        </p:spPr>
        <p:txBody>
          <a:bodyPr wrap="square" lIns="0" tIns="0" rIns="0" bIns="0" rtlCol="0" anchor="t"/>
          <a:lstStyle/>
          <a:p>
            <a:pPr marL="0" indent="0" algn="ctr">
              <a:buNone/>
            </a:pPr>
            <a:r>
              <a:rPr lang="en-US" sz="1300" i="1" dirty="0">
                <a:solidFill>
                  <a:srgbClr val="5A6785"/>
                </a:solidFill>
                <a:latin typeface="Calibri" pitchFamily="34" charset="0"/>
                <a:ea typeface="Calibri" pitchFamily="34" charset="-122"/>
                <a:cs typeface="Calibri" pitchFamily="34" charset="-120"/>
              </a:rPr>
              <a:t>Presents MP4</a:t>
            </a:r>
            <a:endParaRPr lang="en-US" sz="1300" dirty="0"/>
          </a:p>
        </p:txBody>
      </p:sp>
      <p:sp>
        <p:nvSpPr>
          <p:cNvPr id="3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One story: from the machine to staying safe</a:t>
            </a:r>
            <a:endParaRPr lang="en-US" sz="3400" dirty="0"/>
          </a:p>
        </p:txBody>
      </p:sp>
      <p:sp>
        <p:nvSpPr>
          <p:cNvPr id="3" name="story card MP1"/>
          <p:cNvSpPr/>
          <p:nvPr/>
        </p:nvSpPr>
        <p:spPr>
          <a:xfrm>
            <a:off x="548640" y="1463040"/>
            <a:ext cx="2496312" cy="3291840"/>
          </a:xfrm>
          <a:prstGeom prst="roundRect">
            <a:avLst>
              <a:gd name="adj" fmla="val 366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Computing circle"/>
          <p:cNvSpPr/>
          <p:nvPr/>
        </p:nvSpPr>
        <p:spPr>
          <a:xfrm>
            <a:off x="822960" y="1783080"/>
            <a:ext cx="868680" cy="868680"/>
          </a:xfrm>
          <a:prstGeom prst="ellipse">
            <a:avLst/>
          </a:prstGeom>
          <a:solidFill>
            <a:schemeClr val="accent1"/>
          </a:solidFill>
          <a:ln w="12700">
            <a:solidFill>
              <a:schemeClr val="accent1"/>
            </a:solidFill>
            <a:prstDash val="solid"/>
          </a:ln>
        </p:spPr>
        <p:txBody>
          <a:bodyPr/>
          <a:lstStyle/>
          <a:p>
            <a:endParaRPr lang="en-GB"/>
          </a:p>
        </p:txBody>
      </p:sp>
      <p:pic>
        <p:nvPicPr>
          <p:cNvPr id="5" name="Computing icon" descr="Computing"/>
          <p:cNvPicPr>
            <a:picLocks noChangeAspect="1"/>
          </p:cNvPicPr>
          <p:nvPr/>
        </p:nvPicPr>
        <p:blipFill>
          <a:blip r:embed="rId3"/>
          <a:stretch>
            <a:fillRect/>
          </a:stretch>
        </p:blipFill>
        <p:spPr>
          <a:xfrm>
            <a:off x="1048817" y="2008937"/>
            <a:ext cx="416966" cy="416966"/>
          </a:xfrm>
          <a:prstGeom prst="rect">
            <a:avLst/>
          </a:prstGeom>
        </p:spPr>
      </p:pic>
      <p:sp>
        <p:nvSpPr>
          <p:cNvPr id="6" name="Text 3"/>
          <p:cNvSpPr txBox="1"/>
          <p:nvPr/>
        </p:nvSpPr>
        <p:spPr>
          <a:xfrm>
            <a:off x="822960" y="2834640"/>
            <a:ext cx="2039112"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MP1 · Computing</a:t>
            </a:r>
            <a:endParaRPr lang="en-US" sz="1800" dirty="0"/>
          </a:p>
        </p:txBody>
      </p:sp>
      <p:sp>
        <p:nvSpPr>
          <p:cNvPr id="7" name="Text 4"/>
          <p:cNvSpPr txBox="1"/>
          <p:nvPr/>
        </p:nvSpPr>
        <p:spPr>
          <a:xfrm>
            <a:off x="822960" y="3273552"/>
            <a:ext cx="1993392" cy="13258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machine and its data: PC architecture and SQL</a:t>
            </a:r>
            <a:endParaRPr lang="en-US" sz="1500" dirty="0"/>
          </a:p>
        </p:txBody>
      </p:sp>
      <p:sp>
        <p:nvSpPr>
          <p:cNvPr id="8" name="arrow"/>
          <p:cNvSpPr/>
          <p:nvPr/>
        </p:nvSpPr>
        <p:spPr>
          <a:xfrm>
            <a:off x="3108960" y="2971800"/>
            <a:ext cx="237744" cy="274320"/>
          </a:xfrm>
          <a:prstGeom prst="rightArrow">
            <a:avLst/>
          </a:prstGeom>
          <a:solidFill>
            <a:schemeClr val="accent2"/>
          </a:solidFill>
          <a:ln w="12700">
            <a:solidFill>
              <a:schemeClr val="accent2"/>
            </a:solidFill>
            <a:prstDash val="solid"/>
          </a:ln>
        </p:spPr>
        <p:txBody>
          <a:bodyPr/>
          <a:lstStyle/>
          <a:p>
            <a:endParaRPr lang="en-GB"/>
          </a:p>
        </p:txBody>
      </p:sp>
      <p:sp>
        <p:nvSpPr>
          <p:cNvPr id="9" name="story card MP2"/>
          <p:cNvSpPr/>
          <p:nvPr/>
        </p:nvSpPr>
        <p:spPr>
          <a:xfrm>
            <a:off x="3410712" y="1463040"/>
            <a:ext cx="2496312" cy="3291840"/>
          </a:xfrm>
          <a:prstGeom prst="roundRect">
            <a:avLst>
              <a:gd name="adj" fmla="val 366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0" name="Software Engineering circle"/>
          <p:cNvSpPr/>
          <p:nvPr/>
        </p:nvSpPr>
        <p:spPr>
          <a:xfrm>
            <a:off x="3685032" y="1783080"/>
            <a:ext cx="868680" cy="868680"/>
          </a:xfrm>
          <a:prstGeom prst="ellipse">
            <a:avLst/>
          </a:prstGeom>
          <a:solidFill>
            <a:srgbClr val="C98F12"/>
          </a:solidFill>
          <a:ln w="12700">
            <a:solidFill>
              <a:srgbClr val="C98F12"/>
            </a:solidFill>
            <a:prstDash val="solid"/>
          </a:ln>
        </p:spPr>
        <p:txBody>
          <a:bodyPr/>
          <a:lstStyle/>
          <a:p>
            <a:endParaRPr lang="en-GB"/>
          </a:p>
        </p:txBody>
      </p:sp>
      <p:pic>
        <p:nvPicPr>
          <p:cNvPr id="11" name="Software Engineering icon" descr="Software Engineering"/>
          <p:cNvPicPr>
            <a:picLocks noChangeAspect="1"/>
          </p:cNvPicPr>
          <p:nvPr/>
        </p:nvPicPr>
        <p:blipFill>
          <a:blip r:embed="rId4"/>
          <a:stretch>
            <a:fillRect/>
          </a:stretch>
        </p:blipFill>
        <p:spPr>
          <a:xfrm>
            <a:off x="3910889" y="2008937"/>
            <a:ext cx="416966" cy="416966"/>
          </a:xfrm>
          <a:prstGeom prst="rect">
            <a:avLst/>
          </a:prstGeom>
        </p:spPr>
      </p:pic>
      <p:sp>
        <p:nvSpPr>
          <p:cNvPr id="12" name="Text 8"/>
          <p:cNvSpPr txBox="1"/>
          <p:nvPr/>
        </p:nvSpPr>
        <p:spPr>
          <a:xfrm>
            <a:off x="3685032" y="2834640"/>
            <a:ext cx="2039112"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MP2 · Software</a:t>
            </a:r>
            <a:endParaRPr lang="en-US" sz="1800" dirty="0"/>
          </a:p>
        </p:txBody>
      </p:sp>
      <p:sp>
        <p:nvSpPr>
          <p:cNvPr id="13" name="Text 9"/>
          <p:cNvSpPr txBox="1"/>
          <p:nvPr/>
        </p:nvSpPr>
        <p:spPr>
          <a:xfrm>
            <a:off x="3685032" y="3273552"/>
            <a:ext cx="1993392" cy="13258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software that runs on it: designing, building and testing a program</a:t>
            </a:r>
            <a:endParaRPr lang="en-US" sz="1500" dirty="0"/>
          </a:p>
        </p:txBody>
      </p:sp>
      <p:sp>
        <p:nvSpPr>
          <p:cNvPr id="14" name="arrow"/>
          <p:cNvSpPr/>
          <p:nvPr/>
        </p:nvSpPr>
        <p:spPr>
          <a:xfrm>
            <a:off x="5971032" y="2971800"/>
            <a:ext cx="237744" cy="274320"/>
          </a:xfrm>
          <a:prstGeom prst="rightArrow">
            <a:avLst/>
          </a:prstGeom>
          <a:solidFill>
            <a:schemeClr val="accent2"/>
          </a:solidFill>
          <a:ln w="12700">
            <a:solidFill>
              <a:schemeClr val="accent2"/>
            </a:solidFill>
            <a:prstDash val="solid"/>
          </a:ln>
        </p:spPr>
        <p:txBody>
          <a:bodyPr/>
          <a:lstStyle/>
          <a:p>
            <a:endParaRPr lang="en-GB"/>
          </a:p>
        </p:txBody>
      </p:sp>
      <p:sp>
        <p:nvSpPr>
          <p:cNvPr id="15" name="story card MP3"/>
          <p:cNvSpPr/>
          <p:nvPr/>
        </p:nvSpPr>
        <p:spPr>
          <a:xfrm>
            <a:off x="6272784" y="1463040"/>
            <a:ext cx="2496312" cy="3291840"/>
          </a:xfrm>
          <a:prstGeom prst="roundRect">
            <a:avLst>
              <a:gd name="adj" fmla="val 366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6" name="Networking circle"/>
          <p:cNvSpPr/>
          <p:nvPr/>
        </p:nvSpPr>
        <p:spPr>
          <a:xfrm>
            <a:off x="6547104" y="1783080"/>
            <a:ext cx="868680" cy="868680"/>
          </a:xfrm>
          <a:prstGeom prst="ellipse">
            <a:avLst/>
          </a:prstGeom>
          <a:solidFill>
            <a:schemeClr val="accent4"/>
          </a:solidFill>
          <a:ln w="12700">
            <a:solidFill>
              <a:schemeClr val="accent4"/>
            </a:solidFill>
            <a:prstDash val="solid"/>
          </a:ln>
        </p:spPr>
        <p:txBody>
          <a:bodyPr/>
          <a:lstStyle/>
          <a:p>
            <a:endParaRPr lang="en-GB"/>
          </a:p>
        </p:txBody>
      </p:sp>
      <p:pic>
        <p:nvPicPr>
          <p:cNvPr id="17" name="Networking icon" descr="Networking"/>
          <p:cNvPicPr>
            <a:picLocks noChangeAspect="1"/>
          </p:cNvPicPr>
          <p:nvPr/>
        </p:nvPicPr>
        <p:blipFill>
          <a:blip r:embed="rId5"/>
          <a:stretch>
            <a:fillRect/>
          </a:stretch>
        </p:blipFill>
        <p:spPr>
          <a:xfrm>
            <a:off x="6772961" y="2008937"/>
            <a:ext cx="416966" cy="416966"/>
          </a:xfrm>
          <a:prstGeom prst="rect">
            <a:avLst/>
          </a:prstGeom>
        </p:spPr>
      </p:pic>
      <p:sp>
        <p:nvSpPr>
          <p:cNvPr id="18" name="Text 13"/>
          <p:cNvSpPr txBox="1"/>
          <p:nvPr/>
        </p:nvSpPr>
        <p:spPr>
          <a:xfrm>
            <a:off x="6547104" y="2834640"/>
            <a:ext cx="2039112"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MP3 · Networking</a:t>
            </a:r>
            <a:endParaRPr lang="en-US" sz="1800" dirty="0"/>
          </a:p>
        </p:txBody>
      </p:sp>
      <p:sp>
        <p:nvSpPr>
          <p:cNvPr id="19" name="Text 14"/>
          <p:cNvSpPr txBox="1"/>
          <p:nvPr/>
        </p:nvSpPr>
        <p:spPr>
          <a:xfrm>
            <a:off x="6547104" y="3273552"/>
            <a:ext cx="1993392" cy="13258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network that connects it: a studio network</a:t>
            </a:r>
            <a:endParaRPr lang="en-US" sz="1500" dirty="0"/>
          </a:p>
        </p:txBody>
      </p:sp>
      <p:sp>
        <p:nvSpPr>
          <p:cNvPr id="20" name="arrow"/>
          <p:cNvSpPr/>
          <p:nvPr/>
        </p:nvSpPr>
        <p:spPr>
          <a:xfrm>
            <a:off x="8833104" y="2971800"/>
            <a:ext cx="237744" cy="274320"/>
          </a:xfrm>
          <a:prstGeom prst="rightArrow">
            <a:avLst/>
          </a:prstGeom>
          <a:solidFill>
            <a:schemeClr val="accent2"/>
          </a:solidFill>
          <a:ln w="12700">
            <a:solidFill>
              <a:schemeClr val="accent2"/>
            </a:solidFill>
            <a:prstDash val="solid"/>
          </a:ln>
        </p:spPr>
        <p:txBody>
          <a:bodyPr/>
          <a:lstStyle/>
          <a:p>
            <a:endParaRPr lang="en-GB"/>
          </a:p>
        </p:txBody>
      </p:sp>
      <p:sp>
        <p:nvSpPr>
          <p:cNvPr id="21" name="story card MP4"/>
          <p:cNvSpPr/>
          <p:nvPr/>
        </p:nvSpPr>
        <p:spPr>
          <a:xfrm>
            <a:off x="9134856" y="1463040"/>
            <a:ext cx="2496312" cy="3291840"/>
          </a:xfrm>
          <a:prstGeom prst="roundRect">
            <a:avLst>
              <a:gd name="adj" fmla="val 366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2" name="Cyber-security circle"/>
          <p:cNvSpPr/>
          <p:nvPr/>
        </p:nvSpPr>
        <p:spPr>
          <a:xfrm>
            <a:off x="9409176" y="1783080"/>
            <a:ext cx="868680" cy="868680"/>
          </a:xfrm>
          <a:prstGeom prst="ellipse">
            <a:avLst/>
          </a:prstGeom>
          <a:solidFill>
            <a:schemeClr val="accent3"/>
          </a:solidFill>
          <a:ln w="12700">
            <a:solidFill>
              <a:schemeClr val="accent3"/>
            </a:solidFill>
            <a:prstDash val="solid"/>
          </a:ln>
        </p:spPr>
        <p:txBody>
          <a:bodyPr/>
          <a:lstStyle/>
          <a:p>
            <a:endParaRPr lang="en-GB"/>
          </a:p>
        </p:txBody>
      </p:sp>
      <p:pic>
        <p:nvPicPr>
          <p:cNvPr id="23" name="Cyber-security icon" descr="Cyber-security"/>
          <p:cNvPicPr>
            <a:picLocks noChangeAspect="1"/>
          </p:cNvPicPr>
          <p:nvPr/>
        </p:nvPicPr>
        <p:blipFill>
          <a:blip r:embed="rId6"/>
          <a:stretch>
            <a:fillRect/>
          </a:stretch>
        </p:blipFill>
        <p:spPr>
          <a:xfrm>
            <a:off x="9635033" y="2008937"/>
            <a:ext cx="416966" cy="416966"/>
          </a:xfrm>
          <a:prstGeom prst="rect">
            <a:avLst/>
          </a:prstGeom>
        </p:spPr>
      </p:pic>
      <p:sp>
        <p:nvSpPr>
          <p:cNvPr id="24" name="Text 18"/>
          <p:cNvSpPr txBox="1"/>
          <p:nvPr/>
        </p:nvSpPr>
        <p:spPr>
          <a:xfrm>
            <a:off x="9409176" y="2834640"/>
            <a:ext cx="2039112"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MP4 · Cyber-security</a:t>
            </a:r>
            <a:endParaRPr lang="en-US" sz="1800" dirty="0"/>
          </a:p>
        </p:txBody>
      </p:sp>
      <p:sp>
        <p:nvSpPr>
          <p:cNvPr id="25" name="Text 19"/>
          <p:cNvSpPr txBox="1"/>
          <p:nvPr/>
        </p:nvSpPr>
        <p:spPr>
          <a:xfrm>
            <a:off x="9409176" y="3273552"/>
            <a:ext cx="1993392" cy="13258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Keeping it all safe: cyber-security awareness</a:t>
            </a:r>
            <a:endParaRPr lang="en-US" sz="1500" dirty="0"/>
          </a:p>
        </p:txBody>
      </p:sp>
      <p:sp>
        <p:nvSpPr>
          <p:cNvPr id="26" name="three things"/>
          <p:cNvSpPr/>
          <p:nvPr/>
        </p:nvSpPr>
        <p:spPr>
          <a:xfrm>
            <a:off x="548640" y="5074920"/>
            <a:ext cx="11091672" cy="1097280"/>
          </a:xfrm>
          <a:prstGeom prst="roundRect">
            <a:avLst>
              <a:gd name="adj" fmla="val 8333"/>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7" name="Text 21"/>
          <p:cNvSpPr txBox="1"/>
          <p:nvPr/>
        </p:nvSpPr>
        <p:spPr>
          <a:xfrm>
            <a:off x="868680" y="5074920"/>
            <a:ext cx="10515600" cy="1097280"/>
          </a:xfrm>
          <a:prstGeom prst="rect">
            <a:avLst/>
          </a:prstGeom>
          <a:noFill/>
          <a:ln/>
        </p:spPr>
        <p:txBody>
          <a:bodyPr wrap="square" lIns="0" tIns="0" rIns="0" bIns="0" rtlCol="0" anchor="ctr"/>
          <a:lstStyle/>
          <a:p>
            <a:pPr marL="0" indent="0">
              <a:buNone/>
            </a:pPr>
            <a:r>
              <a:rPr lang="en-US" sz="2000" b="1" dirty="0">
                <a:solidFill>
                  <a:schemeClr val="accent2"/>
                </a:solidFill>
              </a:rPr>
              <a:t>For every project we cover three things:  </a:t>
            </a:r>
            <a:r>
              <a:rPr lang="en-US" sz="2000" dirty="0">
                <a:solidFill>
                  <a:schemeClr val="bg1"/>
                </a:solidFill>
              </a:rPr>
              <a:t>the problem  ·  our solution  ·  one strong proof</a:t>
            </a:r>
            <a:endParaRPr lang="en-US" sz="2000" dirty="0"/>
          </a:p>
        </p:txBody>
      </p:sp>
      <p:sp>
        <p:nvSpPr>
          <p:cNvPr id="2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ckdrop circle"/>
          <p:cNvSpPr/>
          <p:nvPr/>
        </p:nvSpPr>
        <p:spPr>
          <a:xfrm>
            <a:off x="7498080" y="822960"/>
            <a:ext cx="4754880" cy="4754880"/>
          </a:xfrm>
          <a:prstGeom prst="ellipse">
            <a:avLst/>
          </a:prstGeom>
          <a:solidFill>
            <a:schemeClr val="accent4">
              <a:alpha val="45000"/>
            </a:schemeClr>
          </a:solidFill>
          <a:ln w="12700">
            <a:solidFill>
              <a:schemeClr val="accent4"/>
            </a:solidFill>
            <a:prstDash val="solid"/>
          </a:ln>
        </p:spPr>
        <p:txBody>
          <a:bodyPr/>
          <a:lstStyle/>
          <a:p>
            <a:endParaRPr lang="en-GB"/>
          </a:p>
        </p:txBody>
      </p:sp>
      <p:sp>
        <p:nvSpPr>
          <p:cNvPr id="3" name="divider circle"/>
          <p:cNvSpPr/>
          <p:nvPr/>
        </p:nvSpPr>
        <p:spPr>
          <a:xfrm>
            <a:off x="8229600" y="1554480"/>
            <a:ext cx="3291840" cy="3291840"/>
          </a:xfrm>
          <a:prstGeom prst="ellipse">
            <a:avLst/>
          </a:prstGeom>
          <a:solidFill>
            <a:schemeClr val="accent1"/>
          </a:solidFill>
          <a:ln w="50800">
            <a:solidFill>
              <a:schemeClr val="tx2"/>
            </a:solidFill>
            <a:prstDash val="solid"/>
          </a:ln>
        </p:spPr>
        <p:txBody>
          <a:bodyPr/>
          <a:lstStyle/>
          <a:p>
            <a:endParaRPr lang="en-GB"/>
          </a:p>
        </p:txBody>
      </p:sp>
      <p:pic>
        <p:nvPicPr>
          <p:cNvPr id="4" name="divider icon" descr="Computing"/>
          <p:cNvPicPr>
            <a:picLocks noChangeAspect="1"/>
          </p:cNvPicPr>
          <p:nvPr/>
        </p:nvPicPr>
        <p:blipFill>
          <a:blip r:embed="rId3"/>
          <a:stretch>
            <a:fillRect/>
          </a:stretch>
        </p:blipFill>
        <p:spPr>
          <a:xfrm>
            <a:off x="9189720" y="2514600"/>
            <a:ext cx="1371600" cy="1371600"/>
          </a:xfrm>
          <a:prstGeom prst="rect">
            <a:avLst/>
          </a:prstGeom>
        </p:spPr>
      </p:pic>
      <p:sp>
        <p:nvSpPr>
          <p:cNvPr id="5" name="Text 2"/>
          <p:cNvSpPr txBox="1"/>
          <p:nvPr/>
        </p:nvSpPr>
        <p:spPr>
          <a:xfrm>
            <a:off x="822960" y="1188720"/>
            <a:ext cx="548640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MP1</a:t>
            </a:r>
            <a:endParaRPr lang="en-US" sz="8800" dirty="0"/>
          </a:p>
        </p:txBody>
      </p:sp>
      <p:sp>
        <p:nvSpPr>
          <p:cNvPr id="6" name="Text 3"/>
          <p:cNvSpPr txBox="1"/>
          <p:nvPr/>
        </p:nvSpPr>
        <p:spPr>
          <a:xfrm>
            <a:off x="822960" y="2514600"/>
            <a:ext cx="676656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Computing</a:t>
            </a:r>
            <a:endParaRPr lang="en-US" sz="4400" dirty="0"/>
          </a:p>
        </p:txBody>
      </p:sp>
      <p:sp>
        <p:nvSpPr>
          <p:cNvPr id="7" name="Text 4"/>
          <p:cNvSpPr txBox="1"/>
          <p:nvPr/>
        </p:nvSpPr>
        <p:spPr>
          <a:xfrm>
            <a:off x="822960" y="3337560"/>
            <a:ext cx="6766560" cy="457200"/>
          </a:xfrm>
          <a:prstGeom prst="rect">
            <a:avLst/>
          </a:prstGeom>
          <a:noFill/>
          <a:ln/>
        </p:spPr>
        <p:txBody>
          <a:bodyPr wrap="square" lIns="0" tIns="0" rIns="0" bIns="0" rtlCol="0" anchor="t"/>
          <a:lstStyle/>
          <a:p>
            <a:pPr marL="0" indent="0">
              <a:buNone/>
            </a:pPr>
            <a:r>
              <a:rPr lang="en-US" sz="2100" i="1" dirty="0">
                <a:solidFill>
                  <a:srgbClr val="C9D3EA"/>
                </a:solidFill>
                <a:latin typeface="Calibri" pitchFamily="34" charset="0"/>
                <a:ea typeface="Calibri" pitchFamily="34" charset="-122"/>
                <a:cs typeface="Calibri" pitchFamily="34" charset="-120"/>
              </a:rPr>
              <a:t>PC architecture and SQL</a:t>
            </a:r>
            <a:endParaRPr lang="en-US" sz="2100" dirty="0"/>
          </a:p>
        </p:txBody>
      </p:sp>
      <p:sp>
        <p:nvSpPr>
          <p:cNvPr id="8" name="Text 5"/>
          <p:cNvSpPr txBox="1"/>
          <p:nvPr/>
        </p:nvSpPr>
        <p:spPr>
          <a:xfrm>
            <a:off x="822960" y="4343400"/>
            <a:ext cx="4572000" cy="274320"/>
          </a:xfrm>
          <a:prstGeom prst="rect">
            <a:avLst/>
          </a:prstGeom>
          <a:noFill/>
          <a:ln/>
        </p:spPr>
        <p:txBody>
          <a:bodyPr wrap="square" lIns="0" tIns="0" rIns="0" bIns="0" rtlCol="0" anchor="t"/>
          <a:lstStyle/>
          <a:p>
            <a:pPr marL="0" indent="0">
              <a:buNone/>
            </a:pPr>
            <a:r>
              <a:rPr lang="en-US" sz="1300" b="1" kern="0" spc="300" dirty="0">
                <a:solidFill>
                  <a:schemeClr val="accent2"/>
                </a:solidFill>
                <a:latin typeface="Calibri" pitchFamily="34" charset="0"/>
                <a:ea typeface="Calibri" pitchFamily="34" charset="-122"/>
                <a:cs typeface="Calibri" pitchFamily="34" charset="-120"/>
              </a:rPr>
              <a:t>PRESENTED BY</a:t>
            </a:r>
            <a:endParaRPr lang="en-US" sz="1300" dirty="0"/>
          </a:p>
        </p:txBody>
      </p:sp>
      <p:sp>
        <p:nvSpPr>
          <p:cNvPr id="9" name="Text 6"/>
          <p:cNvSpPr txBox="1"/>
          <p:nvPr/>
        </p:nvSpPr>
        <p:spPr>
          <a:xfrm>
            <a:off x="822960" y="4663440"/>
            <a:ext cx="6766560" cy="594360"/>
          </a:xfrm>
          <a:prstGeom prst="rect">
            <a:avLst/>
          </a:prstGeom>
          <a:noFill/>
          <a:ln/>
        </p:spPr>
        <p:txBody>
          <a:bodyPr wrap="square" lIns="0" tIns="0" rIns="0" bIns="0" rtlCol="0" anchor="ctr"/>
          <a:lstStyle/>
          <a:p>
            <a:pPr marL="0" indent="0">
              <a:buNone/>
            </a:pPr>
            <a:r>
              <a:rPr lang="en-US" sz="3000" b="1" dirty="0">
                <a:solidFill>
                  <a:schemeClr val="bg1"/>
                </a:solidFill>
                <a:latin typeface="Cambria" pitchFamily="34" charset="0"/>
                <a:ea typeface="Cambria" pitchFamily="34" charset="-122"/>
                <a:cs typeface="Cambria" pitchFamily="34" charset="-120"/>
              </a:rPr>
              <a:t>Enrique Manzano Ayala</a:t>
            </a:r>
            <a:endParaRPr lang="en-US" sz="3000" dirty="0"/>
          </a:p>
        </p:txBody>
      </p:sp>
      <p:sp>
        <p:nvSpPr>
          <p:cNvPr id="10" name="progress 1"/>
          <p:cNvSpPr/>
          <p:nvPr/>
        </p:nvSpPr>
        <p:spPr>
          <a:xfrm>
            <a:off x="822960" y="5806440"/>
            <a:ext cx="411480" cy="411480"/>
          </a:xfrm>
          <a:prstGeom prst="ellipse">
            <a:avLst/>
          </a:prstGeom>
          <a:solidFill>
            <a:schemeClr val="accent2"/>
          </a:solidFill>
          <a:ln w="12700">
            <a:solidFill>
              <a:schemeClr val="accent2"/>
            </a:solidFill>
            <a:prstDash val="solid"/>
          </a:ln>
        </p:spPr>
        <p:txBody>
          <a:bodyPr/>
          <a:lstStyle/>
          <a:p>
            <a:endParaRPr lang="en-GB"/>
          </a:p>
        </p:txBody>
      </p:sp>
      <p:sp>
        <p:nvSpPr>
          <p:cNvPr id="11" name="Text 8"/>
          <p:cNvSpPr txBox="1"/>
          <p:nvPr/>
        </p:nvSpPr>
        <p:spPr>
          <a:xfrm>
            <a:off x="822960" y="5806440"/>
            <a:ext cx="411480" cy="41148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1</a:t>
            </a:r>
            <a:endParaRPr lang="en-US" sz="1400" dirty="0"/>
          </a:p>
        </p:txBody>
      </p:sp>
      <p:sp>
        <p:nvSpPr>
          <p:cNvPr id="12" name="progress 2"/>
          <p:cNvSpPr/>
          <p:nvPr/>
        </p:nvSpPr>
        <p:spPr>
          <a:xfrm>
            <a:off x="1389888"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3" name="Text 10"/>
          <p:cNvSpPr txBox="1"/>
          <p:nvPr/>
        </p:nvSpPr>
        <p:spPr>
          <a:xfrm>
            <a:off x="1389888"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2</a:t>
            </a:r>
            <a:endParaRPr lang="en-US" sz="1400" dirty="0"/>
          </a:p>
        </p:txBody>
      </p:sp>
      <p:sp>
        <p:nvSpPr>
          <p:cNvPr id="14" name="progress 3"/>
          <p:cNvSpPr/>
          <p:nvPr/>
        </p:nvSpPr>
        <p:spPr>
          <a:xfrm>
            <a:off x="1956816"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5" name="Text 12"/>
          <p:cNvSpPr txBox="1"/>
          <p:nvPr/>
        </p:nvSpPr>
        <p:spPr>
          <a:xfrm>
            <a:off x="1956816"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3</a:t>
            </a:r>
            <a:endParaRPr lang="en-US" sz="1400" dirty="0"/>
          </a:p>
        </p:txBody>
      </p:sp>
      <p:sp>
        <p:nvSpPr>
          <p:cNvPr id="16" name="progress 4"/>
          <p:cNvSpPr/>
          <p:nvPr/>
        </p:nvSpPr>
        <p:spPr>
          <a:xfrm>
            <a:off x="2523744"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7" name="Text 14"/>
          <p:cNvSpPr txBox="1"/>
          <p:nvPr/>
        </p:nvSpPr>
        <p:spPr>
          <a:xfrm>
            <a:off x="2523744"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problem: building PCs for four job roles</a:t>
            </a:r>
            <a:endParaRPr lang="en-US" sz="3400" dirty="0"/>
          </a:p>
        </p:txBody>
      </p:sp>
      <p:sp>
        <p:nvSpPr>
          <p:cNvPr id="3" name="scenario card The scenario"/>
          <p:cNvSpPr/>
          <p:nvPr/>
        </p:nvSpPr>
        <p:spPr>
          <a:xfrm>
            <a:off x="548640" y="1417320"/>
            <a:ext cx="466344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The scenario circle"/>
          <p:cNvSpPr/>
          <p:nvPr/>
        </p:nvSpPr>
        <p:spPr>
          <a:xfrm>
            <a:off x="804672" y="1764792"/>
            <a:ext cx="777240" cy="777240"/>
          </a:xfrm>
          <a:prstGeom prst="ellipse">
            <a:avLst/>
          </a:prstGeom>
          <a:solidFill>
            <a:srgbClr val="2A9D8F"/>
          </a:solidFill>
          <a:ln w="12700">
            <a:solidFill>
              <a:srgbClr val="2A9D8F"/>
            </a:solidFill>
            <a:prstDash val="solid"/>
          </a:ln>
        </p:spPr>
        <p:txBody>
          <a:bodyPr/>
          <a:lstStyle/>
          <a:p>
            <a:endParaRPr lang="en-GB"/>
          </a:p>
        </p:txBody>
      </p:sp>
      <p:pic>
        <p:nvPicPr>
          <p:cNvPr id="5" name="The scenario icon" descr="The scenario"/>
          <p:cNvPicPr>
            <a:picLocks noChangeAspect="1"/>
          </p:cNvPicPr>
          <p:nvPr/>
        </p:nvPicPr>
        <p:blipFill>
          <a:blip r:embed="rId3"/>
          <a:stretch>
            <a:fillRect/>
          </a:stretch>
        </p:blipFill>
        <p:spPr>
          <a:xfrm>
            <a:off x="1006754" y="1966874"/>
            <a:ext cx="373075" cy="373075"/>
          </a:xfrm>
          <a:prstGeom prst="rect">
            <a:avLst/>
          </a:prstGeom>
        </p:spPr>
      </p:pic>
      <p:sp>
        <p:nvSpPr>
          <p:cNvPr id="6" name="Text 3"/>
          <p:cNvSpPr txBox="1"/>
          <p:nvPr/>
        </p:nvSpPr>
        <p:spPr>
          <a:xfrm>
            <a:off x="1828800" y="1600200"/>
            <a:ext cx="320040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The scenario</a:t>
            </a:r>
            <a:endParaRPr lang="en-US" sz="1900" dirty="0"/>
          </a:p>
        </p:txBody>
      </p:sp>
      <p:sp>
        <p:nvSpPr>
          <p:cNvPr id="7" name="Text 4"/>
          <p:cNvSpPr txBox="1"/>
          <p:nvPr/>
        </p:nvSpPr>
        <p:spPr>
          <a:xfrm>
            <a:off x="1828800" y="2011680"/>
            <a:ext cx="320040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Our team acted as a small computing advice team for a company changing its computer systems.</a:t>
            </a:r>
            <a:endParaRPr lang="en-US" sz="1500" dirty="0"/>
          </a:p>
        </p:txBody>
      </p:sp>
      <p:sp>
        <p:nvSpPr>
          <p:cNvPr id="8" name="scenario card The brief"/>
          <p:cNvSpPr/>
          <p:nvPr/>
        </p:nvSpPr>
        <p:spPr>
          <a:xfrm>
            <a:off x="548640" y="3044952"/>
            <a:ext cx="466344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9" name="The brief circle"/>
          <p:cNvSpPr/>
          <p:nvPr/>
        </p:nvSpPr>
        <p:spPr>
          <a:xfrm>
            <a:off x="804672" y="3392424"/>
            <a:ext cx="777240" cy="777240"/>
          </a:xfrm>
          <a:prstGeom prst="ellipse">
            <a:avLst/>
          </a:prstGeom>
          <a:solidFill>
            <a:srgbClr val="1F3A6B"/>
          </a:solidFill>
          <a:ln w="12700">
            <a:solidFill>
              <a:srgbClr val="1F3A6B"/>
            </a:solidFill>
            <a:prstDash val="solid"/>
          </a:ln>
        </p:spPr>
        <p:txBody>
          <a:bodyPr/>
          <a:lstStyle/>
          <a:p>
            <a:endParaRPr lang="en-GB"/>
          </a:p>
        </p:txBody>
      </p:sp>
      <p:pic>
        <p:nvPicPr>
          <p:cNvPr id="10" name="The brief icon" descr="The brief"/>
          <p:cNvPicPr>
            <a:picLocks noChangeAspect="1"/>
          </p:cNvPicPr>
          <p:nvPr/>
        </p:nvPicPr>
        <p:blipFill>
          <a:blip r:embed="rId4"/>
          <a:stretch>
            <a:fillRect/>
          </a:stretch>
        </p:blipFill>
        <p:spPr>
          <a:xfrm>
            <a:off x="1006754" y="3594506"/>
            <a:ext cx="373075" cy="373075"/>
          </a:xfrm>
          <a:prstGeom prst="rect">
            <a:avLst/>
          </a:prstGeom>
        </p:spPr>
      </p:pic>
      <p:sp>
        <p:nvSpPr>
          <p:cNvPr id="11" name="Text 7"/>
          <p:cNvSpPr txBox="1"/>
          <p:nvPr/>
        </p:nvSpPr>
        <p:spPr>
          <a:xfrm>
            <a:off x="1828800" y="3227832"/>
            <a:ext cx="320040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The brief</a:t>
            </a:r>
            <a:endParaRPr lang="en-US" sz="1900" dirty="0"/>
          </a:p>
        </p:txBody>
      </p:sp>
      <p:sp>
        <p:nvSpPr>
          <p:cNvPr id="12" name="Text 8"/>
          <p:cNvSpPr txBox="1"/>
          <p:nvPr/>
        </p:nvSpPr>
        <p:spPr>
          <a:xfrm>
            <a:off x="1828800" y="3639312"/>
            <a:ext cx="320040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We were given a specification for each department and asked to suggest builds for them.</a:t>
            </a:r>
            <a:endParaRPr lang="en-US" sz="1500" dirty="0"/>
          </a:p>
        </p:txBody>
      </p:sp>
      <p:sp>
        <p:nvSpPr>
          <p:cNvPr id="13" name="scenario card The budget"/>
          <p:cNvSpPr/>
          <p:nvPr/>
        </p:nvSpPr>
        <p:spPr>
          <a:xfrm>
            <a:off x="548640" y="4672584"/>
            <a:ext cx="466344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4" name="The budget circle"/>
          <p:cNvSpPr/>
          <p:nvPr/>
        </p:nvSpPr>
        <p:spPr>
          <a:xfrm>
            <a:off x="804672" y="5020056"/>
            <a:ext cx="777240" cy="777240"/>
          </a:xfrm>
          <a:prstGeom prst="ellipse">
            <a:avLst/>
          </a:prstGeom>
          <a:solidFill>
            <a:srgbClr val="C98F12"/>
          </a:solidFill>
          <a:ln w="12700">
            <a:solidFill>
              <a:srgbClr val="C98F12"/>
            </a:solidFill>
            <a:prstDash val="solid"/>
          </a:ln>
        </p:spPr>
        <p:txBody>
          <a:bodyPr/>
          <a:lstStyle/>
          <a:p>
            <a:endParaRPr lang="en-GB"/>
          </a:p>
        </p:txBody>
      </p:sp>
      <p:pic>
        <p:nvPicPr>
          <p:cNvPr id="15" name="The budget icon" descr="The budget"/>
          <p:cNvPicPr>
            <a:picLocks noChangeAspect="1"/>
          </p:cNvPicPr>
          <p:nvPr/>
        </p:nvPicPr>
        <p:blipFill>
          <a:blip r:embed="rId5"/>
          <a:stretch>
            <a:fillRect/>
          </a:stretch>
        </p:blipFill>
        <p:spPr>
          <a:xfrm>
            <a:off x="1006754" y="5222138"/>
            <a:ext cx="373075" cy="373075"/>
          </a:xfrm>
          <a:prstGeom prst="rect">
            <a:avLst/>
          </a:prstGeom>
        </p:spPr>
      </p:pic>
      <p:sp>
        <p:nvSpPr>
          <p:cNvPr id="16" name="Text 11"/>
          <p:cNvSpPr txBox="1"/>
          <p:nvPr/>
        </p:nvSpPr>
        <p:spPr>
          <a:xfrm>
            <a:off x="1828800" y="4855464"/>
            <a:ext cx="320040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The budget</a:t>
            </a:r>
            <a:endParaRPr lang="en-US" sz="1900" dirty="0"/>
          </a:p>
        </p:txBody>
      </p:sp>
      <p:sp>
        <p:nvSpPr>
          <p:cNvPr id="17" name="Text 12"/>
          <p:cNvSpPr txBox="1"/>
          <p:nvPr/>
        </p:nvSpPr>
        <p:spPr>
          <a:xfrm>
            <a:off x="1828800" y="5266944"/>
            <a:ext cx="320040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£25,450 for 12 workstations, plus a £2,000 contingency, shared across four roles.</a:t>
            </a:r>
            <a:endParaRPr lang="en-US" sz="1500" dirty="0"/>
          </a:p>
        </p:txBody>
      </p:sp>
      <p:sp>
        <p:nvSpPr>
          <p:cNvPr id="18" name="roles table frame"/>
          <p:cNvSpPr/>
          <p:nvPr/>
        </p:nvSpPr>
        <p:spPr>
          <a:xfrm>
            <a:off x="5440680" y="1417320"/>
            <a:ext cx="6199632" cy="3200400"/>
          </a:xfrm>
          <a:prstGeom prst="roundRect">
            <a:avLst>
              <a:gd name="adj" fmla="val 2857"/>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19" name="roles table" descr="Table of the four job roles, number of workstations and budgets from the brief"/>
          <p:cNvPicPr>
            <a:picLocks noChangeAspect="1"/>
          </p:cNvPicPr>
          <p:nvPr/>
        </p:nvPicPr>
        <p:blipFill>
          <a:blip r:embed="rId6"/>
          <a:stretch>
            <a:fillRect/>
          </a:stretch>
        </p:blipFill>
        <p:spPr>
          <a:xfrm>
            <a:off x="5550408" y="1559666"/>
            <a:ext cx="5980176" cy="2915708"/>
          </a:xfrm>
          <a:prstGeom prst="rect">
            <a:avLst/>
          </a:prstGeom>
        </p:spPr>
      </p:pic>
      <p:sp>
        <p:nvSpPr>
          <p:cNvPr id="20" name="stat job roles"/>
          <p:cNvSpPr/>
          <p:nvPr/>
        </p:nvSpPr>
        <p:spPr>
          <a:xfrm>
            <a:off x="5440680" y="4846320"/>
            <a:ext cx="1920240" cy="1371600"/>
          </a:xfrm>
          <a:prstGeom prst="roundRect">
            <a:avLst>
              <a:gd name="adj" fmla="val 6667"/>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1" name="Text 15"/>
          <p:cNvSpPr txBox="1"/>
          <p:nvPr/>
        </p:nvSpPr>
        <p:spPr>
          <a:xfrm>
            <a:off x="5577840" y="4956048"/>
            <a:ext cx="1645920" cy="754380"/>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4</a:t>
            </a:r>
            <a:endParaRPr lang="en-US" sz="3400" dirty="0"/>
          </a:p>
        </p:txBody>
      </p:sp>
      <p:sp>
        <p:nvSpPr>
          <p:cNvPr id="22" name="Text 16"/>
          <p:cNvSpPr txBox="1"/>
          <p:nvPr/>
        </p:nvSpPr>
        <p:spPr>
          <a:xfrm>
            <a:off x="5577840" y="5696712"/>
            <a:ext cx="1645920" cy="41148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job roles</a:t>
            </a:r>
            <a:endParaRPr lang="en-US" sz="1400" dirty="0"/>
          </a:p>
        </p:txBody>
      </p:sp>
      <p:sp>
        <p:nvSpPr>
          <p:cNvPr id="23" name="stat workstations"/>
          <p:cNvSpPr/>
          <p:nvPr/>
        </p:nvSpPr>
        <p:spPr>
          <a:xfrm>
            <a:off x="7589520" y="4846320"/>
            <a:ext cx="1920240" cy="1371600"/>
          </a:xfrm>
          <a:prstGeom prst="roundRect">
            <a:avLst>
              <a:gd name="adj" fmla="val 6667"/>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4" name="Text 18"/>
          <p:cNvSpPr txBox="1"/>
          <p:nvPr/>
        </p:nvSpPr>
        <p:spPr>
          <a:xfrm>
            <a:off x="7726680" y="4956048"/>
            <a:ext cx="1645920" cy="754380"/>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12</a:t>
            </a:r>
            <a:endParaRPr lang="en-US" sz="3400" dirty="0"/>
          </a:p>
        </p:txBody>
      </p:sp>
      <p:sp>
        <p:nvSpPr>
          <p:cNvPr id="25" name="Text 19"/>
          <p:cNvSpPr txBox="1"/>
          <p:nvPr/>
        </p:nvSpPr>
        <p:spPr>
          <a:xfrm>
            <a:off x="7726680" y="5696712"/>
            <a:ext cx="1645920" cy="41148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workstations</a:t>
            </a:r>
            <a:endParaRPr lang="en-US" sz="1400" dirty="0"/>
          </a:p>
        </p:txBody>
      </p:sp>
      <p:sp>
        <p:nvSpPr>
          <p:cNvPr id="26" name="stat hardware budget"/>
          <p:cNvSpPr/>
          <p:nvPr/>
        </p:nvSpPr>
        <p:spPr>
          <a:xfrm>
            <a:off x="9738360" y="4846320"/>
            <a:ext cx="1901952" cy="1371600"/>
          </a:xfrm>
          <a:prstGeom prst="roundRect">
            <a:avLst>
              <a:gd name="adj" fmla="val 6667"/>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7" name="Text 21"/>
          <p:cNvSpPr txBox="1"/>
          <p:nvPr/>
        </p:nvSpPr>
        <p:spPr>
          <a:xfrm>
            <a:off x="9875520" y="4956048"/>
            <a:ext cx="1627632" cy="754380"/>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£25,450</a:t>
            </a:r>
            <a:endParaRPr lang="en-US" sz="3400" dirty="0"/>
          </a:p>
        </p:txBody>
      </p:sp>
      <p:sp>
        <p:nvSpPr>
          <p:cNvPr id="28" name="Text 22"/>
          <p:cNvSpPr txBox="1"/>
          <p:nvPr/>
        </p:nvSpPr>
        <p:spPr>
          <a:xfrm>
            <a:off x="9875520" y="5696712"/>
            <a:ext cx="1627632" cy="411480"/>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hardware budget</a:t>
            </a:r>
            <a:endParaRPr lang="en-US" sz="1400" dirty="0"/>
          </a:p>
        </p:txBody>
      </p:sp>
      <p:sp>
        <p:nvSpPr>
          <p:cNvPr id="29"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solution: five builds, one choice each</a:t>
            </a:r>
            <a:endParaRPr lang="en-US" sz="3400" dirty="0"/>
          </a:p>
        </p:txBody>
      </p:sp>
      <p:sp>
        <p:nvSpPr>
          <p:cNvPr id="3" name="card Five builds"/>
          <p:cNvSpPr/>
          <p:nvPr/>
        </p:nvSpPr>
        <p:spPr>
          <a:xfrm>
            <a:off x="548640" y="1417320"/>
            <a:ext cx="3520440" cy="2514600"/>
          </a:xfrm>
          <a:prstGeom prst="roundRect">
            <a:avLst>
              <a:gd name="adj" fmla="val 363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Five builds circle"/>
          <p:cNvSpPr/>
          <p:nvPr/>
        </p:nvSpPr>
        <p:spPr>
          <a:xfrm>
            <a:off x="804672" y="1673352"/>
            <a:ext cx="777240" cy="777240"/>
          </a:xfrm>
          <a:prstGeom prst="ellipse">
            <a:avLst/>
          </a:prstGeom>
          <a:solidFill>
            <a:srgbClr val="2A9D8F"/>
          </a:solidFill>
          <a:ln w="12700">
            <a:solidFill>
              <a:srgbClr val="2A9D8F"/>
            </a:solidFill>
            <a:prstDash val="solid"/>
          </a:ln>
        </p:spPr>
        <p:txBody>
          <a:bodyPr/>
          <a:lstStyle/>
          <a:p>
            <a:endParaRPr lang="en-GB"/>
          </a:p>
        </p:txBody>
      </p:sp>
      <p:pic>
        <p:nvPicPr>
          <p:cNvPr id="5" name="Five builds icon" descr="Five builds"/>
          <p:cNvPicPr>
            <a:picLocks noChangeAspect="1"/>
          </p:cNvPicPr>
          <p:nvPr/>
        </p:nvPicPr>
        <p:blipFill>
          <a:blip r:embed="rId3"/>
          <a:stretch>
            <a:fillRect/>
          </a:stretch>
        </p:blipFill>
        <p:spPr>
          <a:xfrm>
            <a:off x="1006754" y="1875434"/>
            <a:ext cx="373075" cy="373075"/>
          </a:xfrm>
          <a:prstGeom prst="rect">
            <a:avLst/>
          </a:prstGeom>
        </p:spPr>
      </p:pic>
      <p:sp>
        <p:nvSpPr>
          <p:cNvPr id="6" name="Text 3"/>
          <p:cNvSpPr txBox="1"/>
          <p:nvPr/>
        </p:nvSpPr>
        <p:spPr>
          <a:xfrm>
            <a:off x="804672" y="2587752"/>
            <a:ext cx="306324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Five builds</a:t>
            </a:r>
            <a:endParaRPr lang="en-US" sz="1900" dirty="0"/>
          </a:p>
        </p:txBody>
      </p:sp>
      <p:sp>
        <p:nvSpPr>
          <p:cNvPr id="7" name="Text 4"/>
          <p:cNvSpPr txBox="1"/>
          <p:nvPr/>
        </p:nvSpPr>
        <p:spPr>
          <a:xfrm>
            <a:off x="804672" y="3017520"/>
            <a:ext cx="3017520" cy="841248"/>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One build for each area, plus two for the most demanding role. Only one of those two versions was chosen.</a:t>
            </a:r>
            <a:endParaRPr lang="en-US" sz="1500" dirty="0"/>
          </a:p>
        </p:txBody>
      </p:sp>
      <p:sp>
        <p:nvSpPr>
          <p:cNvPr id="8" name="card Every choice explained"/>
          <p:cNvSpPr/>
          <p:nvPr/>
        </p:nvSpPr>
        <p:spPr>
          <a:xfrm>
            <a:off x="4334256" y="1417320"/>
            <a:ext cx="3520440" cy="2514600"/>
          </a:xfrm>
          <a:prstGeom prst="roundRect">
            <a:avLst>
              <a:gd name="adj" fmla="val 363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9" name="Every choice explained circle"/>
          <p:cNvSpPr/>
          <p:nvPr/>
        </p:nvSpPr>
        <p:spPr>
          <a:xfrm>
            <a:off x="4590288" y="1673352"/>
            <a:ext cx="777240" cy="777240"/>
          </a:xfrm>
          <a:prstGeom prst="ellipse">
            <a:avLst/>
          </a:prstGeom>
          <a:solidFill>
            <a:srgbClr val="1F3A6B"/>
          </a:solidFill>
          <a:ln w="12700">
            <a:solidFill>
              <a:srgbClr val="1F3A6B"/>
            </a:solidFill>
            <a:prstDash val="solid"/>
          </a:ln>
        </p:spPr>
        <p:txBody>
          <a:bodyPr/>
          <a:lstStyle/>
          <a:p>
            <a:endParaRPr lang="en-GB"/>
          </a:p>
        </p:txBody>
      </p:sp>
      <p:pic>
        <p:nvPicPr>
          <p:cNvPr id="10" name="Every choice explained icon" descr="Every choice explained"/>
          <p:cNvPicPr>
            <a:picLocks noChangeAspect="1"/>
          </p:cNvPicPr>
          <p:nvPr/>
        </p:nvPicPr>
        <p:blipFill>
          <a:blip r:embed="rId4"/>
          <a:stretch>
            <a:fillRect/>
          </a:stretch>
        </p:blipFill>
        <p:spPr>
          <a:xfrm>
            <a:off x="4792370" y="1875434"/>
            <a:ext cx="373075" cy="373075"/>
          </a:xfrm>
          <a:prstGeom prst="rect">
            <a:avLst/>
          </a:prstGeom>
        </p:spPr>
      </p:pic>
      <p:sp>
        <p:nvSpPr>
          <p:cNvPr id="11" name="Text 7"/>
          <p:cNvSpPr txBox="1"/>
          <p:nvPr/>
        </p:nvSpPr>
        <p:spPr>
          <a:xfrm>
            <a:off x="4590288" y="2587752"/>
            <a:ext cx="306324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Every choice explained</a:t>
            </a:r>
            <a:endParaRPr lang="en-US" sz="1900" dirty="0"/>
          </a:p>
        </p:txBody>
      </p:sp>
      <p:sp>
        <p:nvSpPr>
          <p:cNvPr id="12" name="Text 8"/>
          <p:cNvSpPr txBox="1"/>
          <p:nvPr/>
        </p:nvSpPr>
        <p:spPr>
          <a:xfrm>
            <a:off x="4590288" y="3017520"/>
            <a:ext cx="3017520" cy="841248"/>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Each build explains why it was chosen, and why each part was picked over the other options available.</a:t>
            </a:r>
            <a:endParaRPr lang="en-US" sz="1500" dirty="0"/>
          </a:p>
        </p:txBody>
      </p:sp>
      <p:sp>
        <p:nvSpPr>
          <p:cNvPr id="13" name="card Evidence supplied"/>
          <p:cNvSpPr/>
          <p:nvPr/>
        </p:nvSpPr>
        <p:spPr>
          <a:xfrm>
            <a:off x="8119872" y="1417320"/>
            <a:ext cx="3520440" cy="2514600"/>
          </a:xfrm>
          <a:prstGeom prst="roundRect">
            <a:avLst>
              <a:gd name="adj" fmla="val 363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4" name="Evidence supplied circle"/>
          <p:cNvSpPr/>
          <p:nvPr/>
        </p:nvSpPr>
        <p:spPr>
          <a:xfrm>
            <a:off x="8375904" y="1673352"/>
            <a:ext cx="777240" cy="777240"/>
          </a:xfrm>
          <a:prstGeom prst="ellipse">
            <a:avLst/>
          </a:prstGeom>
          <a:solidFill>
            <a:srgbClr val="C98F12"/>
          </a:solidFill>
          <a:ln w="12700">
            <a:solidFill>
              <a:srgbClr val="C98F12"/>
            </a:solidFill>
            <a:prstDash val="solid"/>
          </a:ln>
        </p:spPr>
        <p:txBody>
          <a:bodyPr/>
          <a:lstStyle/>
          <a:p>
            <a:endParaRPr lang="en-GB"/>
          </a:p>
        </p:txBody>
      </p:sp>
      <p:pic>
        <p:nvPicPr>
          <p:cNvPr id="15" name="Evidence supplied icon" descr="Evidence supplied"/>
          <p:cNvPicPr>
            <a:picLocks noChangeAspect="1"/>
          </p:cNvPicPr>
          <p:nvPr/>
        </p:nvPicPr>
        <p:blipFill>
          <a:blip r:embed="rId5"/>
          <a:stretch>
            <a:fillRect/>
          </a:stretch>
        </p:blipFill>
        <p:spPr>
          <a:xfrm>
            <a:off x="8577986" y="1875434"/>
            <a:ext cx="373075" cy="373075"/>
          </a:xfrm>
          <a:prstGeom prst="rect">
            <a:avLst/>
          </a:prstGeom>
        </p:spPr>
      </p:pic>
      <p:sp>
        <p:nvSpPr>
          <p:cNvPr id="16" name="Text 11"/>
          <p:cNvSpPr txBox="1"/>
          <p:nvPr/>
        </p:nvSpPr>
        <p:spPr>
          <a:xfrm>
            <a:off x="8375904" y="2587752"/>
            <a:ext cx="306324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Evidence supplied</a:t>
            </a:r>
            <a:endParaRPr lang="en-US" sz="1900" dirty="0"/>
          </a:p>
        </p:txBody>
      </p:sp>
      <p:sp>
        <p:nvSpPr>
          <p:cNvPr id="17" name="Text 12"/>
          <p:cNvSpPr txBox="1"/>
          <p:nvPr/>
        </p:nvSpPr>
        <p:spPr>
          <a:xfrm>
            <a:off x="8375904" y="3017520"/>
            <a:ext cx="3017520" cy="841248"/>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Screenshots of the specification tables and of the builds are included for every role.</a:t>
            </a:r>
            <a:endParaRPr lang="en-US" sz="1500" dirty="0"/>
          </a:p>
        </p:txBody>
      </p:sp>
      <p:sp>
        <p:nvSpPr>
          <p:cNvPr id="18" name="Text 13"/>
          <p:cNvSpPr txBox="1"/>
          <p:nvPr/>
        </p:nvSpPr>
        <p:spPr>
          <a:xfrm>
            <a:off x="548640" y="4160520"/>
            <a:ext cx="7315200" cy="274320"/>
          </a:xfrm>
          <a:prstGeom prst="rect">
            <a:avLst/>
          </a:prstGeom>
          <a:noFill/>
          <a:ln/>
        </p:spPr>
        <p:txBody>
          <a:bodyPr wrap="square" lIns="0" tIns="0" rIns="0" bIns="0" rtlCol="0" anchor="t"/>
          <a:lstStyle/>
          <a:p>
            <a:pPr marL="0" indent="0">
              <a:buNone/>
            </a:pPr>
            <a:r>
              <a:rPr lang="en-US" sz="1200" b="1" kern="0" spc="200" dirty="0">
                <a:solidFill>
                  <a:srgbClr val="4A5876"/>
                </a:solidFill>
                <a:latin typeface="Calibri" pitchFamily="34" charset="0"/>
                <a:ea typeface="Calibri" pitchFamily="34" charset="-122"/>
                <a:cs typeface="Calibri" pitchFamily="34" charset="-120"/>
              </a:rPr>
              <a:t>MAXIMUM BUDGET PER WORKSTATION, BY ROLE</a:t>
            </a:r>
            <a:endParaRPr lang="en-US" sz="1200" dirty="0"/>
          </a:p>
        </p:txBody>
      </p:sp>
      <p:sp>
        <p:nvSpPr>
          <p:cNvPr id="19" name="role card Administrative Assistant"/>
          <p:cNvSpPr/>
          <p:nvPr/>
        </p:nvSpPr>
        <p:spPr>
          <a:xfrm>
            <a:off x="548640" y="4526280"/>
            <a:ext cx="2578608" cy="1645920"/>
          </a:xfrm>
          <a:prstGeom prst="roundRect">
            <a:avLst>
              <a:gd name="adj" fmla="val 555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0" name="Text 15"/>
          <p:cNvSpPr txBox="1"/>
          <p:nvPr/>
        </p:nvSpPr>
        <p:spPr>
          <a:xfrm>
            <a:off x="731520" y="4663440"/>
            <a:ext cx="2240280" cy="5486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Administrative Assistant</a:t>
            </a:r>
            <a:endParaRPr lang="en-US" sz="1600" dirty="0"/>
          </a:p>
        </p:txBody>
      </p:sp>
      <p:sp>
        <p:nvSpPr>
          <p:cNvPr id="21" name="Text 16"/>
          <p:cNvSpPr txBox="1"/>
          <p:nvPr/>
        </p:nvSpPr>
        <p:spPr>
          <a:xfrm>
            <a:off x="731520" y="5276088"/>
            <a:ext cx="2240280" cy="274320"/>
          </a:xfrm>
          <a:prstGeom prst="rect">
            <a:avLst/>
          </a:prstGeom>
          <a:noFill/>
          <a:ln/>
        </p:spPr>
        <p:txBody>
          <a:bodyPr wrap="square" lIns="0" tIns="0" rIns="0" bIns="0" rtlCol="0" anchor="t"/>
          <a:lstStyle/>
          <a:p>
            <a:pPr marL="0" indent="0">
              <a:buNone/>
            </a:pPr>
            <a:r>
              <a:rPr lang="en-US" sz="1400" dirty="0">
                <a:solidFill>
                  <a:srgbClr val="4A5876"/>
                </a:solidFill>
                <a:latin typeface="Calibri" pitchFamily="34" charset="0"/>
                <a:ea typeface="Calibri" pitchFamily="34" charset="-122"/>
                <a:cs typeface="Calibri" pitchFamily="34" charset="-120"/>
              </a:rPr>
              <a:t>3 workstations</a:t>
            </a:r>
            <a:endParaRPr lang="en-US" sz="1400" dirty="0"/>
          </a:p>
        </p:txBody>
      </p:sp>
      <p:sp>
        <p:nvSpPr>
          <p:cNvPr id="22" name="Text 17"/>
          <p:cNvSpPr txBox="1"/>
          <p:nvPr/>
        </p:nvSpPr>
        <p:spPr>
          <a:xfrm>
            <a:off x="731520" y="5577840"/>
            <a:ext cx="2240280" cy="457200"/>
          </a:xfrm>
          <a:prstGeom prst="rect">
            <a:avLst/>
          </a:prstGeom>
          <a:noFill/>
          <a:ln/>
        </p:spPr>
        <p:txBody>
          <a:bodyPr wrap="square" lIns="0" tIns="0" rIns="0" bIns="0" rtlCol="0" anchor="ctr"/>
          <a:lstStyle/>
          <a:p>
            <a:pPr marL="0" indent="0">
              <a:buNone/>
            </a:pPr>
            <a:r>
              <a:rPr lang="en-US" sz="2800" b="1" dirty="0">
                <a:solidFill>
                  <a:srgbClr val="2A9D8F"/>
                </a:solidFill>
                <a:latin typeface="Cambria" pitchFamily="34" charset="0"/>
                <a:ea typeface="Cambria" pitchFamily="34" charset="-122"/>
                <a:cs typeface="Cambria" pitchFamily="34" charset="-120"/>
              </a:rPr>
              <a:t>£950</a:t>
            </a:r>
            <a:endParaRPr lang="en-US" sz="2800" dirty="0"/>
          </a:p>
        </p:txBody>
      </p:sp>
      <p:sp>
        <p:nvSpPr>
          <p:cNvPr id="23" name="role card Project Manager"/>
          <p:cNvSpPr/>
          <p:nvPr/>
        </p:nvSpPr>
        <p:spPr>
          <a:xfrm>
            <a:off x="3386023" y="4526280"/>
            <a:ext cx="2578608" cy="1645920"/>
          </a:xfrm>
          <a:prstGeom prst="roundRect">
            <a:avLst>
              <a:gd name="adj" fmla="val 555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4" name="Text 19"/>
          <p:cNvSpPr txBox="1"/>
          <p:nvPr/>
        </p:nvSpPr>
        <p:spPr>
          <a:xfrm>
            <a:off x="3568903" y="4663440"/>
            <a:ext cx="2240280" cy="5486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Project Manager</a:t>
            </a:r>
            <a:endParaRPr lang="en-US" sz="1600" dirty="0"/>
          </a:p>
        </p:txBody>
      </p:sp>
      <p:sp>
        <p:nvSpPr>
          <p:cNvPr id="25" name="Text 20"/>
          <p:cNvSpPr txBox="1"/>
          <p:nvPr/>
        </p:nvSpPr>
        <p:spPr>
          <a:xfrm>
            <a:off x="3568903" y="5276088"/>
            <a:ext cx="2240280" cy="274320"/>
          </a:xfrm>
          <a:prstGeom prst="rect">
            <a:avLst/>
          </a:prstGeom>
          <a:noFill/>
          <a:ln/>
        </p:spPr>
        <p:txBody>
          <a:bodyPr wrap="square" lIns="0" tIns="0" rIns="0" bIns="0" rtlCol="0" anchor="t"/>
          <a:lstStyle/>
          <a:p>
            <a:pPr marL="0" indent="0">
              <a:buNone/>
            </a:pPr>
            <a:r>
              <a:rPr lang="en-US" sz="1400" dirty="0">
                <a:solidFill>
                  <a:srgbClr val="4A5876"/>
                </a:solidFill>
                <a:latin typeface="Calibri" pitchFamily="34" charset="0"/>
                <a:ea typeface="Calibri" pitchFamily="34" charset="-122"/>
                <a:cs typeface="Calibri" pitchFamily="34" charset="-120"/>
              </a:rPr>
              <a:t>2 workstations</a:t>
            </a:r>
            <a:endParaRPr lang="en-US" sz="1400" dirty="0"/>
          </a:p>
        </p:txBody>
      </p:sp>
      <p:sp>
        <p:nvSpPr>
          <p:cNvPr id="26" name="Text 21"/>
          <p:cNvSpPr txBox="1"/>
          <p:nvPr/>
        </p:nvSpPr>
        <p:spPr>
          <a:xfrm>
            <a:off x="3568903" y="5577840"/>
            <a:ext cx="2240280" cy="457200"/>
          </a:xfrm>
          <a:prstGeom prst="rect">
            <a:avLst/>
          </a:prstGeom>
          <a:noFill/>
          <a:ln/>
        </p:spPr>
        <p:txBody>
          <a:bodyPr wrap="square" lIns="0" tIns="0" rIns="0" bIns="0" rtlCol="0" anchor="ctr"/>
          <a:lstStyle/>
          <a:p>
            <a:pPr marL="0" indent="0">
              <a:buNone/>
            </a:pPr>
            <a:r>
              <a:rPr lang="en-US" sz="2800" b="1" dirty="0">
                <a:solidFill>
                  <a:srgbClr val="2A9D8F"/>
                </a:solidFill>
                <a:latin typeface="Cambria" pitchFamily="34" charset="0"/>
                <a:ea typeface="Cambria" pitchFamily="34" charset="-122"/>
                <a:cs typeface="Cambria" pitchFamily="34" charset="-120"/>
              </a:rPr>
              <a:t>£1,300</a:t>
            </a:r>
            <a:endParaRPr lang="en-US" sz="2800" dirty="0"/>
          </a:p>
        </p:txBody>
      </p:sp>
      <p:sp>
        <p:nvSpPr>
          <p:cNvPr id="27" name="role card Architect / CAD Designer"/>
          <p:cNvSpPr/>
          <p:nvPr/>
        </p:nvSpPr>
        <p:spPr>
          <a:xfrm>
            <a:off x="6223406" y="4526280"/>
            <a:ext cx="2578608" cy="1645920"/>
          </a:xfrm>
          <a:prstGeom prst="roundRect">
            <a:avLst>
              <a:gd name="adj" fmla="val 555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8" name="Text 23"/>
          <p:cNvSpPr txBox="1"/>
          <p:nvPr/>
        </p:nvSpPr>
        <p:spPr>
          <a:xfrm>
            <a:off x="6406286" y="4663440"/>
            <a:ext cx="2240280" cy="5486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Architect / CAD Designer</a:t>
            </a:r>
            <a:endParaRPr lang="en-US" sz="1600" dirty="0"/>
          </a:p>
        </p:txBody>
      </p:sp>
      <p:sp>
        <p:nvSpPr>
          <p:cNvPr id="29" name="Text 24"/>
          <p:cNvSpPr txBox="1"/>
          <p:nvPr/>
        </p:nvSpPr>
        <p:spPr>
          <a:xfrm>
            <a:off x="6406286" y="5276088"/>
            <a:ext cx="2240280" cy="274320"/>
          </a:xfrm>
          <a:prstGeom prst="rect">
            <a:avLst/>
          </a:prstGeom>
          <a:noFill/>
          <a:ln/>
        </p:spPr>
        <p:txBody>
          <a:bodyPr wrap="square" lIns="0" tIns="0" rIns="0" bIns="0" rtlCol="0" anchor="t"/>
          <a:lstStyle/>
          <a:p>
            <a:pPr marL="0" indent="0">
              <a:buNone/>
            </a:pPr>
            <a:r>
              <a:rPr lang="en-US" sz="1400" dirty="0">
                <a:solidFill>
                  <a:srgbClr val="4A5876"/>
                </a:solidFill>
                <a:latin typeface="Calibri" pitchFamily="34" charset="0"/>
                <a:ea typeface="Calibri" pitchFamily="34" charset="-122"/>
                <a:cs typeface="Calibri" pitchFamily="34" charset="-120"/>
              </a:rPr>
              <a:t>5 workstations</a:t>
            </a:r>
            <a:endParaRPr lang="en-US" sz="1400" dirty="0"/>
          </a:p>
        </p:txBody>
      </p:sp>
      <p:sp>
        <p:nvSpPr>
          <p:cNvPr id="30" name="Text 25"/>
          <p:cNvSpPr txBox="1"/>
          <p:nvPr/>
        </p:nvSpPr>
        <p:spPr>
          <a:xfrm>
            <a:off x="6406286" y="5577840"/>
            <a:ext cx="2240280" cy="457200"/>
          </a:xfrm>
          <a:prstGeom prst="rect">
            <a:avLst/>
          </a:prstGeom>
          <a:noFill/>
          <a:ln/>
        </p:spPr>
        <p:txBody>
          <a:bodyPr wrap="square" lIns="0" tIns="0" rIns="0" bIns="0" rtlCol="0" anchor="ctr"/>
          <a:lstStyle/>
          <a:p>
            <a:pPr marL="0" indent="0">
              <a:buNone/>
            </a:pPr>
            <a:r>
              <a:rPr lang="en-US" sz="2800" b="1" dirty="0">
                <a:solidFill>
                  <a:srgbClr val="2A9D8F"/>
                </a:solidFill>
                <a:latin typeface="Cambria" pitchFamily="34" charset="0"/>
                <a:ea typeface="Cambria" pitchFamily="34" charset="-122"/>
                <a:cs typeface="Cambria" pitchFamily="34" charset="-120"/>
              </a:rPr>
              <a:t>£2,500</a:t>
            </a:r>
            <a:endParaRPr lang="en-US" sz="2800" dirty="0"/>
          </a:p>
        </p:txBody>
      </p:sp>
      <p:sp>
        <p:nvSpPr>
          <p:cNvPr id="31" name="role card 3D Visualisation Specialist"/>
          <p:cNvSpPr/>
          <p:nvPr/>
        </p:nvSpPr>
        <p:spPr>
          <a:xfrm>
            <a:off x="9060790" y="4526280"/>
            <a:ext cx="2578608" cy="1645920"/>
          </a:xfrm>
          <a:prstGeom prst="roundRect">
            <a:avLst>
              <a:gd name="adj" fmla="val 555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32" name="Text 27"/>
          <p:cNvSpPr txBox="1"/>
          <p:nvPr/>
        </p:nvSpPr>
        <p:spPr>
          <a:xfrm>
            <a:off x="9243670" y="4663440"/>
            <a:ext cx="2240280" cy="54864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3D Visualisation Specialist</a:t>
            </a:r>
            <a:endParaRPr lang="en-US" sz="1600" dirty="0"/>
          </a:p>
        </p:txBody>
      </p:sp>
      <p:sp>
        <p:nvSpPr>
          <p:cNvPr id="33" name="Text 28"/>
          <p:cNvSpPr txBox="1"/>
          <p:nvPr/>
        </p:nvSpPr>
        <p:spPr>
          <a:xfrm>
            <a:off x="9243670" y="5276088"/>
            <a:ext cx="2240280" cy="274320"/>
          </a:xfrm>
          <a:prstGeom prst="rect">
            <a:avLst/>
          </a:prstGeom>
          <a:noFill/>
          <a:ln/>
        </p:spPr>
        <p:txBody>
          <a:bodyPr wrap="square" lIns="0" tIns="0" rIns="0" bIns="0" rtlCol="0" anchor="t"/>
          <a:lstStyle/>
          <a:p>
            <a:pPr marL="0" indent="0">
              <a:buNone/>
            </a:pPr>
            <a:r>
              <a:rPr lang="en-US" sz="1400" dirty="0">
                <a:solidFill>
                  <a:srgbClr val="4A5876"/>
                </a:solidFill>
                <a:latin typeface="Calibri" pitchFamily="34" charset="0"/>
                <a:ea typeface="Calibri" pitchFamily="34" charset="-122"/>
                <a:cs typeface="Calibri" pitchFamily="34" charset="-120"/>
              </a:rPr>
              <a:t>2 workstations</a:t>
            </a:r>
            <a:endParaRPr lang="en-US" sz="1400" dirty="0"/>
          </a:p>
        </p:txBody>
      </p:sp>
      <p:sp>
        <p:nvSpPr>
          <p:cNvPr id="34" name="Text 29"/>
          <p:cNvSpPr txBox="1"/>
          <p:nvPr/>
        </p:nvSpPr>
        <p:spPr>
          <a:xfrm>
            <a:off x="9243670" y="5577840"/>
            <a:ext cx="2240280" cy="457200"/>
          </a:xfrm>
          <a:prstGeom prst="rect">
            <a:avLst/>
          </a:prstGeom>
          <a:noFill/>
          <a:ln/>
        </p:spPr>
        <p:txBody>
          <a:bodyPr wrap="square" lIns="0" tIns="0" rIns="0" bIns="0" rtlCol="0" anchor="ctr"/>
          <a:lstStyle/>
          <a:p>
            <a:pPr marL="0" indent="0">
              <a:buNone/>
            </a:pPr>
            <a:r>
              <a:rPr lang="en-US" sz="2800" b="1" dirty="0">
                <a:solidFill>
                  <a:srgbClr val="2A9D8F"/>
                </a:solidFill>
                <a:latin typeface="Cambria" pitchFamily="34" charset="0"/>
                <a:ea typeface="Cambria" pitchFamily="34" charset="-122"/>
                <a:cs typeface="Cambria" pitchFamily="34" charset="-120"/>
              </a:rPr>
              <a:t>£3,750</a:t>
            </a:r>
            <a:endParaRPr lang="en-US" sz="2800" dirty="0"/>
          </a:p>
        </p:txBody>
      </p:sp>
      <p:sp>
        <p:nvSpPr>
          <p:cNvPr id="3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builds: one proposal for each role</a:t>
            </a:r>
            <a:endParaRPr lang="en-US" sz="3400" dirty="0"/>
          </a:p>
        </p:txBody>
      </p:sp>
      <p:pic>
        <p:nvPicPr>
          <p:cNvPr id="3" name="build Administrative Assistant · £770" descr="Administrative Assistant · £770 BuildCores build"/>
          <p:cNvPicPr>
            <a:picLocks noChangeAspect="1"/>
          </p:cNvPicPr>
          <p:nvPr/>
        </p:nvPicPr>
        <p:blipFill>
          <a:blip r:embed="rId3"/>
          <a:stretch>
            <a:fillRect/>
          </a:stretch>
        </p:blipFill>
        <p:spPr>
          <a:xfrm>
            <a:off x="600674" y="1371600"/>
            <a:ext cx="3644973" cy="1911096"/>
          </a:xfrm>
          <a:prstGeom prst="rect">
            <a:avLst/>
          </a:prstGeom>
        </p:spPr>
      </p:pic>
      <p:sp>
        <p:nvSpPr>
          <p:cNvPr id="4" name="build frame 1"/>
          <p:cNvSpPr/>
          <p:nvPr/>
        </p:nvSpPr>
        <p:spPr>
          <a:xfrm>
            <a:off x="548640" y="1371600"/>
            <a:ext cx="3749040" cy="1911096"/>
          </a:xfrm>
          <a:prstGeom prst="rect">
            <a:avLst/>
          </a:prstGeom>
          <a:solidFill>
            <a:srgbClr val="FFFFFF">
              <a:alpha val="0"/>
            </a:srgbClr>
          </a:solidFill>
          <a:ln w="12700">
            <a:solidFill>
              <a:srgbClr val="E3E8F2"/>
            </a:solidFill>
            <a:prstDash val="solid"/>
          </a:ln>
        </p:spPr>
        <p:txBody>
          <a:bodyPr/>
          <a:lstStyle/>
          <a:p>
            <a:endParaRPr lang="en-GB"/>
          </a:p>
        </p:txBody>
      </p:sp>
      <p:sp>
        <p:nvSpPr>
          <p:cNvPr id="5" name="Text 2"/>
          <p:cNvSpPr txBox="1"/>
          <p:nvPr/>
        </p:nvSpPr>
        <p:spPr>
          <a:xfrm>
            <a:off x="548640" y="3328416"/>
            <a:ext cx="374904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Administrative Assistant · £770</a:t>
            </a:r>
            <a:endParaRPr lang="en-US" sz="1400" dirty="0"/>
          </a:p>
          <a:p>
            <a:pPr marL="0" indent="0">
              <a:buNone/>
            </a:pPr>
            <a:r>
              <a:rPr lang="en-US" sz="1300" dirty="0">
                <a:solidFill>
                  <a:srgbClr val="4A5876"/>
                </a:solidFill>
                <a:latin typeface="Calibri" pitchFamily="34" charset="0"/>
                <a:ea typeface="Calibri" pitchFamily="34" charset="-122"/>
                <a:cs typeface="Calibri" pitchFamily="34" charset="-120"/>
              </a:rPr>
              <a:t>Built by Toby Mathew</a:t>
            </a:r>
            <a:endParaRPr lang="en-US" sz="1400" dirty="0"/>
          </a:p>
        </p:txBody>
      </p:sp>
      <p:pic>
        <p:nvPicPr>
          <p:cNvPr id="6" name="build Project Manager · £1,338" descr="Project Manager · £1,338 BuildCores build"/>
          <p:cNvPicPr>
            <a:picLocks noChangeAspect="1"/>
          </p:cNvPicPr>
          <p:nvPr/>
        </p:nvPicPr>
        <p:blipFill>
          <a:blip r:embed="rId4"/>
          <a:stretch>
            <a:fillRect/>
          </a:stretch>
        </p:blipFill>
        <p:spPr>
          <a:xfrm>
            <a:off x="4583103" y="1371600"/>
            <a:ext cx="3635393" cy="1911096"/>
          </a:xfrm>
          <a:prstGeom prst="rect">
            <a:avLst/>
          </a:prstGeom>
        </p:spPr>
      </p:pic>
      <p:sp>
        <p:nvSpPr>
          <p:cNvPr id="7" name="build frame 2"/>
          <p:cNvSpPr/>
          <p:nvPr/>
        </p:nvSpPr>
        <p:spPr>
          <a:xfrm>
            <a:off x="4526280" y="1371600"/>
            <a:ext cx="3749040" cy="1911096"/>
          </a:xfrm>
          <a:prstGeom prst="rect">
            <a:avLst/>
          </a:prstGeom>
          <a:solidFill>
            <a:srgbClr val="FFFFFF">
              <a:alpha val="0"/>
            </a:srgbClr>
          </a:solidFill>
          <a:ln w="12700">
            <a:solidFill>
              <a:srgbClr val="E3E8F2"/>
            </a:solidFill>
            <a:prstDash val="solid"/>
          </a:ln>
        </p:spPr>
        <p:txBody>
          <a:bodyPr/>
          <a:lstStyle/>
          <a:p>
            <a:endParaRPr lang="en-GB"/>
          </a:p>
        </p:txBody>
      </p:sp>
      <p:sp>
        <p:nvSpPr>
          <p:cNvPr id="8" name="Text 4"/>
          <p:cNvSpPr txBox="1"/>
          <p:nvPr/>
        </p:nvSpPr>
        <p:spPr>
          <a:xfrm>
            <a:off x="4526280" y="3328416"/>
            <a:ext cx="374904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Project Manager · £1,338</a:t>
            </a:r>
            <a:endParaRPr lang="en-US" sz="1400" dirty="0"/>
          </a:p>
          <a:p>
            <a:pPr marL="0" indent="0">
              <a:buNone/>
            </a:pPr>
            <a:r>
              <a:rPr lang="en-US" sz="1300" dirty="0">
                <a:solidFill>
                  <a:srgbClr val="4A5876"/>
                </a:solidFill>
                <a:latin typeface="Calibri" pitchFamily="34" charset="0"/>
                <a:ea typeface="Calibri" pitchFamily="34" charset="-122"/>
                <a:cs typeface="Calibri" pitchFamily="34" charset="-120"/>
              </a:rPr>
              <a:t>Built by Fatimah Bibi</a:t>
            </a:r>
            <a:endParaRPr lang="en-US" sz="1400" dirty="0"/>
          </a:p>
        </p:txBody>
      </p:sp>
      <p:pic>
        <p:nvPicPr>
          <p:cNvPr id="9" name="build Architect / CAD Designer · £2,466" descr="Architect / CAD Designer · £2,466 BuildCores build"/>
          <p:cNvPicPr>
            <a:picLocks noChangeAspect="1"/>
          </p:cNvPicPr>
          <p:nvPr/>
        </p:nvPicPr>
        <p:blipFill>
          <a:blip r:embed="rId5"/>
          <a:stretch>
            <a:fillRect/>
          </a:stretch>
        </p:blipFill>
        <p:spPr>
          <a:xfrm>
            <a:off x="548640" y="3842841"/>
            <a:ext cx="3749040" cy="1906375"/>
          </a:xfrm>
          <a:prstGeom prst="rect">
            <a:avLst/>
          </a:prstGeom>
        </p:spPr>
      </p:pic>
      <p:sp>
        <p:nvSpPr>
          <p:cNvPr id="10" name="build frame 3"/>
          <p:cNvSpPr/>
          <p:nvPr/>
        </p:nvSpPr>
        <p:spPr>
          <a:xfrm>
            <a:off x="548640" y="3840480"/>
            <a:ext cx="3749040" cy="1911096"/>
          </a:xfrm>
          <a:prstGeom prst="rect">
            <a:avLst/>
          </a:prstGeom>
          <a:solidFill>
            <a:srgbClr val="FFFFFF">
              <a:alpha val="0"/>
            </a:srgbClr>
          </a:solidFill>
          <a:ln w="12700">
            <a:solidFill>
              <a:srgbClr val="E3E8F2"/>
            </a:solidFill>
            <a:prstDash val="solid"/>
          </a:ln>
        </p:spPr>
        <p:txBody>
          <a:bodyPr/>
          <a:lstStyle/>
          <a:p>
            <a:endParaRPr lang="en-GB"/>
          </a:p>
        </p:txBody>
      </p:sp>
      <p:sp>
        <p:nvSpPr>
          <p:cNvPr id="11" name="Text 6"/>
          <p:cNvSpPr txBox="1"/>
          <p:nvPr/>
        </p:nvSpPr>
        <p:spPr>
          <a:xfrm>
            <a:off x="548640" y="5797296"/>
            <a:ext cx="374904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Architect / CAD Designer · £2,466</a:t>
            </a:r>
            <a:endParaRPr lang="en-US" sz="1400" dirty="0"/>
          </a:p>
          <a:p>
            <a:pPr marL="0" indent="0">
              <a:buNone/>
            </a:pPr>
            <a:r>
              <a:rPr lang="en-US" sz="1300" dirty="0">
                <a:solidFill>
                  <a:srgbClr val="4A5876"/>
                </a:solidFill>
                <a:latin typeface="Calibri" pitchFamily="34" charset="0"/>
                <a:ea typeface="Calibri" pitchFamily="34" charset="-122"/>
                <a:cs typeface="Calibri" pitchFamily="34" charset="-120"/>
              </a:rPr>
              <a:t>Built by Beth Alldred and Enrique Manzano Ayala</a:t>
            </a:r>
            <a:endParaRPr lang="en-US" sz="1400" dirty="0"/>
          </a:p>
        </p:txBody>
      </p:sp>
      <p:pic>
        <p:nvPicPr>
          <p:cNvPr id="12" name="build 3D Visualisation Specialist · £3,501" descr="3D Visualisation Specialist · £3,501 BuildCores build"/>
          <p:cNvPicPr>
            <a:picLocks noChangeAspect="1"/>
          </p:cNvPicPr>
          <p:nvPr/>
        </p:nvPicPr>
        <p:blipFill>
          <a:blip r:embed="rId6"/>
          <a:stretch>
            <a:fillRect/>
          </a:stretch>
        </p:blipFill>
        <p:spPr>
          <a:xfrm>
            <a:off x="4556441" y="3840480"/>
            <a:ext cx="3688719" cy="1911096"/>
          </a:xfrm>
          <a:prstGeom prst="rect">
            <a:avLst/>
          </a:prstGeom>
        </p:spPr>
      </p:pic>
      <p:sp>
        <p:nvSpPr>
          <p:cNvPr id="13" name="build frame 4"/>
          <p:cNvSpPr/>
          <p:nvPr/>
        </p:nvSpPr>
        <p:spPr>
          <a:xfrm>
            <a:off x="4526280" y="3840480"/>
            <a:ext cx="3749040" cy="1911096"/>
          </a:xfrm>
          <a:prstGeom prst="rect">
            <a:avLst/>
          </a:prstGeom>
          <a:solidFill>
            <a:srgbClr val="FFFFFF">
              <a:alpha val="0"/>
            </a:srgbClr>
          </a:solidFill>
          <a:ln w="12700">
            <a:solidFill>
              <a:srgbClr val="E3E8F2"/>
            </a:solidFill>
            <a:prstDash val="solid"/>
          </a:ln>
        </p:spPr>
        <p:txBody>
          <a:bodyPr/>
          <a:lstStyle/>
          <a:p>
            <a:endParaRPr lang="en-GB"/>
          </a:p>
        </p:txBody>
      </p:sp>
      <p:sp>
        <p:nvSpPr>
          <p:cNvPr id="14" name="Text 8"/>
          <p:cNvSpPr txBox="1"/>
          <p:nvPr/>
        </p:nvSpPr>
        <p:spPr>
          <a:xfrm>
            <a:off x="4526280" y="5797296"/>
            <a:ext cx="374904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3D Visualisation Specialist · £3,501</a:t>
            </a:r>
            <a:endParaRPr lang="en-US" sz="1400" dirty="0"/>
          </a:p>
          <a:p>
            <a:pPr marL="0" indent="0">
              <a:buNone/>
            </a:pPr>
            <a:r>
              <a:rPr lang="en-US" sz="1300" dirty="0">
                <a:solidFill>
                  <a:srgbClr val="4A5876"/>
                </a:solidFill>
                <a:latin typeface="Calibri" pitchFamily="34" charset="0"/>
                <a:ea typeface="Calibri" pitchFamily="34" charset="-122"/>
                <a:cs typeface="Calibri" pitchFamily="34" charset="-120"/>
              </a:rPr>
              <a:t>Built by Chiamaka Eluwa</a:t>
            </a:r>
            <a:endParaRPr lang="en-US" sz="1400" dirty="0"/>
          </a:p>
        </p:txBody>
      </p:sp>
      <p:sp>
        <p:nvSpPr>
          <p:cNvPr id="15" name="proposal panel"/>
          <p:cNvSpPr/>
          <p:nvPr/>
        </p:nvSpPr>
        <p:spPr>
          <a:xfrm>
            <a:off x="8595360" y="1371600"/>
            <a:ext cx="3044952" cy="4846320"/>
          </a:xfrm>
          <a:prstGeom prst="roundRect">
            <a:avLst>
              <a:gd name="adj" fmla="val 3604"/>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6" name="Text 10"/>
          <p:cNvSpPr txBox="1"/>
          <p:nvPr/>
        </p:nvSpPr>
        <p:spPr>
          <a:xfrm>
            <a:off x="8869680" y="1645920"/>
            <a:ext cx="256032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EACH PROPOSAL SHOWS</a:t>
            </a:r>
            <a:endParaRPr lang="en-US" sz="1200" dirty="0"/>
          </a:p>
        </p:txBody>
      </p:sp>
      <p:sp>
        <p:nvSpPr>
          <p:cNvPr id="17" name="Text 11"/>
          <p:cNvSpPr txBox="1"/>
          <p:nvPr/>
        </p:nvSpPr>
        <p:spPr>
          <a:xfrm>
            <a:off x="8869680" y="2103120"/>
            <a:ext cx="2560320" cy="3200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Every part and its price</a:t>
            </a:r>
            <a:endParaRPr lang="en-US" sz="1700" dirty="0"/>
          </a:p>
        </p:txBody>
      </p:sp>
      <p:sp>
        <p:nvSpPr>
          <p:cNvPr id="18" name="Text 12"/>
          <p:cNvSpPr txBox="1"/>
          <p:nvPr/>
        </p:nvSpPr>
        <p:spPr>
          <a:xfrm>
            <a:off x="8869680" y="2468880"/>
            <a:ext cx="2560320" cy="731520"/>
          </a:xfrm>
          <a:prstGeom prst="rect">
            <a:avLst/>
          </a:prstGeom>
          <a:noFill/>
          <a:ln/>
        </p:spPr>
        <p:txBody>
          <a:bodyPr wrap="square" lIns="0" tIns="0" rIns="0" bIns="0" rtlCol="0" anchor="t"/>
          <a:lstStyle/>
          <a:p>
            <a:pPr marL="0" indent="0">
              <a:buNone/>
            </a:pPr>
            <a:r>
              <a:rPr lang="en-US" sz="1400" dirty="0">
                <a:solidFill>
                  <a:srgbClr val="C9D3EA"/>
                </a:solidFill>
                <a:latin typeface="Calibri" pitchFamily="34" charset="0"/>
                <a:ea typeface="Calibri" pitchFamily="34" charset="-122"/>
                <a:cs typeface="Calibri" pitchFamily="34" charset="-120"/>
              </a:rPr>
              <a:t>A full parts list, built on BuildCores.</a:t>
            </a:r>
            <a:endParaRPr lang="en-US" sz="1400" dirty="0"/>
          </a:p>
        </p:txBody>
      </p:sp>
      <p:sp>
        <p:nvSpPr>
          <p:cNvPr id="19" name="Text 13"/>
          <p:cNvSpPr txBox="1"/>
          <p:nvPr/>
        </p:nvSpPr>
        <p:spPr>
          <a:xfrm>
            <a:off x="8869680" y="3429000"/>
            <a:ext cx="2560320" cy="3200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Why each part was chosen</a:t>
            </a:r>
            <a:endParaRPr lang="en-US" sz="1700" dirty="0"/>
          </a:p>
        </p:txBody>
      </p:sp>
      <p:sp>
        <p:nvSpPr>
          <p:cNvPr id="20" name="Text 14"/>
          <p:cNvSpPr txBox="1"/>
          <p:nvPr/>
        </p:nvSpPr>
        <p:spPr>
          <a:xfrm>
            <a:off x="8869680" y="3794760"/>
            <a:ext cx="2560320" cy="731520"/>
          </a:xfrm>
          <a:prstGeom prst="rect">
            <a:avLst/>
          </a:prstGeom>
          <a:noFill/>
          <a:ln/>
        </p:spPr>
        <p:txBody>
          <a:bodyPr wrap="square" lIns="0" tIns="0" rIns="0" bIns="0" rtlCol="0" anchor="t"/>
          <a:lstStyle/>
          <a:p>
            <a:pPr marL="0" indent="0">
              <a:buNone/>
            </a:pPr>
            <a:r>
              <a:rPr lang="en-US" sz="1400" dirty="0">
                <a:solidFill>
                  <a:srgbClr val="C9D3EA"/>
                </a:solidFill>
                <a:latin typeface="Calibri" pitchFamily="34" charset="0"/>
                <a:ea typeface="Calibri" pitchFamily="34" charset="-122"/>
                <a:cs typeface="Calibri" pitchFamily="34" charset="-120"/>
              </a:rPr>
              <a:t>A justification for each component.</a:t>
            </a:r>
            <a:endParaRPr lang="en-US" sz="1400" dirty="0"/>
          </a:p>
        </p:txBody>
      </p:sp>
      <p:sp>
        <p:nvSpPr>
          <p:cNvPr id="21" name="Text 15"/>
          <p:cNvSpPr txBox="1"/>
          <p:nvPr/>
        </p:nvSpPr>
        <p:spPr>
          <a:xfrm>
            <a:off x="8869680" y="4754880"/>
            <a:ext cx="2560320" cy="32004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Cost against budget</a:t>
            </a:r>
            <a:endParaRPr lang="en-US" sz="1700" dirty="0"/>
          </a:p>
        </p:txBody>
      </p:sp>
      <p:sp>
        <p:nvSpPr>
          <p:cNvPr id="22" name="Text 16"/>
          <p:cNvSpPr txBox="1"/>
          <p:nvPr/>
        </p:nvSpPr>
        <p:spPr>
          <a:xfrm>
            <a:off x="8869680" y="5120640"/>
            <a:ext cx="2560320" cy="731520"/>
          </a:xfrm>
          <a:prstGeom prst="rect">
            <a:avLst/>
          </a:prstGeom>
          <a:noFill/>
          <a:ln/>
        </p:spPr>
        <p:txBody>
          <a:bodyPr wrap="square" lIns="0" tIns="0" rIns="0" bIns="0" rtlCol="0" anchor="t"/>
          <a:lstStyle/>
          <a:p>
            <a:pPr marL="0" indent="0">
              <a:buNone/>
            </a:pPr>
            <a:r>
              <a:rPr lang="en-US" sz="1400" dirty="0">
                <a:solidFill>
                  <a:srgbClr val="C9D3EA"/>
                </a:solidFill>
                <a:latin typeface="Calibri" pitchFamily="34" charset="0"/>
                <a:ea typeface="Calibri" pitchFamily="34" charset="-122"/>
                <a:cs typeface="Calibri" pitchFamily="34" charset="-120"/>
              </a:rPr>
              <a:t>The total compared with the role's budget.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Database design: four linked tables</a:t>
            </a:r>
            <a:endParaRPr lang="en-US" sz="3400" dirty="0"/>
          </a:p>
        </p:txBody>
      </p:sp>
      <p:sp>
        <p:nvSpPr>
          <p:cNvPr id="3" name="ER diagram frame"/>
          <p:cNvSpPr/>
          <p:nvPr/>
        </p:nvSpPr>
        <p:spPr>
          <a:xfrm>
            <a:off x="548640" y="1417320"/>
            <a:ext cx="4846320" cy="4800600"/>
          </a:xfrm>
          <a:prstGeom prst="roundRect">
            <a:avLst>
              <a:gd name="adj" fmla="val 190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4" name="ER diagram" descr="Entity relationship diagram: EmployeeRoles, WorkstationBuilds, BuildItems and Recommendations"/>
          <p:cNvPicPr>
            <a:picLocks noChangeAspect="1"/>
          </p:cNvPicPr>
          <p:nvPr/>
        </p:nvPicPr>
        <p:blipFill>
          <a:blip r:embed="rId3"/>
          <a:stretch>
            <a:fillRect/>
          </a:stretch>
        </p:blipFill>
        <p:spPr>
          <a:xfrm>
            <a:off x="677033" y="1527048"/>
            <a:ext cx="4589534" cy="4581144"/>
          </a:xfrm>
          <a:prstGeom prst="rect">
            <a:avLst/>
          </a:prstGeom>
        </p:spPr>
      </p:pic>
      <p:sp>
        <p:nvSpPr>
          <p:cNvPr id="5" name="table card EmployeeRoles"/>
          <p:cNvSpPr/>
          <p:nvPr/>
        </p:nvSpPr>
        <p:spPr>
          <a:xfrm>
            <a:off x="5669280" y="1417320"/>
            <a:ext cx="2907792" cy="1572768"/>
          </a:xfrm>
          <a:prstGeom prst="roundRect">
            <a:avLst>
              <a:gd name="adj" fmla="val 581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6" name="dot EmployeeRoles"/>
          <p:cNvSpPr/>
          <p:nvPr/>
        </p:nvSpPr>
        <p:spPr>
          <a:xfrm>
            <a:off x="5870448" y="1600200"/>
            <a:ext cx="182880" cy="182880"/>
          </a:xfrm>
          <a:prstGeom prst="ellipse">
            <a:avLst/>
          </a:prstGeom>
          <a:solidFill>
            <a:srgbClr val="2A9D8F"/>
          </a:solidFill>
          <a:ln w="12700">
            <a:solidFill>
              <a:srgbClr val="2A9D8F"/>
            </a:solidFill>
            <a:prstDash val="solid"/>
          </a:ln>
        </p:spPr>
        <p:txBody>
          <a:bodyPr/>
          <a:lstStyle/>
          <a:p>
            <a:endParaRPr lang="en-GB"/>
          </a:p>
        </p:txBody>
      </p:sp>
      <p:sp>
        <p:nvSpPr>
          <p:cNvPr id="7" name="Text 4"/>
          <p:cNvSpPr txBox="1"/>
          <p:nvPr/>
        </p:nvSpPr>
        <p:spPr>
          <a:xfrm>
            <a:off x="6144768" y="1536192"/>
            <a:ext cx="2331720" cy="3200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EmployeeRoles</a:t>
            </a:r>
            <a:endParaRPr lang="en-US" sz="1600" dirty="0"/>
          </a:p>
        </p:txBody>
      </p:sp>
      <p:sp>
        <p:nvSpPr>
          <p:cNvPr id="8" name="Text 5"/>
          <p:cNvSpPr txBox="1"/>
          <p:nvPr/>
        </p:nvSpPr>
        <p:spPr>
          <a:xfrm>
            <a:off x="5870448" y="1965960"/>
            <a:ext cx="256032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Each role, its headcount, tasks and budget per workstation</a:t>
            </a:r>
            <a:endParaRPr lang="en-US" sz="1400" dirty="0"/>
          </a:p>
        </p:txBody>
      </p:sp>
      <p:sp>
        <p:nvSpPr>
          <p:cNvPr id="9" name="table card WorkstationBuilds"/>
          <p:cNvSpPr/>
          <p:nvPr/>
        </p:nvSpPr>
        <p:spPr>
          <a:xfrm>
            <a:off x="8732520" y="1417320"/>
            <a:ext cx="2907792" cy="1572768"/>
          </a:xfrm>
          <a:prstGeom prst="roundRect">
            <a:avLst>
              <a:gd name="adj" fmla="val 581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0" name="dot WorkstationBuilds"/>
          <p:cNvSpPr/>
          <p:nvPr/>
        </p:nvSpPr>
        <p:spPr>
          <a:xfrm>
            <a:off x="8933688" y="1600200"/>
            <a:ext cx="182880" cy="182880"/>
          </a:xfrm>
          <a:prstGeom prst="ellipse">
            <a:avLst/>
          </a:prstGeom>
          <a:solidFill>
            <a:srgbClr val="1F3A6B"/>
          </a:solidFill>
          <a:ln w="12700">
            <a:solidFill>
              <a:srgbClr val="1F3A6B"/>
            </a:solidFill>
            <a:prstDash val="solid"/>
          </a:ln>
        </p:spPr>
        <p:txBody>
          <a:bodyPr/>
          <a:lstStyle/>
          <a:p>
            <a:endParaRPr lang="en-GB"/>
          </a:p>
        </p:txBody>
      </p:sp>
      <p:sp>
        <p:nvSpPr>
          <p:cNvPr id="11" name="Text 8"/>
          <p:cNvSpPr txBox="1"/>
          <p:nvPr/>
        </p:nvSpPr>
        <p:spPr>
          <a:xfrm>
            <a:off x="9208008" y="1536192"/>
            <a:ext cx="2331720" cy="3200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WorkstationBuilds</a:t>
            </a:r>
            <a:endParaRPr lang="en-US" sz="1600" dirty="0"/>
          </a:p>
        </p:txBody>
      </p:sp>
      <p:sp>
        <p:nvSpPr>
          <p:cNvPr id="12" name="Text 9"/>
          <p:cNvSpPr txBox="1"/>
          <p:nvPr/>
        </p:nvSpPr>
        <p:spPr>
          <a:xfrm>
            <a:off x="8933688" y="1965960"/>
            <a:ext cx="256032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Each build, linked to the role it is for</a:t>
            </a:r>
            <a:endParaRPr lang="en-US" sz="1400" dirty="0"/>
          </a:p>
        </p:txBody>
      </p:sp>
      <p:sp>
        <p:nvSpPr>
          <p:cNvPr id="13" name="table card BuildItems"/>
          <p:cNvSpPr/>
          <p:nvPr/>
        </p:nvSpPr>
        <p:spPr>
          <a:xfrm>
            <a:off x="5669280" y="3154680"/>
            <a:ext cx="2907792" cy="1572768"/>
          </a:xfrm>
          <a:prstGeom prst="roundRect">
            <a:avLst>
              <a:gd name="adj" fmla="val 581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4" name="dot BuildItems"/>
          <p:cNvSpPr/>
          <p:nvPr/>
        </p:nvSpPr>
        <p:spPr>
          <a:xfrm>
            <a:off x="5870448" y="3337560"/>
            <a:ext cx="182880" cy="182880"/>
          </a:xfrm>
          <a:prstGeom prst="ellipse">
            <a:avLst/>
          </a:prstGeom>
          <a:solidFill>
            <a:srgbClr val="C98F12"/>
          </a:solidFill>
          <a:ln w="12700">
            <a:solidFill>
              <a:srgbClr val="C98F12"/>
            </a:solidFill>
            <a:prstDash val="solid"/>
          </a:ln>
        </p:spPr>
        <p:txBody>
          <a:bodyPr/>
          <a:lstStyle/>
          <a:p>
            <a:endParaRPr lang="en-GB"/>
          </a:p>
        </p:txBody>
      </p:sp>
      <p:sp>
        <p:nvSpPr>
          <p:cNvPr id="15" name="Text 12"/>
          <p:cNvSpPr txBox="1"/>
          <p:nvPr/>
        </p:nvSpPr>
        <p:spPr>
          <a:xfrm>
            <a:off x="6144768" y="3273552"/>
            <a:ext cx="2331720" cy="3200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BuildItems</a:t>
            </a:r>
            <a:endParaRPr lang="en-US" sz="1600" dirty="0"/>
          </a:p>
        </p:txBody>
      </p:sp>
      <p:sp>
        <p:nvSpPr>
          <p:cNvPr id="16" name="Text 13"/>
          <p:cNvSpPr txBox="1"/>
          <p:nvPr/>
        </p:nvSpPr>
        <p:spPr>
          <a:xfrm>
            <a:off x="5870448" y="3703320"/>
            <a:ext cx="256032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Every component in a build, with its cost</a:t>
            </a:r>
            <a:endParaRPr lang="en-US" sz="1400" dirty="0"/>
          </a:p>
        </p:txBody>
      </p:sp>
      <p:sp>
        <p:nvSpPr>
          <p:cNvPr id="17" name="table card Recommendations"/>
          <p:cNvSpPr/>
          <p:nvPr/>
        </p:nvSpPr>
        <p:spPr>
          <a:xfrm>
            <a:off x="8732520" y="3154680"/>
            <a:ext cx="2907792" cy="1572768"/>
          </a:xfrm>
          <a:prstGeom prst="roundRect">
            <a:avLst>
              <a:gd name="adj" fmla="val 581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8" name="dot Recommendations"/>
          <p:cNvSpPr/>
          <p:nvPr/>
        </p:nvSpPr>
        <p:spPr>
          <a:xfrm>
            <a:off x="8933688" y="3337560"/>
            <a:ext cx="182880" cy="182880"/>
          </a:xfrm>
          <a:prstGeom prst="ellipse">
            <a:avLst/>
          </a:prstGeom>
          <a:solidFill>
            <a:srgbClr val="D64541"/>
          </a:solidFill>
          <a:ln w="12700">
            <a:solidFill>
              <a:srgbClr val="D64541"/>
            </a:solidFill>
            <a:prstDash val="solid"/>
          </a:ln>
        </p:spPr>
        <p:txBody>
          <a:bodyPr/>
          <a:lstStyle/>
          <a:p>
            <a:endParaRPr lang="en-GB"/>
          </a:p>
        </p:txBody>
      </p:sp>
      <p:sp>
        <p:nvSpPr>
          <p:cNvPr id="19" name="Text 16"/>
          <p:cNvSpPr txBox="1"/>
          <p:nvPr/>
        </p:nvSpPr>
        <p:spPr>
          <a:xfrm>
            <a:off x="9208008" y="3273552"/>
            <a:ext cx="2331720" cy="320040"/>
          </a:xfrm>
          <a:prstGeom prst="rect">
            <a:avLst/>
          </a:prstGeom>
          <a:noFill/>
          <a:ln/>
        </p:spPr>
        <p:txBody>
          <a:bodyPr wrap="square" lIns="0" tIns="0" rIns="0" bIns="0" rtlCol="0" anchor="ctr"/>
          <a:lstStyle/>
          <a:p>
            <a:pPr marL="0" indent="0">
              <a:buNone/>
            </a:pPr>
            <a:r>
              <a:rPr lang="en-US" sz="1600" b="1" dirty="0">
                <a:solidFill>
                  <a:schemeClr val="tx2"/>
                </a:solidFill>
                <a:latin typeface="Calibri" pitchFamily="34" charset="0"/>
                <a:ea typeface="Calibri" pitchFamily="34" charset="-122"/>
                <a:cs typeface="Calibri" pitchFamily="34" charset="-120"/>
              </a:rPr>
              <a:t>Recommendations</a:t>
            </a:r>
            <a:endParaRPr lang="en-US" sz="1600" dirty="0"/>
          </a:p>
        </p:txBody>
      </p:sp>
      <p:sp>
        <p:nvSpPr>
          <p:cNvPr id="20" name="Text 17"/>
          <p:cNvSpPr txBox="1"/>
          <p:nvPr/>
        </p:nvSpPr>
        <p:spPr>
          <a:xfrm>
            <a:off x="8933688" y="3703320"/>
            <a:ext cx="256032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Justification, compromise, approval and ethical notes</a:t>
            </a:r>
            <a:endParaRPr lang="en-US" sz="1400" dirty="0"/>
          </a:p>
        </p:txBody>
      </p:sp>
      <p:sp>
        <p:nvSpPr>
          <p:cNvPr id="21" name="data integrity"/>
          <p:cNvSpPr/>
          <p:nvPr/>
        </p:nvSpPr>
        <p:spPr>
          <a:xfrm>
            <a:off x="5669280" y="4937760"/>
            <a:ext cx="5971032" cy="1280160"/>
          </a:xfrm>
          <a:prstGeom prst="roundRect">
            <a:avLst>
              <a:gd name="adj" fmla="val 7143"/>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2" name="Text 19"/>
          <p:cNvSpPr txBox="1"/>
          <p:nvPr/>
        </p:nvSpPr>
        <p:spPr>
          <a:xfrm>
            <a:off x="5943600" y="5029200"/>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DATA INTEGRITY</a:t>
            </a:r>
            <a:endParaRPr lang="en-US" sz="1200" dirty="0"/>
          </a:p>
        </p:txBody>
      </p:sp>
      <p:sp>
        <p:nvSpPr>
          <p:cNvPr id="23" name="Text 20"/>
          <p:cNvSpPr txBox="1"/>
          <p:nvPr/>
        </p:nvSpPr>
        <p:spPr>
          <a:xfrm>
            <a:off x="5943600" y="5321808"/>
            <a:ext cx="548640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Primary keys keep every record unique. Foreign keys only link to records that exist. Suitable data types reduce invalid entries.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SQL evidence: 11 queries, all tested</a:t>
            </a:r>
            <a:endParaRPr lang="en-US" sz="3400" dirty="0"/>
          </a:p>
        </p:txBody>
      </p:sp>
      <p:grpSp>
        <p:nvGrpSpPr>
          <p:cNvPr id="29" name="Group 28">
            <a:extLst>
              <a:ext uri="{FF2B5EF4-FFF2-40B4-BE49-F238E27FC236}">
                <a16:creationId xmlns:a16="http://schemas.microsoft.com/office/drawing/2014/main" id="{87BBD78C-96F0-C67E-828D-E0E5A56F3EDA}"/>
              </a:ext>
            </a:extLst>
          </p:cNvPr>
          <p:cNvGrpSpPr/>
          <p:nvPr/>
        </p:nvGrpSpPr>
        <p:grpSpPr>
          <a:xfrm>
            <a:off x="548640" y="1417320"/>
            <a:ext cx="11109960" cy="4773168"/>
            <a:chOff x="548640" y="1417320"/>
            <a:chExt cx="8138160" cy="4773168"/>
          </a:xfrm>
        </p:grpSpPr>
        <p:sp>
          <p:nvSpPr>
            <p:cNvPr id="3" name="query card Select, filter and sort"/>
            <p:cNvSpPr/>
            <p:nvPr/>
          </p:nvSpPr>
          <p:spPr>
            <a:xfrm>
              <a:off x="548640" y="1417320"/>
              <a:ext cx="8138160" cy="1481328"/>
            </a:xfrm>
            <a:prstGeom prst="roundRect">
              <a:avLst>
                <a:gd name="adj" fmla="val 617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q pill Q1–Q4"/>
            <p:cNvSpPr/>
            <p:nvPr/>
          </p:nvSpPr>
          <p:spPr>
            <a:xfrm>
              <a:off x="749808" y="1645920"/>
              <a:ext cx="914400" cy="457200"/>
            </a:xfrm>
            <a:prstGeom prst="roundRect">
              <a:avLst>
                <a:gd name="adj" fmla="val 50000"/>
              </a:avLst>
            </a:prstGeom>
            <a:solidFill>
              <a:srgbClr val="2A9D8F"/>
            </a:solidFill>
            <a:ln w="12700">
              <a:solidFill>
                <a:srgbClr val="2A9D8F"/>
              </a:solidFill>
              <a:prstDash val="solid"/>
            </a:ln>
          </p:spPr>
          <p:txBody>
            <a:bodyPr/>
            <a:lstStyle/>
            <a:p>
              <a:endParaRPr lang="en-GB"/>
            </a:p>
          </p:txBody>
        </p:sp>
        <p:sp>
          <p:nvSpPr>
            <p:cNvPr id="5" name="Text 3"/>
            <p:cNvSpPr txBox="1"/>
            <p:nvPr/>
          </p:nvSpPr>
          <p:spPr>
            <a:xfrm>
              <a:off x="749808" y="164592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Q1–Q4</a:t>
              </a:r>
              <a:endParaRPr lang="en-US" sz="1400" dirty="0"/>
            </a:p>
          </p:txBody>
        </p:sp>
        <p:sp>
          <p:nvSpPr>
            <p:cNvPr id="6" name="Text 4"/>
            <p:cNvSpPr txBox="1"/>
            <p:nvPr/>
          </p:nvSpPr>
          <p:spPr>
            <a:xfrm>
              <a:off x="1828800" y="1508760"/>
              <a:ext cx="2926080" cy="3657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Select, filter and sort</a:t>
              </a:r>
              <a:endParaRPr lang="en-US" sz="1800" dirty="0"/>
            </a:p>
          </p:txBody>
        </p:sp>
        <p:sp>
          <p:nvSpPr>
            <p:cNvPr id="7" name="Text 5"/>
            <p:cNvSpPr txBox="1"/>
            <p:nvPr/>
          </p:nvSpPr>
          <p:spPr>
            <a:xfrm>
              <a:off x="1828800" y="1920240"/>
              <a:ext cx="283464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Roles, budgets over £1,000 and the largest teams first.</a:t>
              </a:r>
              <a:endParaRPr lang="en-US" sz="1400" dirty="0"/>
            </a:p>
          </p:txBody>
        </p:sp>
        <p:sp>
          <p:nvSpPr>
            <p:cNvPr id="8" name="code box Q1–Q4"/>
            <p:cNvSpPr/>
            <p:nvPr/>
          </p:nvSpPr>
          <p:spPr>
            <a:xfrm>
              <a:off x="4846320" y="1581912"/>
              <a:ext cx="3657600" cy="1152144"/>
            </a:xfrm>
            <a:prstGeom prst="roundRect">
              <a:avLst>
                <a:gd name="adj" fmla="val 4762"/>
              </a:avLst>
            </a:prstGeom>
            <a:solidFill>
              <a:srgbClr val="16264B"/>
            </a:solidFill>
            <a:ln w="12700">
              <a:solidFill>
                <a:srgbClr val="16264B"/>
              </a:solidFill>
              <a:prstDash val="solid"/>
            </a:ln>
          </p:spPr>
          <p:txBody>
            <a:bodyPr/>
            <a:lstStyle/>
            <a:p>
              <a:endParaRPr lang="en-GB"/>
            </a:p>
          </p:txBody>
        </p:sp>
        <p:sp>
          <p:nvSpPr>
            <p:cNvPr id="9" name="Text 7"/>
            <p:cNvSpPr txBox="1"/>
            <p:nvPr/>
          </p:nvSpPr>
          <p:spPr>
            <a:xfrm>
              <a:off x="4983480" y="1581912"/>
              <a:ext cx="3383280" cy="1152144"/>
            </a:xfrm>
            <a:prstGeom prst="rect">
              <a:avLst/>
            </a:prstGeom>
            <a:noFill/>
            <a:ln/>
          </p:spPr>
          <p:txBody>
            <a:bodyPr wrap="square" lIns="0" tIns="0" rIns="0" bIns="0" rtlCol="0" anchor="ctr"/>
            <a:lstStyle/>
            <a:p>
              <a:pPr marL="0" indent="0">
                <a:buNone/>
              </a:pPr>
              <a:r>
                <a:rPr lang="en-US" sz="1100" dirty="0">
                  <a:solidFill>
                    <a:srgbClr val="DDE5F5"/>
                  </a:solidFill>
                  <a:latin typeface="Courier New" pitchFamily="34" charset="0"/>
                  <a:ea typeface="Courier New" pitchFamily="34" charset="-122"/>
                  <a:cs typeface="Courier New" pitchFamily="34" charset="-120"/>
                </a:rPr>
                <a:t>SELECT RoleName, BudgetPerUnit FROM EmployeeRoles WHERE BudgetPerUnit &gt; 1000;</a:t>
              </a:r>
              <a:endParaRPr lang="en-US" sz="1100" dirty="0"/>
            </a:p>
          </p:txBody>
        </p:sp>
        <p:sp>
          <p:nvSpPr>
            <p:cNvPr id="10" name="query card Filter, count and total"/>
            <p:cNvSpPr/>
            <p:nvPr/>
          </p:nvSpPr>
          <p:spPr>
            <a:xfrm>
              <a:off x="548640" y="3063240"/>
              <a:ext cx="8138160" cy="1481328"/>
            </a:xfrm>
            <a:prstGeom prst="roundRect">
              <a:avLst>
                <a:gd name="adj" fmla="val 617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1" name="q pill Q5–Q8"/>
            <p:cNvSpPr/>
            <p:nvPr/>
          </p:nvSpPr>
          <p:spPr>
            <a:xfrm>
              <a:off x="749808" y="3291840"/>
              <a:ext cx="914400" cy="457200"/>
            </a:xfrm>
            <a:prstGeom prst="roundRect">
              <a:avLst>
                <a:gd name="adj" fmla="val 50000"/>
              </a:avLst>
            </a:prstGeom>
            <a:solidFill>
              <a:srgbClr val="1F3A6B"/>
            </a:solidFill>
            <a:ln w="12700">
              <a:solidFill>
                <a:srgbClr val="1F3A6B"/>
              </a:solidFill>
              <a:prstDash val="solid"/>
            </a:ln>
          </p:spPr>
          <p:txBody>
            <a:bodyPr/>
            <a:lstStyle/>
            <a:p>
              <a:endParaRPr lang="en-GB"/>
            </a:p>
          </p:txBody>
        </p:sp>
        <p:sp>
          <p:nvSpPr>
            <p:cNvPr id="12" name="Text 10"/>
            <p:cNvSpPr txBox="1"/>
            <p:nvPr/>
          </p:nvSpPr>
          <p:spPr>
            <a:xfrm>
              <a:off x="749808" y="329184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Q5–Q8</a:t>
              </a:r>
              <a:endParaRPr lang="en-US" sz="1400" dirty="0"/>
            </a:p>
          </p:txBody>
        </p:sp>
        <p:sp>
          <p:nvSpPr>
            <p:cNvPr id="13" name="Text 11"/>
            <p:cNvSpPr txBox="1"/>
            <p:nvPr/>
          </p:nvSpPr>
          <p:spPr>
            <a:xfrm>
              <a:off x="1828800" y="3154680"/>
              <a:ext cx="2926080" cy="3657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Filter, count and total</a:t>
              </a:r>
              <a:endParaRPr lang="en-US" sz="1800" dirty="0"/>
            </a:p>
          </p:txBody>
        </p:sp>
        <p:sp>
          <p:nvSpPr>
            <p:cNvPr id="14" name="Text 12"/>
            <p:cNvSpPr txBox="1"/>
            <p:nvPr/>
          </p:nvSpPr>
          <p:spPr>
            <a:xfrm>
              <a:off x="1828800" y="3566160"/>
              <a:ext cx="283464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Items in a build, item counts, and the total cost of each build.</a:t>
              </a:r>
              <a:endParaRPr lang="en-US" sz="1400" dirty="0"/>
            </a:p>
          </p:txBody>
        </p:sp>
        <p:sp>
          <p:nvSpPr>
            <p:cNvPr id="15" name="code box Q5–Q8"/>
            <p:cNvSpPr/>
            <p:nvPr/>
          </p:nvSpPr>
          <p:spPr>
            <a:xfrm>
              <a:off x="4846320" y="3227832"/>
              <a:ext cx="3657600" cy="1152144"/>
            </a:xfrm>
            <a:prstGeom prst="roundRect">
              <a:avLst>
                <a:gd name="adj" fmla="val 4762"/>
              </a:avLst>
            </a:prstGeom>
            <a:solidFill>
              <a:srgbClr val="16264B"/>
            </a:solidFill>
            <a:ln w="12700">
              <a:solidFill>
                <a:srgbClr val="16264B"/>
              </a:solidFill>
              <a:prstDash val="solid"/>
            </a:ln>
          </p:spPr>
          <p:txBody>
            <a:bodyPr/>
            <a:lstStyle/>
            <a:p>
              <a:endParaRPr lang="en-GB"/>
            </a:p>
          </p:txBody>
        </p:sp>
        <p:sp>
          <p:nvSpPr>
            <p:cNvPr id="16" name="Text 14"/>
            <p:cNvSpPr txBox="1"/>
            <p:nvPr/>
          </p:nvSpPr>
          <p:spPr>
            <a:xfrm>
              <a:off x="4983480" y="3227832"/>
              <a:ext cx="3383280" cy="1152144"/>
            </a:xfrm>
            <a:prstGeom prst="rect">
              <a:avLst/>
            </a:prstGeom>
            <a:noFill/>
            <a:ln/>
          </p:spPr>
          <p:txBody>
            <a:bodyPr wrap="square" lIns="0" tIns="0" rIns="0" bIns="0" rtlCol="0" anchor="ctr"/>
            <a:lstStyle/>
            <a:p>
              <a:pPr marL="0" indent="0">
                <a:buNone/>
              </a:pPr>
              <a:r>
                <a:rPr lang="en-US" sz="1100" dirty="0">
                  <a:solidFill>
                    <a:srgbClr val="DDE5F5"/>
                  </a:solidFill>
                  <a:latin typeface="Courier New" pitchFamily="34" charset="0"/>
                  <a:ea typeface="Courier New" pitchFamily="34" charset="-122"/>
                  <a:cs typeface="Courier New" pitchFamily="34" charset="-120"/>
                </a:rPr>
                <a:t>SELECT BuildID, SUM(Cost) AS TotalCost FROM BuildItems GROUP BY BuildID ORDER BY TotalCost DESC;</a:t>
              </a:r>
              <a:endParaRPr lang="en-US" sz="1100" dirty="0"/>
            </a:p>
          </p:txBody>
        </p:sp>
        <p:sp>
          <p:nvSpPr>
            <p:cNvPr id="17" name="query card Join the tables"/>
            <p:cNvSpPr/>
            <p:nvPr/>
          </p:nvSpPr>
          <p:spPr>
            <a:xfrm>
              <a:off x="548640" y="4709160"/>
              <a:ext cx="8138160" cy="1481328"/>
            </a:xfrm>
            <a:prstGeom prst="roundRect">
              <a:avLst>
                <a:gd name="adj" fmla="val 617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8" name="q pill Q9–Q11"/>
            <p:cNvSpPr/>
            <p:nvPr/>
          </p:nvSpPr>
          <p:spPr>
            <a:xfrm>
              <a:off x="749808" y="4937760"/>
              <a:ext cx="914400" cy="457200"/>
            </a:xfrm>
            <a:prstGeom prst="roundRect">
              <a:avLst>
                <a:gd name="adj" fmla="val 50000"/>
              </a:avLst>
            </a:prstGeom>
            <a:solidFill>
              <a:srgbClr val="D64541"/>
            </a:solidFill>
            <a:ln w="12700">
              <a:solidFill>
                <a:srgbClr val="D64541"/>
              </a:solidFill>
              <a:prstDash val="solid"/>
            </a:ln>
          </p:spPr>
          <p:txBody>
            <a:bodyPr/>
            <a:lstStyle/>
            <a:p>
              <a:endParaRPr lang="en-GB"/>
            </a:p>
          </p:txBody>
        </p:sp>
        <p:sp>
          <p:nvSpPr>
            <p:cNvPr id="19" name="Text 17"/>
            <p:cNvSpPr txBox="1"/>
            <p:nvPr/>
          </p:nvSpPr>
          <p:spPr>
            <a:xfrm>
              <a:off x="749808" y="493776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Q9–Q11</a:t>
              </a:r>
              <a:endParaRPr lang="en-US" sz="1400" dirty="0"/>
            </a:p>
          </p:txBody>
        </p:sp>
        <p:sp>
          <p:nvSpPr>
            <p:cNvPr id="20" name="Text 18"/>
            <p:cNvSpPr txBox="1"/>
            <p:nvPr/>
          </p:nvSpPr>
          <p:spPr>
            <a:xfrm>
              <a:off x="1828800" y="4800600"/>
              <a:ext cx="2926080" cy="36576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Join the tables</a:t>
              </a:r>
              <a:endParaRPr lang="en-US" sz="1800" dirty="0"/>
            </a:p>
          </p:txBody>
        </p:sp>
        <p:sp>
          <p:nvSpPr>
            <p:cNvPr id="21" name="Text 19"/>
            <p:cNvSpPr txBox="1"/>
            <p:nvPr/>
          </p:nvSpPr>
          <p:spPr>
            <a:xfrm>
              <a:off x="1828800" y="5212080"/>
              <a:ext cx="283464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Builds with their roles, items with their builds, and spend per role.</a:t>
              </a:r>
              <a:endParaRPr lang="en-US" sz="1400" dirty="0"/>
            </a:p>
          </p:txBody>
        </p:sp>
        <p:sp>
          <p:nvSpPr>
            <p:cNvPr id="22" name="code box Q9–Q11"/>
            <p:cNvSpPr/>
            <p:nvPr/>
          </p:nvSpPr>
          <p:spPr>
            <a:xfrm>
              <a:off x="4846320" y="4873752"/>
              <a:ext cx="3657600" cy="1152144"/>
            </a:xfrm>
            <a:prstGeom prst="roundRect">
              <a:avLst>
                <a:gd name="adj" fmla="val 4762"/>
              </a:avLst>
            </a:prstGeom>
            <a:solidFill>
              <a:srgbClr val="16264B"/>
            </a:solidFill>
            <a:ln w="12700">
              <a:solidFill>
                <a:srgbClr val="16264B"/>
              </a:solidFill>
              <a:prstDash val="solid"/>
            </a:ln>
          </p:spPr>
          <p:txBody>
            <a:bodyPr/>
            <a:lstStyle/>
            <a:p>
              <a:endParaRPr lang="en-GB"/>
            </a:p>
          </p:txBody>
        </p:sp>
        <p:sp>
          <p:nvSpPr>
            <p:cNvPr id="23" name="Text 21"/>
            <p:cNvSpPr txBox="1"/>
            <p:nvPr/>
          </p:nvSpPr>
          <p:spPr>
            <a:xfrm>
              <a:off x="4983480" y="4873752"/>
              <a:ext cx="3383280" cy="1152144"/>
            </a:xfrm>
            <a:prstGeom prst="rect">
              <a:avLst/>
            </a:prstGeom>
            <a:noFill/>
            <a:ln/>
          </p:spPr>
          <p:txBody>
            <a:bodyPr wrap="square" lIns="0" tIns="0" rIns="0" bIns="0" rtlCol="0" anchor="ctr"/>
            <a:lstStyle/>
            <a:p>
              <a:pPr marL="0" indent="0">
                <a:buNone/>
              </a:pPr>
              <a:r>
                <a:rPr lang="en-US" sz="1100" dirty="0">
                  <a:solidFill>
                    <a:srgbClr val="DDE5F5"/>
                  </a:solidFill>
                  <a:latin typeface="Courier New" pitchFamily="34" charset="0"/>
                  <a:ea typeface="Courier New" pitchFamily="34" charset="-122"/>
                  <a:cs typeface="Courier New" pitchFamily="34" charset="-120"/>
                </a:rPr>
                <a:t>SELECT RoleName, SUM(Cost) AS TotalSpend FROM EmployeeRoles JOIN WorkstationBuilds … JOIN BuildItems … GROUP BY RoleName;</a:t>
              </a:r>
              <a:endParaRPr lang="en-US" sz="1100" dirty="0"/>
            </a:p>
          </p:txBody>
        </p:sp>
      </p:grpSp>
      <p:sp>
        <p:nvSpPr>
          <p:cNvPr id="2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Final review: 12 workstations, within budget</a:t>
            </a:r>
            <a:endParaRPr lang="en-US" sz="3400" dirty="0"/>
          </a:p>
        </p:txBody>
      </p:sp>
      <p:sp>
        <p:nvSpPr>
          <p:cNvPr id="3" name="stat workstations proposed"/>
          <p:cNvSpPr/>
          <p:nvPr/>
        </p:nvSpPr>
        <p:spPr>
          <a:xfrm>
            <a:off x="548640" y="1417320"/>
            <a:ext cx="2578608" cy="1554480"/>
          </a:xfrm>
          <a:prstGeom prst="roundRect">
            <a:avLst>
              <a:gd name="adj" fmla="val 5882"/>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4" name="Text 2"/>
          <p:cNvSpPr txBox="1"/>
          <p:nvPr/>
        </p:nvSpPr>
        <p:spPr>
          <a:xfrm>
            <a:off x="685800" y="1527048"/>
            <a:ext cx="2304288" cy="854964"/>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12</a:t>
            </a:r>
            <a:endParaRPr lang="en-US" sz="3400" dirty="0"/>
          </a:p>
        </p:txBody>
      </p:sp>
      <p:sp>
        <p:nvSpPr>
          <p:cNvPr id="5" name="Text 3"/>
          <p:cNvSpPr txBox="1"/>
          <p:nvPr/>
        </p:nvSpPr>
        <p:spPr>
          <a:xfrm>
            <a:off x="685800" y="2381098"/>
            <a:ext cx="2304288" cy="466344"/>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workstations proposed</a:t>
            </a:r>
            <a:endParaRPr lang="en-US" sz="1400" dirty="0"/>
          </a:p>
        </p:txBody>
      </p:sp>
      <p:sp>
        <p:nvSpPr>
          <p:cNvPr id="6" name="stat total hardware cost"/>
          <p:cNvSpPr/>
          <p:nvPr/>
        </p:nvSpPr>
        <p:spPr>
          <a:xfrm>
            <a:off x="3386023" y="1417320"/>
            <a:ext cx="2578608" cy="1554480"/>
          </a:xfrm>
          <a:prstGeom prst="roundRect">
            <a:avLst>
              <a:gd name="adj" fmla="val 5882"/>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7" name="Text 5"/>
          <p:cNvSpPr txBox="1"/>
          <p:nvPr/>
        </p:nvSpPr>
        <p:spPr>
          <a:xfrm>
            <a:off x="3523183" y="1527048"/>
            <a:ext cx="2304288" cy="854964"/>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£23,666.80</a:t>
            </a:r>
            <a:endParaRPr lang="en-US" sz="3400" dirty="0"/>
          </a:p>
        </p:txBody>
      </p:sp>
      <p:sp>
        <p:nvSpPr>
          <p:cNvPr id="8" name="Text 6"/>
          <p:cNvSpPr txBox="1"/>
          <p:nvPr/>
        </p:nvSpPr>
        <p:spPr>
          <a:xfrm>
            <a:off x="3523183" y="2381098"/>
            <a:ext cx="2304288" cy="466344"/>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total hardware cost</a:t>
            </a:r>
            <a:endParaRPr lang="en-US" sz="1400" dirty="0"/>
          </a:p>
        </p:txBody>
      </p:sp>
      <p:sp>
        <p:nvSpPr>
          <p:cNvPr id="9" name="stat hardware budget"/>
          <p:cNvSpPr/>
          <p:nvPr/>
        </p:nvSpPr>
        <p:spPr>
          <a:xfrm>
            <a:off x="6223406" y="1417320"/>
            <a:ext cx="2578608" cy="1554480"/>
          </a:xfrm>
          <a:prstGeom prst="roundRect">
            <a:avLst>
              <a:gd name="adj" fmla="val 5882"/>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0" name="Text 8"/>
          <p:cNvSpPr txBox="1"/>
          <p:nvPr/>
        </p:nvSpPr>
        <p:spPr>
          <a:xfrm>
            <a:off x="6360566" y="1527048"/>
            <a:ext cx="2304288" cy="854964"/>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£25,450</a:t>
            </a:r>
            <a:endParaRPr lang="en-US" sz="3400" dirty="0"/>
          </a:p>
        </p:txBody>
      </p:sp>
      <p:sp>
        <p:nvSpPr>
          <p:cNvPr id="11" name="Text 9"/>
          <p:cNvSpPr txBox="1"/>
          <p:nvPr/>
        </p:nvSpPr>
        <p:spPr>
          <a:xfrm>
            <a:off x="6360566" y="2381098"/>
            <a:ext cx="2304288" cy="466344"/>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hardware budget</a:t>
            </a:r>
            <a:endParaRPr lang="en-US" sz="1400" dirty="0"/>
          </a:p>
        </p:txBody>
      </p:sp>
      <p:sp>
        <p:nvSpPr>
          <p:cNvPr id="12" name="stat left in the budget"/>
          <p:cNvSpPr/>
          <p:nvPr/>
        </p:nvSpPr>
        <p:spPr>
          <a:xfrm>
            <a:off x="9060790" y="1417320"/>
            <a:ext cx="2578608" cy="1554480"/>
          </a:xfrm>
          <a:prstGeom prst="roundRect">
            <a:avLst>
              <a:gd name="adj" fmla="val 5882"/>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3" name="Text 11"/>
          <p:cNvSpPr txBox="1"/>
          <p:nvPr/>
        </p:nvSpPr>
        <p:spPr>
          <a:xfrm>
            <a:off x="9197950" y="1527048"/>
            <a:ext cx="2304288" cy="854964"/>
          </a:xfrm>
          <a:prstGeom prst="rect">
            <a:avLst/>
          </a:prstGeom>
          <a:noFill/>
          <a:ln/>
        </p:spPr>
        <p:txBody>
          <a:bodyPr wrap="square" lIns="0" tIns="0" rIns="0" bIns="0" rtlCol="0" anchor="ctr"/>
          <a:lstStyle/>
          <a:p>
            <a:pPr marL="0" indent="0" algn="ctr">
              <a:buNone/>
            </a:pPr>
            <a:r>
              <a:rPr lang="en-US" sz="3400" b="1" dirty="0">
                <a:solidFill>
                  <a:srgbClr val="7FD6CB"/>
                </a:solidFill>
                <a:latin typeface="Cambria" pitchFamily="34" charset="0"/>
                <a:ea typeface="Cambria" pitchFamily="34" charset="-122"/>
                <a:cs typeface="Cambria" pitchFamily="34" charset="-120"/>
              </a:rPr>
              <a:t>£1,783.20</a:t>
            </a:r>
            <a:endParaRPr lang="en-US" sz="3400" dirty="0"/>
          </a:p>
        </p:txBody>
      </p:sp>
      <p:sp>
        <p:nvSpPr>
          <p:cNvPr id="14" name="Text 12"/>
          <p:cNvSpPr txBox="1"/>
          <p:nvPr/>
        </p:nvSpPr>
        <p:spPr>
          <a:xfrm>
            <a:off x="9197950" y="2381098"/>
            <a:ext cx="2304288" cy="466344"/>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left in the budget</a:t>
            </a:r>
            <a:endParaRPr lang="en-US" sz="1400" dirty="0"/>
          </a:p>
        </p:txBody>
      </p:sp>
      <p:sp>
        <p:nvSpPr>
          <p:cNvPr id="18" name="review points card"/>
          <p:cNvSpPr/>
          <p:nvPr/>
        </p:nvSpPr>
        <p:spPr>
          <a:xfrm>
            <a:off x="3379622" y="3284830"/>
            <a:ext cx="5422392" cy="2971800"/>
          </a:xfrm>
          <a:prstGeom prst="roundRect">
            <a:avLst>
              <a:gd name="adj" fmla="val 3077"/>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dirty="0"/>
          </a:p>
        </p:txBody>
      </p:sp>
      <p:sp>
        <p:nvSpPr>
          <p:cNvPr id="19" name="Text 16"/>
          <p:cNvSpPr txBox="1"/>
          <p:nvPr/>
        </p:nvSpPr>
        <p:spPr>
          <a:xfrm>
            <a:off x="3653942" y="3440278"/>
            <a:ext cx="493776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What the final review covers</a:t>
            </a:r>
            <a:endParaRPr lang="en-US" sz="1900" dirty="0"/>
          </a:p>
        </p:txBody>
      </p:sp>
      <p:sp>
        <p:nvSpPr>
          <p:cNvPr id="20" name="Text 17"/>
          <p:cNvSpPr txBox="1"/>
          <p:nvPr/>
        </p:nvSpPr>
        <p:spPr>
          <a:xfrm>
            <a:off x="3653942" y="3924910"/>
            <a:ext cx="493776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The five proposals reviewed together as one plan</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Total cost checked against the budget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Professional and ethical notes recorded for every role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Team contribution record kept in the repository</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ckdrop circle"/>
          <p:cNvSpPr/>
          <p:nvPr/>
        </p:nvSpPr>
        <p:spPr>
          <a:xfrm>
            <a:off x="7498080" y="822960"/>
            <a:ext cx="4754880" cy="4754880"/>
          </a:xfrm>
          <a:prstGeom prst="ellipse">
            <a:avLst/>
          </a:prstGeom>
          <a:solidFill>
            <a:schemeClr val="accent4">
              <a:alpha val="45000"/>
            </a:schemeClr>
          </a:solidFill>
          <a:ln w="12700">
            <a:solidFill>
              <a:schemeClr val="accent4"/>
            </a:solidFill>
            <a:prstDash val="solid"/>
          </a:ln>
        </p:spPr>
        <p:txBody>
          <a:bodyPr/>
          <a:lstStyle/>
          <a:p>
            <a:endParaRPr lang="en-GB"/>
          </a:p>
        </p:txBody>
      </p:sp>
      <p:sp>
        <p:nvSpPr>
          <p:cNvPr id="3" name="divider circle"/>
          <p:cNvSpPr/>
          <p:nvPr/>
        </p:nvSpPr>
        <p:spPr>
          <a:xfrm>
            <a:off x="8229600" y="1554480"/>
            <a:ext cx="3291840" cy="3291840"/>
          </a:xfrm>
          <a:prstGeom prst="ellipse">
            <a:avLst/>
          </a:prstGeom>
          <a:solidFill>
            <a:schemeClr val="accent2"/>
          </a:solidFill>
          <a:ln w="50800">
            <a:solidFill>
              <a:schemeClr val="tx2"/>
            </a:solidFill>
            <a:prstDash val="solid"/>
          </a:ln>
        </p:spPr>
        <p:txBody>
          <a:bodyPr/>
          <a:lstStyle/>
          <a:p>
            <a:endParaRPr lang="en-GB"/>
          </a:p>
        </p:txBody>
      </p:sp>
      <p:pic>
        <p:nvPicPr>
          <p:cNvPr id="4" name="divider icon" descr="Software Engineering"/>
          <p:cNvPicPr>
            <a:picLocks noChangeAspect="1"/>
          </p:cNvPicPr>
          <p:nvPr/>
        </p:nvPicPr>
        <p:blipFill>
          <a:blip r:embed="rId3"/>
          <a:stretch>
            <a:fillRect/>
          </a:stretch>
        </p:blipFill>
        <p:spPr>
          <a:xfrm>
            <a:off x="9189720" y="2514600"/>
            <a:ext cx="1371600" cy="1371600"/>
          </a:xfrm>
          <a:prstGeom prst="rect">
            <a:avLst/>
          </a:prstGeom>
        </p:spPr>
      </p:pic>
      <p:sp>
        <p:nvSpPr>
          <p:cNvPr id="5" name="Text 2"/>
          <p:cNvSpPr txBox="1"/>
          <p:nvPr/>
        </p:nvSpPr>
        <p:spPr>
          <a:xfrm>
            <a:off x="822960" y="1188720"/>
            <a:ext cx="548640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MP2</a:t>
            </a:r>
            <a:endParaRPr lang="en-US" sz="8800" dirty="0"/>
          </a:p>
        </p:txBody>
      </p:sp>
      <p:sp>
        <p:nvSpPr>
          <p:cNvPr id="6" name="Text 3"/>
          <p:cNvSpPr txBox="1"/>
          <p:nvPr/>
        </p:nvSpPr>
        <p:spPr>
          <a:xfrm>
            <a:off x="822960" y="2514600"/>
            <a:ext cx="676656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Software Engineering</a:t>
            </a:r>
            <a:endParaRPr lang="en-US" sz="4400" dirty="0"/>
          </a:p>
        </p:txBody>
      </p:sp>
      <p:sp>
        <p:nvSpPr>
          <p:cNvPr id="7" name="Text 4"/>
          <p:cNvSpPr txBox="1"/>
          <p:nvPr/>
        </p:nvSpPr>
        <p:spPr>
          <a:xfrm>
            <a:off x="822960" y="3337560"/>
            <a:ext cx="6766560" cy="457200"/>
          </a:xfrm>
          <a:prstGeom prst="rect">
            <a:avLst/>
          </a:prstGeom>
          <a:noFill/>
          <a:ln/>
        </p:spPr>
        <p:txBody>
          <a:bodyPr wrap="square" lIns="0" tIns="0" rIns="0" bIns="0" rtlCol="0" anchor="t"/>
          <a:lstStyle/>
          <a:p>
            <a:pPr marL="0" indent="0">
              <a:buNone/>
            </a:pPr>
            <a:r>
              <a:rPr lang="en-US" sz="2100" i="1" dirty="0">
                <a:solidFill>
                  <a:srgbClr val="C9D3EA"/>
                </a:solidFill>
                <a:latin typeface="Calibri" pitchFamily="34" charset="0"/>
                <a:ea typeface="Calibri" pitchFamily="34" charset="-122"/>
                <a:cs typeface="Calibri" pitchFamily="34" charset="-120"/>
              </a:rPr>
              <a:t>Pennine Pizza Works ordering system</a:t>
            </a:r>
            <a:endParaRPr lang="en-US" sz="2100" dirty="0"/>
          </a:p>
        </p:txBody>
      </p:sp>
      <p:sp>
        <p:nvSpPr>
          <p:cNvPr id="8" name="Text 5"/>
          <p:cNvSpPr txBox="1"/>
          <p:nvPr/>
        </p:nvSpPr>
        <p:spPr>
          <a:xfrm>
            <a:off x="822960" y="4343400"/>
            <a:ext cx="4572000" cy="274320"/>
          </a:xfrm>
          <a:prstGeom prst="rect">
            <a:avLst/>
          </a:prstGeom>
          <a:noFill/>
          <a:ln/>
        </p:spPr>
        <p:txBody>
          <a:bodyPr wrap="square" lIns="0" tIns="0" rIns="0" bIns="0" rtlCol="0" anchor="t"/>
          <a:lstStyle/>
          <a:p>
            <a:pPr marL="0" indent="0">
              <a:buNone/>
            </a:pPr>
            <a:r>
              <a:rPr lang="en-US" sz="1300" b="1" kern="0" spc="300" dirty="0">
                <a:solidFill>
                  <a:schemeClr val="accent2"/>
                </a:solidFill>
                <a:latin typeface="Calibri" pitchFamily="34" charset="0"/>
                <a:ea typeface="Calibri" pitchFamily="34" charset="-122"/>
                <a:cs typeface="Calibri" pitchFamily="34" charset="-120"/>
              </a:rPr>
              <a:t>PRESENTED BY</a:t>
            </a:r>
            <a:endParaRPr lang="en-US" sz="1300" dirty="0"/>
          </a:p>
        </p:txBody>
      </p:sp>
      <p:sp>
        <p:nvSpPr>
          <p:cNvPr id="9" name="Text 6"/>
          <p:cNvSpPr txBox="1"/>
          <p:nvPr/>
        </p:nvSpPr>
        <p:spPr>
          <a:xfrm>
            <a:off x="822960" y="4663440"/>
            <a:ext cx="6766560" cy="594360"/>
          </a:xfrm>
          <a:prstGeom prst="rect">
            <a:avLst/>
          </a:prstGeom>
          <a:noFill/>
          <a:ln/>
        </p:spPr>
        <p:txBody>
          <a:bodyPr wrap="square" lIns="0" tIns="0" rIns="0" bIns="0" rtlCol="0" anchor="ctr"/>
          <a:lstStyle/>
          <a:p>
            <a:pPr marL="0" indent="0">
              <a:buNone/>
            </a:pPr>
            <a:r>
              <a:rPr lang="en-US" sz="3000" b="1" dirty="0">
                <a:solidFill>
                  <a:schemeClr val="bg1"/>
                </a:solidFill>
                <a:latin typeface="Cambria" pitchFamily="34" charset="0"/>
                <a:ea typeface="Cambria" pitchFamily="34" charset="-122"/>
                <a:cs typeface="Cambria" pitchFamily="34" charset="-120"/>
              </a:rPr>
              <a:t>Chiamaka Eluwa</a:t>
            </a:r>
            <a:endParaRPr lang="en-US" sz="3000" dirty="0"/>
          </a:p>
        </p:txBody>
      </p:sp>
      <p:sp>
        <p:nvSpPr>
          <p:cNvPr id="10" name="progress 1"/>
          <p:cNvSpPr/>
          <p:nvPr/>
        </p:nvSpPr>
        <p:spPr>
          <a:xfrm>
            <a:off x="822960"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1" name="Text 8"/>
          <p:cNvSpPr txBox="1"/>
          <p:nvPr/>
        </p:nvSpPr>
        <p:spPr>
          <a:xfrm>
            <a:off x="822960"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1</a:t>
            </a:r>
            <a:endParaRPr lang="en-US" sz="1400" dirty="0"/>
          </a:p>
        </p:txBody>
      </p:sp>
      <p:sp>
        <p:nvSpPr>
          <p:cNvPr id="12" name="progress 2"/>
          <p:cNvSpPr/>
          <p:nvPr/>
        </p:nvSpPr>
        <p:spPr>
          <a:xfrm>
            <a:off x="1389888" y="5806440"/>
            <a:ext cx="411480" cy="411480"/>
          </a:xfrm>
          <a:prstGeom prst="ellipse">
            <a:avLst/>
          </a:prstGeom>
          <a:solidFill>
            <a:schemeClr val="accent2"/>
          </a:solidFill>
          <a:ln w="12700">
            <a:solidFill>
              <a:schemeClr val="accent2"/>
            </a:solidFill>
            <a:prstDash val="solid"/>
          </a:ln>
        </p:spPr>
        <p:txBody>
          <a:bodyPr/>
          <a:lstStyle/>
          <a:p>
            <a:endParaRPr lang="en-GB"/>
          </a:p>
        </p:txBody>
      </p:sp>
      <p:sp>
        <p:nvSpPr>
          <p:cNvPr id="13" name="Text 10"/>
          <p:cNvSpPr txBox="1"/>
          <p:nvPr/>
        </p:nvSpPr>
        <p:spPr>
          <a:xfrm>
            <a:off x="1389888" y="5806440"/>
            <a:ext cx="411480" cy="41148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2</a:t>
            </a:r>
            <a:endParaRPr lang="en-US" sz="1400" dirty="0"/>
          </a:p>
        </p:txBody>
      </p:sp>
      <p:sp>
        <p:nvSpPr>
          <p:cNvPr id="14" name="progress 3"/>
          <p:cNvSpPr/>
          <p:nvPr/>
        </p:nvSpPr>
        <p:spPr>
          <a:xfrm>
            <a:off x="1956816"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5" name="Text 12"/>
          <p:cNvSpPr txBox="1"/>
          <p:nvPr/>
        </p:nvSpPr>
        <p:spPr>
          <a:xfrm>
            <a:off x="1956816"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3</a:t>
            </a:r>
            <a:endParaRPr lang="en-US" sz="1400" dirty="0"/>
          </a:p>
        </p:txBody>
      </p:sp>
      <p:sp>
        <p:nvSpPr>
          <p:cNvPr id="16" name="progress 4"/>
          <p:cNvSpPr/>
          <p:nvPr/>
        </p:nvSpPr>
        <p:spPr>
          <a:xfrm>
            <a:off x="2523744"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7" name="Text 14"/>
          <p:cNvSpPr txBox="1"/>
          <p:nvPr/>
        </p:nvSpPr>
        <p:spPr>
          <a:xfrm>
            <a:off x="2523744"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problem: pizza orders done by hand</a:t>
            </a:r>
            <a:endParaRPr lang="en-US" sz="3400" dirty="0"/>
          </a:p>
        </p:txBody>
      </p:sp>
      <p:sp>
        <p:nvSpPr>
          <p:cNvPr id="3" name="problem icon circle 1"/>
          <p:cNvSpPr/>
          <p:nvPr/>
        </p:nvSpPr>
        <p:spPr>
          <a:xfrm>
            <a:off x="548640" y="1417320"/>
            <a:ext cx="777240" cy="777240"/>
          </a:xfrm>
          <a:prstGeom prst="ellipse">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4" name="problem icon 1" descr="Orders arrive by phone and at the counter"/>
          <p:cNvPicPr>
            <a:picLocks noChangeAspect="1"/>
          </p:cNvPicPr>
          <p:nvPr/>
        </p:nvPicPr>
        <p:blipFill>
          <a:blip r:embed="rId3"/>
          <a:stretch>
            <a:fillRect/>
          </a:stretch>
        </p:blipFill>
        <p:spPr>
          <a:xfrm>
            <a:off x="749808" y="1618488"/>
            <a:ext cx="374904" cy="374904"/>
          </a:xfrm>
          <a:prstGeom prst="rect">
            <a:avLst/>
          </a:prstGeom>
        </p:spPr>
      </p:pic>
      <p:sp>
        <p:nvSpPr>
          <p:cNvPr id="5" name="Text 2"/>
          <p:cNvSpPr txBox="1"/>
          <p:nvPr/>
        </p:nvSpPr>
        <p:spPr>
          <a:xfrm>
            <a:off x="1600200" y="1399032"/>
            <a:ext cx="512064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Orders arrive by phone and at the counter</a:t>
            </a:r>
            <a:endParaRPr lang="en-US" sz="1900" dirty="0"/>
          </a:p>
        </p:txBody>
      </p:sp>
      <p:sp>
        <p:nvSpPr>
          <p:cNvPr id="6" name="Text 3"/>
          <p:cNvSpPr txBox="1"/>
          <p:nvPr/>
        </p:nvSpPr>
        <p:spPr>
          <a:xfrm>
            <a:off x="1600200" y="1783080"/>
            <a:ext cx="5120640" cy="6400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Staff write each order down on paper.</a:t>
            </a:r>
            <a:endParaRPr lang="en-US" sz="1500" dirty="0"/>
          </a:p>
        </p:txBody>
      </p:sp>
      <p:sp>
        <p:nvSpPr>
          <p:cNvPr id="7" name="problem icon circle 2"/>
          <p:cNvSpPr/>
          <p:nvPr/>
        </p:nvSpPr>
        <p:spPr>
          <a:xfrm>
            <a:off x="548640" y="2560320"/>
            <a:ext cx="777240" cy="777240"/>
          </a:xfrm>
          <a:prstGeom prst="ellipse">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8" name="problem icon 2" descr="Totals are worked out on a calculator"/>
          <p:cNvPicPr>
            <a:picLocks noChangeAspect="1"/>
          </p:cNvPicPr>
          <p:nvPr/>
        </p:nvPicPr>
        <p:blipFill>
          <a:blip r:embed="rId4"/>
          <a:stretch>
            <a:fillRect/>
          </a:stretch>
        </p:blipFill>
        <p:spPr>
          <a:xfrm>
            <a:off x="749808" y="2761488"/>
            <a:ext cx="374904" cy="374904"/>
          </a:xfrm>
          <a:prstGeom prst="rect">
            <a:avLst/>
          </a:prstGeom>
        </p:spPr>
      </p:pic>
      <p:sp>
        <p:nvSpPr>
          <p:cNvPr id="9" name="Text 5"/>
          <p:cNvSpPr txBox="1"/>
          <p:nvPr/>
        </p:nvSpPr>
        <p:spPr>
          <a:xfrm>
            <a:off x="1600200" y="2542032"/>
            <a:ext cx="512064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Totals are worked out on a calculator</a:t>
            </a:r>
            <a:endParaRPr lang="en-US" sz="1900" dirty="0"/>
          </a:p>
        </p:txBody>
      </p:sp>
      <p:sp>
        <p:nvSpPr>
          <p:cNvPr id="10" name="Text 6"/>
          <p:cNvSpPr txBox="1"/>
          <p:nvPr/>
        </p:nvSpPr>
        <p:spPr>
          <a:xfrm>
            <a:off x="1600200" y="2926080"/>
            <a:ext cx="5120640" cy="6400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Several pizzas, extra toppings, a discount and delivery all change the price.</a:t>
            </a:r>
            <a:endParaRPr lang="en-US" sz="1500" dirty="0"/>
          </a:p>
        </p:txBody>
      </p:sp>
      <p:sp>
        <p:nvSpPr>
          <p:cNvPr id="11" name="problem icon circle 3"/>
          <p:cNvSpPr/>
          <p:nvPr/>
        </p:nvSpPr>
        <p:spPr>
          <a:xfrm>
            <a:off x="548640" y="3703320"/>
            <a:ext cx="777240" cy="777240"/>
          </a:xfrm>
          <a:prstGeom prst="ellipse">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12" name="problem icon 3" descr="Mistakes are easy to make"/>
          <p:cNvPicPr>
            <a:picLocks noChangeAspect="1"/>
          </p:cNvPicPr>
          <p:nvPr/>
        </p:nvPicPr>
        <p:blipFill>
          <a:blip r:embed="rId5"/>
          <a:stretch>
            <a:fillRect/>
          </a:stretch>
        </p:blipFill>
        <p:spPr>
          <a:xfrm>
            <a:off x="749808" y="3904488"/>
            <a:ext cx="374904" cy="374904"/>
          </a:xfrm>
          <a:prstGeom prst="rect">
            <a:avLst/>
          </a:prstGeom>
        </p:spPr>
      </p:pic>
      <p:sp>
        <p:nvSpPr>
          <p:cNvPr id="13" name="Text 8"/>
          <p:cNvSpPr txBox="1"/>
          <p:nvPr/>
        </p:nvSpPr>
        <p:spPr>
          <a:xfrm>
            <a:off x="1600200" y="3685032"/>
            <a:ext cx="512064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Mistakes are easy to make</a:t>
            </a:r>
            <a:endParaRPr lang="en-US" sz="1900" dirty="0"/>
          </a:p>
        </p:txBody>
      </p:sp>
      <p:sp>
        <p:nvSpPr>
          <p:cNvPr id="14" name="Text 9"/>
          <p:cNvSpPr txBox="1"/>
          <p:nvPr/>
        </p:nvSpPr>
        <p:spPr>
          <a:xfrm>
            <a:off x="1600200" y="4069080"/>
            <a:ext cx="5120640" cy="6400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client needs a simple system that calculates accurately.</a:t>
            </a:r>
            <a:endParaRPr lang="en-US" sz="1500" dirty="0"/>
          </a:p>
        </p:txBody>
      </p:sp>
      <p:sp>
        <p:nvSpPr>
          <p:cNvPr id="15" name="challenge card"/>
          <p:cNvSpPr/>
          <p:nvPr/>
        </p:nvSpPr>
        <p:spPr>
          <a:xfrm>
            <a:off x="548640" y="4937760"/>
            <a:ext cx="6172200" cy="1280160"/>
          </a:xfrm>
          <a:prstGeom prst="roundRect">
            <a:avLst>
              <a:gd name="adj" fmla="val 7143"/>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6" name="Text 11"/>
          <p:cNvSpPr txBox="1"/>
          <p:nvPr/>
        </p:nvSpPr>
        <p:spPr>
          <a:xfrm>
            <a:off x="777240" y="5047488"/>
            <a:ext cx="576072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AUDIENCE CHALLENGE</a:t>
            </a:r>
            <a:endParaRPr lang="en-US" sz="1200" dirty="0"/>
          </a:p>
        </p:txBody>
      </p:sp>
      <p:sp>
        <p:nvSpPr>
          <p:cNvPr id="17" name="Text 12"/>
          <p:cNvSpPr txBox="1"/>
          <p:nvPr/>
        </p:nvSpPr>
        <p:spPr>
          <a:xfrm>
            <a:off x="777240" y="5349240"/>
            <a:ext cx="5760720" cy="822960"/>
          </a:xfrm>
          <a:prstGeom prst="rect">
            <a:avLst/>
          </a:prstGeom>
          <a:noFill/>
          <a:ln/>
        </p:spPr>
        <p:txBody>
          <a:bodyPr wrap="square" lIns="0" tIns="0" rIns="0" bIns="0" rtlCol="0" anchor="t"/>
          <a:lstStyle/>
          <a:p>
            <a:pPr marL="0" indent="0">
              <a:buNone/>
            </a:pPr>
            <a:r>
              <a:rPr lang="en-US" sz="1500" dirty="0">
                <a:solidFill>
                  <a:schemeClr val="bg1"/>
                </a:solidFill>
                <a:latin typeface="Calibri" pitchFamily="34" charset="0"/>
                <a:ea typeface="Calibri" pitchFamily="34" charset="-122"/>
                <a:cs typeface="Calibri" pitchFamily="34" charset="-120"/>
              </a:rPr>
              <a:t>Total this in your head: Large + 3 toppings, Large + 2 toppings, Medium + 1 topping, with delivery. The answer is on the demo slide.</a:t>
            </a:r>
            <a:endParaRPr lang="en-US" sz="1500" dirty="0"/>
          </a:p>
        </p:txBody>
      </p:sp>
      <p:sp>
        <p:nvSpPr>
          <p:cNvPr id="18" name="price board"/>
          <p:cNvSpPr/>
          <p:nvPr/>
        </p:nvSpPr>
        <p:spPr>
          <a:xfrm>
            <a:off x="7315200" y="1417320"/>
            <a:ext cx="4325112" cy="4800600"/>
          </a:xfrm>
          <a:prstGeom prst="roundRect">
            <a:avLst>
              <a:gd name="adj" fmla="val 2537"/>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9" name="Text 14"/>
          <p:cNvSpPr txBox="1"/>
          <p:nvPr/>
        </p:nvSpPr>
        <p:spPr>
          <a:xfrm>
            <a:off x="7589520" y="1645920"/>
            <a:ext cx="265176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THE CLIENT'S PRICE RULES</a:t>
            </a:r>
            <a:endParaRPr lang="en-US" sz="1200" dirty="0"/>
          </a:p>
        </p:txBody>
      </p:sp>
      <p:sp>
        <p:nvSpPr>
          <p:cNvPr id="20" name="Text 15"/>
          <p:cNvSpPr txBox="1"/>
          <p:nvPr/>
        </p:nvSpPr>
        <p:spPr>
          <a:xfrm>
            <a:off x="7589520" y="219456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Small pizza</a:t>
            </a:r>
            <a:endParaRPr lang="en-US" sz="1500" dirty="0"/>
          </a:p>
        </p:txBody>
      </p:sp>
      <p:sp>
        <p:nvSpPr>
          <p:cNvPr id="21" name="Text 16"/>
          <p:cNvSpPr txBox="1"/>
          <p:nvPr/>
        </p:nvSpPr>
        <p:spPr>
          <a:xfrm>
            <a:off x="9784080" y="219456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£3.25</a:t>
            </a:r>
            <a:endParaRPr lang="en-US" sz="1600" dirty="0"/>
          </a:p>
        </p:txBody>
      </p:sp>
      <p:sp>
        <p:nvSpPr>
          <p:cNvPr id="22" name="price divider"/>
          <p:cNvSpPr/>
          <p:nvPr/>
        </p:nvSpPr>
        <p:spPr>
          <a:xfrm>
            <a:off x="7589520" y="2551176"/>
            <a:ext cx="3794760" cy="0"/>
          </a:xfrm>
          <a:prstGeom prst="line">
            <a:avLst/>
          </a:prstGeom>
          <a:noFill/>
          <a:ln w="9525">
            <a:solidFill>
              <a:srgbClr val="2E4272"/>
            </a:solidFill>
            <a:prstDash val="solid"/>
          </a:ln>
        </p:spPr>
        <p:txBody>
          <a:bodyPr/>
          <a:lstStyle/>
          <a:p>
            <a:endParaRPr lang="en-GB"/>
          </a:p>
        </p:txBody>
      </p:sp>
      <p:sp>
        <p:nvSpPr>
          <p:cNvPr id="23" name="Text 18"/>
          <p:cNvSpPr txBox="1"/>
          <p:nvPr/>
        </p:nvSpPr>
        <p:spPr>
          <a:xfrm>
            <a:off x="7589520" y="258318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Medium pizza</a:t>
            </a:r>
            <a:endParaRPr lang="en-US" sz="1500" dirty="0"/>
          </a:p>
        </p:txBody>
      </p:sp>
      <p:sp>
        <p:nvSpPr>
          <p:cNvPr id="24" name="Text 19"/>
          <p:cNvSpPr txBox="1"/>
          <p:nvPr/>
        </p:nvSpPr>
        <p:spPr>
          <a:xfrm>
            <a:off x="9784080" y="258318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£5.50</a:t>
            </a:r>
            <a:endParaRPr lang="en-US" sz="1600" dirty="0"/>
          </a:p>
        </p:txBody>
      </p:sp>
      <p:sp>
        <p:nvSpPr>
          <p:cNvPr id="25" name="price divider"/>
          <p:cNvSpPr/>
          <p:nvPr/>
        </p:nvSpPr>
        <p:spPr>
          <a:xfrm>
            <a:off x="7589520" y="2939796"/>
            <a:ext cx="3794760" cy="0"/>
          </a:xfrm>
          <a:prstGeom prst="line">
            <a:avLst/>
          </a:prstGeom>
          <a:noFill/>
          <a:ln w="9525">
            <a:solidFill>
              <a:srgbClr val="2E4272"/>
            </a:solidFill>
            <a:prstDash val="solid"/>
          </a:ln>
        </p:spPr>
        <p:txBody>
          <a:bodyPr/>
          <a:lstStyle/>
          <a:p>
            <a:endParaRPr lang="en-GB"/>
          </a:p>
        </p:txBody>
      </p:sp>
      <p:sp>
        <p:nvSpPr>
          <p:cNvPr id="26" name="Text 21"/>
          <p:cNvSpPr txBox="1"/>
          <p:nvPr/>
        </p:nvSpPr>
        <p:spPr>
          <a:xfrm>
            <a:off x="7589520" y="297180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Large pizza</a:t>
            </a:r>
            <a:endParaRPr lang="en-US" sz="1500" dirty="0"/>
          </a:p>
        </p:txBody>
      </p:sp>
      <p:sp>
        <p:nvSpPr>
          <p:cNvPr id="27" name="Text 22"/>
          <p:cNvSpPr txBox="1"/>
          <p:nvPr/>
        </p:nvSpPr>
        <p:spPr>
          <a:xfrm>
            <a:off x="9784080" y="297180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£7.15</a:t>
            </a:r>
            <a:endParaRPr lang="en-US" sz="1600" dirty="0"/>
          </a:p>
        </p:txBody>
      </p:sp>
      <p:sp>
        <p:nvSpPr>
          <p:cNvPr id="28" name="price divider"/>
          <p:cNvSpPr/>
          <p:nvPr/>
        </p:nvSpPr>
        <p:spPr>
          <a:xfrm>
            <a:off x="7589520" y="3328416"/>
            <a:ext cx="3794760" cy="0"/>
          </a:xfrm>
          <a:prstGeom prst="line">
            <a:avLst/>
          </a:prstGeom>
          <a:noFill/>
          <a:ln w="9525">
            <a:solidFill>
              <a:srgbClr val="2E4272"/>
            </a:solidFill>
            <a:prstDash val="solid"/>
          </a:ln>
        </p:spPr>
        <p:txBody>
          <a:bodyPr/>
          <a:lstStyle/>
          <a:p>
            <a:endParaRPr lang="en-GB"/>
          </a:p>
        </p:txBody>
      </p:sp>
      <p:sp>
        <p:nvSpPr>
          <p:cNvPr id="29" name="Text 24"/>
          <p:cNvSpPr txBox="1"/>
          <p:nvPr/>
        </p:nvSpPr>
        <p:spPr>
          <a:xfrm>
            <a:off x="7589520" y="336042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1 extra topping</a:t>
            </a:r>
            <a:endParaRPr lang="en-US" sz="1500" dirty="0"/>
          </a:p>
        </p:txBody>
      </p:sp>
      <p:sp>
        <p:nvSpPr>
          <p:cNvPr id="30" name="Text 25"/>
          <p:cNvSpPr txBox="1"/>
          <p:nvPr/>
        </p:nvSpPr>
        <p:spPr>
          <a:xfrm>
            <a:off x="9784080" y="336042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£0.75</a:t>
            </a:r>
            <a:endParaRPr lang="en-US" sz="1600" dirty="0"/>
          </a:p>
        </p:txBody>
      </p:sp>
      <p:sp>
        <p:nvSpPr>
          <p:cNvPr id="31" name="price divider"/>
          <p:cNvSpPr/>
          <p:nvPr/>
        </p:nvSpPr>
        <p:spPr>
          <a:xfrm>
            <a:off x="7589520" y="3717036"/>
            <a:ext cx="3794760" cy="0"/>
          </a:xfrm>
          <a:prstGeom prst="line">
            <a:avLst/>
          </a:prstGeom>
          <a:noFill/>
          <a:ln w="9525">
            <a:solidFill>
              <a:srgbClr val="2E4272"/>
            </a:solidFill>
            <a:prstDash val="solid"/>
          </a:ln>
        </p:spPr>
        <p:txBody>
          <a:bodyPr/>
          <a:lstStyle/>
          <a:p>
            <a:endParaRPr lang="en-GB"/>
          </a:p>
        </p:txBody>
      </p:sp>
      <p:sp>
        <p:nvSpPr>
          <p:cNvPr id="32" name="Text 27"/>
          <p:cNvSpPr txBox="1"/>
          <p:nvPr/>
        </p:nvSpPr>
        <p:spPr>
          <a:xfrm>
            <a:off x="7589520" y="374904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2 extra toppings</a:t>
            </a:r>
            <a:endParaRPr lang="en-US" sz="1500" dirty="0"/>
          </a:p>
        </p:txBody>
      </p:sp>
      <p:sp>
        <p:nvSpPr>
          <p:cNvPr id="33" name="Text 28"/>
          <p:cNvSpPr txBox="1"/>
          <p:nvPr/>
        </p:nvSpPr>
        <p:spPr>
          <a:xfrm>
            <a:off x="9784080" y="374904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£1.35</a:t>
            </a:r>
            <a:endParaRPr lang="en-US" sz="1600" dirty="0"/>
          </a:p>
        </p:txBody>
      </p:sp>
      <p:sp>
        <p:nvSpPr>
          <p:cNvPr id="34" name="price divider"/>
          <p:cNvSpPr/>
          <p:nvPr/>
        </p:nvSpPr>
        <p:spPr>
          <a:xfrm>
            <a:off x="7589520" y="4105656"/>
            <a:ext cx="3794760" cy="0"/>
          </a:xfrm>
          <a:prstGeom prst="line">
            <a:avLst/>
          </a:prstGeom>
          <a:noFill/>
          <a:ln w="9525">
            <a:solidFill>
              <a:srgbClr val="2E4272"/>
            </a:solidFill>
            <a:prstDash val="solid"/>
          </a:ln>
        </p:spPr>
        <p:txBody>
          <a:bodyPr/>
          <a:lstStyle/>
          <a:p>
            <a:endParaRPr lang="en-GB"/>
          </a:p>
        </p:txBody>
      </p:sp>
      <p:sp>
        <p:nvSpPr>
          <p:cNvPr id="35" name="Text 30"/>
          <p:cNvSpPr txBox="1"/>
          <p:nvPr/>
        </p:nvSpPr>
        <p:spPr>
          <a:xfrm>
            <a:off x="7589520" y="413766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3 extra toppings</a:t>
            </a:r>
            <a:endParaRPr lang="en-US" sz="1500" dirty="0"/>
          </a:p>
        </p:txBody>
      </p:sp>
      <p:sp>
        <p:nvSpPr>
          <p:cNvPr id="36" name="Text 31"/>
          <p:cNvSpPr txBox="1"/>
          <p:nvPr/>
        </p:nvSpPr>
        <p:spPr>
          <a:xfrm>
            <a:off x="9784080" y="413766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£2.00</a:t>
            </a:r>
            <a:endParaRPr lang="en-US" sz="1600" dirty="0"/>
          </a:p>
        </p:txBody>
      </p:sp>
      <p:sp>
        <p:nvSpPr>
          <p:cNvPr id="37" name="price divider"/>
          <p:cNvSpPr/>
          <p:nvPr/>
        </p:nvSpPr>
        <p:spPr>
          <a:xfrm>
            <a:off x="7589520" y="4494276"/>
            <a:ext cx="3794760" cy="0"/>
          </a:xfrm>
          <a:prstGeom prst="line">
            <a:avLst/>
          </a:prstGeom>
          <a:noFill/>
          <a:ln w="9525">
            <a:solidFill>
              <a:srgbClr val="2E4272"/>
            </a:solidFill>
            <a:prstDash val="solid"/>
          </a:ln>
        </p:spPr>
        <p:txBody>
          <a:bodyPr/>
          <a:lstStyle/>
          <a:p>
            <a:endParaRPr lang="en-GB"/>
          </a:p>
        </p:txBody>
      </p:sp>
      <p:sp>
        <p:nvSpPr>
          <p:cNvPr id="38" name="Text 33"/>
          <p:cNvSpPr txBox="1"/>
          <p:nvPr/>
        </p:nvSpPr>
        <p:spPr>
          <a:xfrm>
            <a:off x="7589520" y="452628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4 or more toppings</a:t>
            </a:r>
            <a:endParaRPr lang="en-US" sz="1500" dirty="0"/>
          </a:p>
        </p:txBody>
      </p:sp>
      <p:sp>
        <p:nvSpPr>
          <p:cNvPr id="39" name="Text 34"/>
          <p:cNvSpPr txBox="1"/>
          <p:nvPr/>
        </p:nvSpPr>
        <p:spPr>
          <a:xfrm>
            <a:off x="9784080" y="452628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£2.50</a:t>
            </a:r>
            <a:endParaRPr lang="en-US" sz="1600" dirty="0"/>
          </a:p>
        </p:txBody>
      </p:sp>
      <p:sp>
        <p:nvSpPr>
          <p:cNvPr id="40" name="price divider"/>
          <p:cNvSpPr/>
          <p:nvPr/>
        </p:nvSpPr>
        <p:spPr>
          <a:xfrm>
            <a:off x="7589520" y="4882896"/>
            <a:ext cx="3794760" cy="0"/>
          </a:xfrm>
          <a:prstGeom prst="line">
            <a:avLst/>
          </a:prstGeom>
          <a:noFill/>
          <a:ln w="9525">
            <a:solidFill>
              <a:srgbClr val="2E4272"/>
            </a:solidFill>
            <a:prstDash val="solid"/>
          </a:ln>
        </p:spPr>
        <p:txBody>
          <a:bodyPr/>
          <a:lstStyle/>
          <a:p>
            <a:endParaRPr lang="en-GB"/>
          </a:p>
        </p:txBody>
      </p:sp>
      <p:sp>
        <p:nvSpPr>
          <p:cNvPr id="41" name="Text 36"/>
          <p:cNvSpPr txBox="1"/>
          <p:nvPr/>
        </p:nvSpPr>
        <p:spPr>
          <a:xfrm>
            <a:off x="7589520" y="491490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Pizzas per order</a:t>
            </a:r>
            <a:endParaRPr lang="en-US" sz="1500" dirty="0"/>
          </a:p>
        </p:txBody>
      </p:sp>
      <p:sp>
        <p:nvSpPr>
          <p:cNvPr id="42" name="Text 37"/>
          <p:cNvSpPr txBox="1"/>
          <p:nvPr/>
        </p:nvSpPr>
        <p:spPr>
          <a:xfrm>
            <a:off x="9784080" y="491490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1 to 6</a:t>
            </a:r>
            <a:endParaRPr lang="en-US" sz="1600" dirty="0"/>
          </a:p>
        </p:txBody>
      </p:sp>
      <p:sp>
        <p:nvSpPr>
          <p:cNvPr id="43" name="price divider"/>
          <p:cNvSpPr/>
          <p:nvPr/>
        </p:nvSpPr>
        <p:spPr>
          <a:xfrm>
            <a:off x="7589520" y="5271516"/>
            <a:ext cx="3794760" cy="0"/>
          </a:xfrm>
          <a:prstGeom prst="line">
            <a:avLst/>
          </a:prstGeom>
          <a:noFill/>
          <a:ln w="9525">
            <a:solidFill>
              <a:srgbClr val="2E4272"/>
            </a:solidFill>
            <a:prstDash val="solid"/>
          </a:ln>
        </p:spPr>
        <p:txBody>
          <a:bodyPr/>
          <a:lstStyle/>
          <a:p>
            <a:endParaRPr lang="en-GB"/>
          </a:p>
        </p:txBody>
      </p:sp>
      <p:sp>
        <p:nvSpPr>
          <p:cNvPr id="44" name="Text 39"/>
          <p:cNvSpPr txBox="1"/>
          <p:nvPr/>
        </p:nvSpPr>
        <p:spPr>
          <a:xfrm>
            <a:off x="7589520" y="530352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Discount</a:t>
            </a:r>
            <a:endParaRPr lang="en-US" sz="1500" dirty="0"/>
          </a:p>
        </p:txBody>
      </p:sp>
      <p:sp>
        <p:nvSpPr>
          <p:cNvPr id="45" name="Text 40"/>
          <p:cNvSpPr txBox="1"/>
          <p:nvPr/>
        </p:nvSpPr>
        <p:spPr>
          <a:xfrm>
            <a:off x="9784080" y="530352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10% over £20</a:t>
            </a:r>
            <a:endParaRPr lang="en-US" sz="1600" dirty="0"/>
          </a:p>
        </p:txBody>
      </p:sp>
      <p:sp>
        <p:nvSpPr>
          <p:cNvPr id="46" name="price divider"/>
          <p:cNvSpPr/>
          <p:nvPr/>
        </p:nvSpPr>
        <p:spPr>
          <a:xfrm>
            <a:off x="7589520" y="5660136"/>
            <a:ext cx="3794760" cy="0"/>
          </a:xfrm>
          <a:prstGeom prst="line">
            <a:avLst/>
          </a:prstGeom>
          <a:noFill/>
          <a:ln w="9525">
            <a:solidFill>
              <a:srgbClr val="2E4272"/>
            </a:solidFill>
            <a:prstDash val="solid"/>
          </a:ln>
        </p:spPr>
        <p:txBody>
          <a:bodyPr/>
          <a:lstStyle/>
          <a:p>
            <a:endParaRPr lang="en-GB"/>
          </a:p>
        </p:txBody>
      </p:sp>
      <p:sp>
        <p:nvSpPr>
          <p:cNvPr id="47" name="Text 42"/>
          <p:cNvSpPr txBox="1"/>
          <p:nvPr/>
        </p:nvSpPr>
        <p:spPr>
          <a:xfrm>
            <a:off x="7589520" y="5692140"/>
            <a:ext cx="2286000" cy="310896"/>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Delivery charge</a:t>
            </a:r>
            <a:endParaRPr lang="en-US" sz="1500" dirty="0"/>
          </a:p>
        </p:txBody>
      </p:sp>
      <p:sp>
        <p:nvSpPr>
          <p:cNvPr id="48" name="Text 43"/>
          <p:cNvSpPr txBox="1"/>
          <p:nvPr/>
        </p:nvSpPr>
        <p:spPr>
          <a:xfrm>
            <a:off x="9784080" y="5692140"/>
            <a:ext cx="1600200" cy="310896"/>
          </a:xfrm>
          <a:prstGeom prst="rect">
            <a:avLst/>
          </a:prstGeom>
          <a:noFill/>
          <a:ln/>
        </p:spPr>
        <p:txBody>
          <a:bodyPr wrap="square" lIns="0" tIns="0" rIns="0" bIns="0" rtlCol="0" anchor="ctr"/>
          <a:lstStyle/>
          <a:p>
            <a:pPr marL="0" indent="0" algn="r">
              <a:buNone/>
            </a:pPr>
            <a:r>
              <a:rPr lang="en-US" sz="1600" b="1" dirty="0">
                <a:solidFill>
                  <a:schemeClr val="accent2"/>
                </a:solidFill>
                <a:latin typeface="Calibri" pitchFamily="34" charset="0"/>
                <a:ea typeface="Calibri" pitchFamily="34" charset="-122"/>
                <a:cs typeface="Calibri" pitchFamily="34" charset="-120"/>
              </a:rPr>
              <a:t>£2.50</a:t>
            </a:r>
            <a:endParaRPr lang="en-US" sz="1600" dirty="0"/>
          </a:p>
        </p:txBody>
      </p:sp>
      <p:pic>
        <p:nvPicPr>
          <p:cNvPr id="49" name="pizza illustration" descr="Illustration of a pepperoni pizza"/>
          <p:cNvPicPr>
            <a:picLocks noChangeAspect="1"/>
          </p:cNvPicPr>
          <p:nvPr/>
        </p:nvPicPr>
        <p:blipFill>
          <a:blip r:embed="rId6"/>
          <a:stretch>
            <a:fillRect/>
          </a:stretch>
        </p:blipFill>
        <p:spPr>
          <a:xfrm>
            <a:off x="10058400" y="274320"/>
            <a:ext cx="1691640" cy="1691640"/>
          </a:xfrm>
          <a:prstGeom prst="rect">
            <a:avLst/>
          </a:prstGeom>
        </p:spPr>
      </p:pic>
      <p:sp>
        <p:nvSpPr>
          <p:cNvPr id="50"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Our approach: the waterfall model</a:t>
            </a:r>
            <a:endParaRPr lang="en-US" sz="3400" dirty="0"/>
          </a:p>
        </p:txBody>
      </p:sp>
      <p:sp>
        <p:nvSpPr>
          <p:cNvPr id="3" name="stage card Analysis"/>
          <p:cNvSpPr/>
          <p:nvPr/>
        </p:nvSpPr>
        <p:spPr>
          <a:xfrm>
            <a:off x="548640" y="1463040"/>
            <a:ext cx="1962302" cy="3154680"/>
          </a:xfrm>
          <a:prstGeom prst="roundRect">
            <a:avLst>
              <a:gd name="adj" fmla="val 466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stage number 1"/>
          <p:cNvSpPr/>
          <p:nvPr/>
        </p:nvSpPr>
        <p:spPr>
          <a:xfrm>
            <a:off x="777240" y="1737360"/>
            <a:ext cx="566928" cy="566928"/>
          </a:xfrm>
          <a:prstGeom prst="ellipse">
            <a:avLst/>
          </a:prstGeom>
          <a:solidFill>
            <a:schemeClr val="accent1"/>
          </a:solidFill>
          <a:ln w="12700">
            <a:solidFill>
              <a:schemeClr val="bg1"/>
            </a:solidFill>
            <a:prstDash val="solid"/>
          </a:ln>
        </p:spPr>
        <p:txBody>
          <a:bodyPr/>
          <a:lstStyle/>
          <a:p>
            <a:endParaRPr lang="en-GB"/>
          </a:p>
        </p:txBody>
      </p:sp>
      <p:sp>
        <p:nvSpPr>
          <p:cNvPr id="5" name="Text 3"/>
          <p:cNvSpPr txBox="1"/>
          <p:nvPr/>
        </p:nvSpPr>
        <p:spPr>
          <a:xfrm>
            <a:off x="777240" y="173736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77240" y="2468880"/>
            <a:ext cx="1596542"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Analysis</a:t>
            </a:r>
            <a:endParaRPr lang="en-US" sz="1700" dirty="0"/>
          </a:p>
        </p:txBody>
      </p:sp>
      <p:sp>
        <p:nvSpPr>
          <p:cNvPr id="7" name="Text 5"/>
          <p:cNvSpPr txBox="1"/>
          <p:nvPr/>
        </p:nvSpPr>
        <p:spPr>
          <a:xfrm>
            <a:off x="777240" y="2880360"/>
            <a:ext cx="1550822" cy="1463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Business rules, 12 requirements (R1–R12) and an input–process–output table.</a:t>
            </a:r>
            <a:endParaRPr lang="en-US" sz="1400" dirty="0"/>
          </a:p>
        </p:txBody>
      </p:sp>
      <p:sp>
        <p:nvSpPr>
          <p:cNvPr id="8" name="Text 6">
            <a:hlinkClick r:id="rId3" action="ppaction://hlinksldjump" tooltip="See the problem →"/>
          </p:cNvPr>
          <p:cNvSpPr txBox="1"/>
          <p:nvPr/>
        </p:nvSpPr>
        <p:spPr>
          <a:xfrm>
            <a:off x="548640" y="4754880"/>
            <a:ext cx="1962302" cy="274320"/>
          </a:xfrm>
          <a:prstGeom prst="rect">
            <a:avLst/>
          </a:prstGeom>
          <a:noFill/>
          <a:ln/>
        </p:spPr>
        <p:txBody>
          <a:bodyPr wrap="square" lIns="0" tIns="0" rIns="0" bIns="0" rtlCol="0" anchor="t"/>
          <a:lstStyle/>
          <a:p>
            <a:pPr marL="0" indent="0" algn="ctr">
              <a:buNone/>
            </a:pPr>
            <a:r>
              <a:rPr lang="en-US" sz="1200" b="1" u="sng" dirty="0">
                <a:solidFill>
                  <a:schemeClr val="accent1"/>
                </a:solidFill>
                <a:latin typeface="Calibri" pitchFamily="34" charset="0"/>
                <a:ea typeface="Calibri" pitchFamily="34" charset="-122"/>
                <a:cs typeface="Calibri" pitchFamily="34" charset="-120"/>
                <a:hlinkClick r:id="rId3" action="ppaction://hlinksldjump" tooltip="See the problem →">
                  <a:extLst>
                    <a:ext uri="{A12FA001-AC4F-418D-AE19-62706E023703}">
                      <ahyp:hlinkClr xmlns:ahyp="http://schemas.microsoft.com/office/drawing/2018/hyperlinkcolor" val="tx"/>
                    </a:ext>
                  </a:extLst>
                </a:hlinkClick>
              </a:rPr>
              <a:t>See the problem →</a:t>
            </a:r>
            <a:endParaRPr lang="en-US" sz="1200" dirty="0"/>
          </a:p>
        </p:txBody>
      </p:sp>
      <p:sp>
        <p:nvSpPr>
          <p:cNvPr id="9" name="arrow"/>
          <p:cNvSpPr/>
          <p:nvPr/>
        </p:nvSpPr>
        <p:spPr>
          <a:xfrm>
            <a:off x="2565806" y="2834640"/>
            <a:ext cx="210312" cy="274320"/>
          </a:xfrm>
          <a:prstGeom prst="rightArrow">
            <a:avLst/>
          </a:prstGeom>
          <a:solidFill>
            <a:schemeClr val="accent2"/>
          </a:solidFill>
          <a:ln w="12700">
            <a:solidFill>
              <a:schemeClr val="accent2"/>
            </a:solidFill>
            <a:prstDash val="solid"/>
          </a:ln>
        </p:spPr>
        <p:txBody>
          <a:bodyPr/>
          <a:lstStyle/>
          <a:p>
            <a:endParaRPr lang="en-GB"/>
          </a:p>
        </p:txBody>
      </p:sp>
      <p:sp>
        <p:nvSpPr>
          <p:cNvPr id="10" name="stage card Design"/>
          <p:cNvSpPr/>
          <p:nvPr/>
        </p:nvSpPr>
        <p:spPr>
          <a:xfrm>
            <a:off x="2830982" y="1463040"/>
            <a:ext cx="1962302" cy="3154680"/>
          </a:xfrm>
          <a:prstGeom prst="roundRect">
            <a:avLst>
              <a:gd name="adj" fmla="val 466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1" name="stage number 2"/>
          <p:cNvSpPr/>
          <p:nvPr/>
        </p:nvSpPr>
        <p:spPr>
          <a:xfrm>
            <a:off x="3059582" y="1737360"/>
            <a:ext cx="566928" cy="566928"/>
          </a:xfrm>
          <a:prstGeom prst="ellipse">
            <a:avLst/>
          </a:prstGeom>
          <a:solidFill>
            <a:schemeClr val="accent1"/>
          </a:solidFill>
          <a:ln w="12700">
            <a:solidFill>
              <a:schemeClr val="bg1"/>
            </a:solidFill>
            <a:prstDash val="solid"/>
          </a:ln>
        </p:spPr>
        <p:txBody>
          <a:bodyPr/>
          <a:lstStyle/>
          <a:p>
            <a:endParaRPr lang="en-GB"/>
          </a:p>
        </p:txBody>
      </p:sp>
      <p:sp>
        <p:nvSpPr>
          <p:cNvPr id="12" name="Text 10"/>
          <p:cNvSpPr txBox="1"/>
          <p:nvPr/>
        </p:nvSpPr>
        <p:spPr>
          <a:xfrm>
            <a:off x="3059582" y="173736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059582" y="2468880"/>
            <a:ext cx="1596542"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Design</a:t>
            </a:r>
            <a:endParaRPr lang="en-US" sz="1700" dirty="0"/>
          </a:p>
        </p:txBody>
      </p:sp>
      <p:sp>
        <p:nvSpPr>
          <p:cNvPr id="14" name="Text 12"/>
          <p:cNvSpPr txBox="1"/>
          <p:nvPr/>
        </p:nvSpPr>
        <p:spPr>
          <a:xfrm>
            <a:off x="3059582" y="2880360"/>
            <a:ext cx="1550822" cy="1463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Structure chart, data plan, 15 subroutines and a main flowchart.</a:t>
            </a:r>
            <a:endParaRPr lang="en-US" sz="1400" dirty="0"/>
          </a:p>
        </p:txBody>
      </p:sp>
      <p:sp>
        <p:nvSpPr>
          <p:cNvPr id="15" name="Text 13">
            <a:hlinkClick r:id="rId4" action="ppaction://hlinksldjump" tooltip="See the design →"/>
          </p:cNvPr>
          <p:cNvSpPr txBox="1"/>
          <p:nvPr/>
        </p:nvSpPr>
        <p:spPr>
          <a:xfrm>
            <a:off x="2830982" y="4754880"/>
            <a:ext cx="1962302" cy="274320"/>
          </a:xfrm>
          <a:prstGeom prst="rect">
            <a:avLst/>
          </a:prstGeom>
          <a:noFill/>
          <a:ln/>
        </p:spPr>
        <p:txBody>
          <a:bodyPr wrap="square" lIns="0" tIns="0" rIns="0" bIns="0" rtlCol="0" anchor="t"/>
          <a:lstStyle/>
          <a:p>
            <a:pPr marL="0" indent="0" algn="ctr">
              <a:buNone/>
            </a:pPr>
            <a:r>
              <a:rPr lang="en-US" sz="1200" b="1" u="sng" dirty="0">
                <a:solidFill>
                  <a:schemeClr val="accent1"/>
                </a:solidFill>
                <a:latin typeface="Calibri" pitchFamily="34" charset="0"/>
                <a:ea typeface="Calibri" pitchFamily="34" charset="-122"/>
                <a:cs typeface="Calibri" pitchFamily="34" charset="-120"/>
                <a:hlinkClick r:id="rId4" action="ppaction://hlinksldjump" tooltip="See the design →">
                  <a:extLst>
                    <a:ext uri="{A12FA001-AC4F-418D-AE19-62706E023703}">
                      <ahyp:hlinkClr xmlns:ahyp="http://schemas.microsoft.com/office/drawing/2018/hyperlinkcolor" val="tx"/>
                    </a:ext>
                  </a:extLst>
                </a:hlinkClick>
              </a:rPr>
              <a:t>See the design →</a:t>
            </a:r>
            <a:endParaRPr lang="en-US" sz="1200" dirty="0"/>
          </a:p>
        </p:txBody>
      </p:sp>
      <p:sp>
        <p:nvSpPr>
          <p:cNvPr id="16" name="arrow"/>
          <p:cNvSpPr/>
          <p:nvPr/>
        </p:nvSpPr>
        <p:spPr>
          <a:xfrm>
            <a:off x="4848149" y="2834640"/>
            <a:ext cx="210312" cy="274320"/>
          </a:xfrm>
          <a:prstGeom prst="rightArrow">
            <a:avLst/>
          </a:prstGeom>
          <a:solidFill>
            <a:schemeClr val="accent2"/>
          </a:solidFill>
          <a:ln w="12700">
            <a:solidFill>
              <a:schemeClr val="accent2"/>
            </a:solidFill>
            <a:prstDash val="solid"/>
          </a:ln>
        </p:spPr>
        <p:txBody>
          <a:bodyPr/>
          <a:lstStyle/>
          <a:p>
            <a:endParaRPr lang="en-GB"/>
          </a:p>
        </p:txBody>
      </p:sp>
      <p:sp>
        <p:nvSpPr>
          <p:cNvPr id="17" name="stage card Implementation"/>
          <p:cNvSpPr/>
          <p:nvPr/>
        </p:nvSpPr>
        <p:spPr>
          <a:xfrm>
            <a:off x="5113325" y="1463040"/>
            <a:ext cx="1962302" cy="3154680"/>
          </a:xfrm>
          <a:prstGeom prst="roundRect">
            <a:avLst>
              <a:gd name="adj" fmla="val 466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8" name="stage number 3"/>
          <p:cNvSpPr/>
          <p:nvPr/>
        </p:nvSpPr>
        <p:spPr>
          <a:xfrm>
            <a:off x="5341925" y="1737360"/>
            <a:ext cx="566928" cy="566928"/>
          </a:xfrm>
          <a:prstGeom prst="ellipse">
            <a:avLst/>
          </a:prstGeom>
          <a:solidFill>
            <a:schemeClr val="accent1"/>
          </a:solidFill>
          <a:ln w="12700">
            <a:solidFill>
              <a:schemeClr val="bg1"/>
            </a:solidFill>
            <a:prstDash val="solid"/>
          </a:ln>
        </p:spPr>
        <p:txBody>
          <a:bodyPr/>
          <a:lstStyle/>
          <a:p>
            <a:endParaRPr lang="en-GB"/>
          </a:p>
        </p:txBody>
      </p:sp>
      <p:sp>
        <p:nvSpPr>
          <p:cNvPr id="19" name="Text 17"/>
          <p:cNvSpPr txBox="1"/>
          <p:nvPr/>
        </p:nvSpPr>
        <p:spPr>
          <a:xfrm>
            <a:off x="5341925" y="173736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5341925" y="2468880"/>
            <a:ext cx="1596542"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Implementation</a:t>
            </a:r>
            <a:endParaRPr lang="en-US" sz="1700" dirty="0"/>
          </a:p>
        </p:txBody>
      </p:sp>
      <p:sp>
        <p:nvSpPr>
          <p:cNvPr id="21" name="Text 19"/>
          <p:cNvSpPr txBox="1"/>
          <p:nvPr/>
        </p:nvSpPr>
        <p:spPr>
          <a:xfrm>
            <a:off x="5341925" y="2880360"/>
            <a:ext cx="1550822" cy="1463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Built in Flowgorithm as 16 functions: Main plus 15 subroutines.</a:t>
            </a:r>
            <a:endParaRPr lang="en-US" sz="1400" dirty="0"/>
          </a:p>
        </p:txBody>
      </p:sp>
      <p:sp>
        <p:nvSpPr>
          <p:cNvPr id="22" name="Text 20">
            <a:hlinkClick r:id="rId5" action="ppaction://hlinksldjump" tooltip="See it run →"/>
          </p:cNvPr>
          <p:cNvSpPr txBox="1"/>
          <p:nvPr/>
        </p:nvSpPr>
        <p:spPr>
          <a:xfrm>
            <a:off x="5113325" y="4754880"/>
            <a:ext cx="1962302" cy="274320"/>
          </a:xfrm>
          <a:prstGeom prst="rect">
            <a:avLst/>
          </a:prstGeom>
          <a:noFill/>
          <a:ln/>
        </p:spPr>
        <p:txBody>
          <a:bodyPr wrap="square" lIns="0" tIns="0" rIns="0" bIns="0" rtlCol="0" anchor="t"/>
          <a:lstStyle/>
          <a:p>
            <a:pPr marL="0" indent="0" algn="ctr">
              <a:buNone/>
            </a:pPr>
            <a:r>
              <a:rPr lang="en-US" sz="1200" b="1" u="sng" dirty="0">
                <a:solidFill>
                  <a:schemeClr val="accent1"/>
                </a:solidFill>
                <a:latin typeface="Calibri" pitchFamily="34" charset="0"/>
                <a:ea typeface="Calibri" pitchFamily="34" charset="-122"/>
                <a:cs typeface="Calibri" pitchFamily="34" charset="-120"/>
                <a:hlinkClick r:id="rId5" action="ppaction://hlinksldjump" tooltip="See it run →">
                  <a:extLst>
                    <a:ext uri="{A12FA001-AC4F-418D-AE19-62706E023703}">
                      <ahyp:hlinkClr xmlns:ahyp="http://schemas.microsoft.com/office/drawing/2018/hyperlinkcolor" val="tx"/>
                    </a:ext>
                  </a:extLst>
                </a:hlinkClick>
              </a:rPr>
              <a:t>See it run →</a:t>
            </a:r>
            <a:endParaRPr lang="en-US" sz="1200" dirty="0"/>
          </a:p>
        </p:txBody>
      </p:sp>
      <p:sp>
        <p:nvSpPr>
          <p:cNvPr id="23" name="arrow"/>
          <p:cNvSpPr/>
          <p:nvPr/>
        </p:nvSpPr>
        <p:spPr>
          <a:xfrm>
            <a:off x="7130491" y="2834640"/>
            <a:ext cx="210312" cy="274320"/>
          </a:xfrm>
          <a:prstGeom prst="rightArrow">
            <a:avLst/>
          </a:prstGeom>
          <a:solidFill>
            <a:schemeClr val="accent2"/>
          </a:solidFill>
          <a:ln w="12700">
            <a:solidFill>
              <a:schemeClr val="accent2"/>
            </a:solidFill>
            <a:prstDash val="solid"/>
          </a:ln>
        </p:spPr>
        <p:txBody>
          <a:bodyPr/>
          <a:lstStyle/>
          <a:p>
            <a:endParaRPr lang="en-GB"/>
          </a:p>
        </p:txBody>
      </p:sp>
      <p:sp>
        <p:nvSpPr>
          <p:cNvPr id="24" name="stage card Testing"/>
          <p:cNvSpPr/>
          <p:nvPr/>
        </p:nvSpPr>
        <p:spPr>
          <a:xfrm>
            <a:off x="7395667" y="1463040"/>
            <a:ext cx="1962302" cy="3154680"/>
          </a:xfrm>
          <a:prstGeom prst="roundRect">
            <a:avLst>
              <a:gd name="adj" fmla="val 466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5" name="stage number 4"/>
          <p:cNvSpPr/>
          <p:nvPr/>
        </p:nvSpPr>
        <p:spPr>
          <a:xfrm>
            <a:off x="7624267" y="1737360"/>
            <a:ext cx="566928" cy="566928"/>
          </a:xfrm>
          <a:prstGeom prst="ellipse">
            <a:avLst/>
          </a:prstGeom>
          <a:solidFill>
            <a:schemeClr val="accent2"/>
          </a:solidFill>
          <a:ln w="12700">
            <a:solidFill>
              <a:schemeClr val="bg1"/>
            </a:solidFill>
            <a:prstDash val="solid"/>
          </a:ln>
        </p:spPr>
        <p:txBody>
          <a:bodyPr/>
          <a:lstStyle/>
          <a:p>
            <a:endParaRPr lang="en-GB"/>
          </a:p>
        </p:txBody>
      </p:sp>
      <p:sp>
        <p:nvSpPr>
          <p:cNvPr id="26" name="Text 24"/>
          <p:cNvSpPr txBox="1"/>
          <p:nvPr/>
        </p:nvSpPr>
        <p:spPr>
          <a:xfrm>
            <a:off x="7624267" y="173736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27" name="Text 25"/>
          <p:cNvSpPr txBox="1"/>
          <p:nvPr/>
        </p:nvSpPr>
        <p:spPr>
          <a:xfrm>
            <a:off x="7624267" y="2468880"/>
            <a:ext cx="1596542"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Testing</a:t>
            </a:r>
            <a:endParaRPr lang="en-US" sz="1700" dirty="0"/>
          </a:p>
        </p:txBody>
      </p:sp>
      <p:sp>
        <p:nvSpPr>
          <p:cNvPr id="28" name="Text 26"/>
          <p:cNvSpPr txBox="1"/>
          <p:nvPr/>
        </p:nvSpPr>
        <p:spPr>
          <a:xfrm>
            <a:off x="7624267" y="2880360"/>
            <a:ext cx="1550822" cy="1463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19 tests using normal, extreme and abnormal data. Issues logged.</a:t>
            </a:r>
            <a:endParaRPr lang="en-US" sz="1400" dirty="0"/>
          </a:p>
        </p:txBody>
      </p:sp>
      <p:sp>
        <p:nvSpPr>
          <p:cNvPr id="29" name="Text 27">
            <a:hlinkClick r:id="rId6" action="ppaction://hlinksldjump" tooltip="See the tests →"/>
          </p:cNvPr>
          <p:cNvSpPr txBox="1"/>
          <p:nvPr/>
        </p:nvSpPr>
        <p:spPr>
          <a:xfrm>
            <a:off x="7395667" y="4754880"/>
            <a:ext cx="1962302" cy="274320"/>
          </a:xfrm>
          <a:prstGeom prst="rect">
            <a:avLst/>
          </a:prstGeom>
          <a:noFill/>
          <a:ln/>
        </p:spPr>
        <p:txBody>
          <a:bodyPr wrap="square" lIns="0" tIns="0" rIns="0" bIns="0" rtlCol="0" anchor="t"/>
          <a:lstStyle/>
          <a:p>
            <a:pPr marL="0" indent="0" algn="ctr">
              <a:buNone/>
            </a:pPr>
            <a:r>
              <a:rPr lang="en-US" sz="1200" b="1" u="sng" dirty="0">
                <a:solidFill>
                  <a:schemeClr val="accent1"/>
                </a:solidFill>
                <a:latin typeface="Calibri" pitchFamily="34" charset="0"/>
                <a:ea typeface="Calibri" pitchFamily="34" charset="-122"/>
                <a:cs typeface="Calibri" pitchFamily="34" charset="-120"/>
                <a:hlinkClick r:id="rId6" action="ppaction://hlinksldjump" tooltip="See the tests →">
                  <a:extLst>
                    <a:ext uri="{A12FA001-AC4F-418D-AE19-62706E023703}">
                      <ahyp:hlinkClr xmlns:ahyp="http://schemas.microsoft.com/office/drawing/2018/hyperlinkcolor" val="tx"/>
                    </a:ext>
                  </a:extLst>
                </a:hlinkClick>
              </a:rPr>
              <a:t>See the tests →</a:t>
            </a:r>
            <a:endParaRPr lang="en-US" sz="1200" dirty="0"/>
          </a:p>
        </p:txBody>
      </p:sp>
      <p:sp>
        <p:nvSpPr>
          <p:cNvPr id="30" name="arrow"/>
          <p:cNvSpPr/>
          <p:nvPr/>
        </p:nvSpPr>
        <p:spPr>
          <a:xfrm>
            <a:off x="9412834" y="2834640"/>
            <a:ext cx="210312" cy="274320"/>
          </a:xfrm>
          <a:prstGeom prst="rightArrow">
            <a:avLst/>
          </a:prstGeom>
          <a:solidFill>
            <a:schemeClr val="accent2"/>
          </a:solidFill>
          <a:ln w="12700">
            <a:solidFill>
              <a:schemeClr val="accent2"/>
            </a:solidFill>
            <a:prstDash val="solid"/>
          </a:ln>
        </p:spPr>
        <p:txBody>
          <a:bodyPr/>
          <a:lstStyle/>
          <a:p>
            <a:endParaRPr lang="en-GB"/>
          </a:p>
        </p:txBody>
      </p:sp>
      <p:sp>
        <p:nvSpPr>
          <p:cNvPr id="31" name="stage card Deployment"/>
          <p:cNvSpPr/>
          <p:nvPr/>
        </p:nvSpPr>
        <p:spPr>
          <a:xfrm>
            <a:off x="9678010" y="1463040"/>
            <a:ext cx="1962302" cy="3154680"/>
          </a:xfrm>
          <a:prstGeom prst="roundRect">
            <a:avLst>
              <a:gd name="adj" fmla="val 466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32" name="stage number 5"/>
          <p:cNvSpPr/>
          <p:nvPr/>
        </p:nvSpPr>
        <p:spPr>
          <a:xfrm>
            <a:off x="9906610" y="1737360"/>
            <a:ext cx="566928" cy="566928"/>
          </a:xfrm>
          <a:prstGeom prst="ellipse">
            <a:avLst/>
          </a:prstGeom>
          <a:solidFill>
            <a:schemeClr val="accent1"/>
          </a:solidFill>
          <a:ln w="12700">
            <a:solidFill>
              <a:schemeClr val="bg1"/>
            </a:solidFill>
            <a:prstDash val="solid"/>
          </a:ln>
        </p:spPr>
        <p:txBody>
          <a:bodyPr/>
          <a:lstStyle/>
          <a:p>
            <a:endParaRPr lang="en-GB"/>
          </a:p>
        </p:txBody>
      </p:sp>
      <p:sp>
        <p:nvSpPr>
          <p:cNvPr id="33" name="Text 31"/>
          <p:cNvSpPr txBox="1"/>
          <p:nvPr/>
        </p:nvSpPr>
        <p:spPr>
          <a:xfrm>
            <a:off x="9906610" y="173736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34" name="Text 32"/>
          <p:cNvSpPr txBox="1"/>
          <p:nvPr/>
        </p:nvSpPr>
        <p:spPr>
          <a:xfrm>
            <a:off x="9906610" y="2468880"/>
            <a:ext cx="1596542"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Deployment</a:t>
            </a:r>
            <a:endParaRPr lang="en-US" sz="1700" dirty="0"/>
          </a:p>
        </p:txBody>
      </p:sp>
      <p:sp>
        <p:nvSpPr>
          <p:cNvPr id="35" name="Text 33"/>
          <p:cNvSpPr txBox="1"/>
          <p:nvPr/>
        </p:nvSpPr>
        <p:spPr>
          <a:xfrm>
            <a:off x="9906610" y="2880360"/>
            <a:ext cx="1550822" cy="14630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Final version, GitHub README and instructions for running it.</a:t>
            </a:r>
            <a:endParaRPr lang="en-US" sz="1400" dirty="0"/>
          </a:p>
        </p:txBody>
      </p:sp>
      <p:sp>
        <p:nvSpPr>
          <p:cNvPr id="36" name="why waterfall"/>
          <p:cNvSpPr/>
          <p:nvPr/>
        </p:nvSpPr>
        <p:spPr>
          <a:xfrm>
            <a:off x="548640" y="5257800"/>
            <a:ext cx="11091672" cy="960120"/>
          </a:xfrm>
          <a:prstGeom prst="roundRect">
            <a:avLst>
              <a:gd name="adj" fmla="val 9524"/>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37" name="Text 35"/>
          <p:cNvSpPr txBox="1"/>
          <p:nvPr/>
        </p:nvSpPr>
        <p:spPr>
          <a:xfrm>
            <a:off x="868680" y="5257800"/>
            <a:ext cx="10515600" cy="960120"/>
          </a:xfrm>
          <a:prstGeom prst="rect">
            <a:avLst/>
          </a:prstGeom>
          <a:noFill/>
          <a:ln/>
        </p:spPr>
        <p:txBody>
          <a:bodyPr wrap="square" lIns="0" tIns="0" rIns="0" bIns="0" rtlCol="0" anchor="ctr"/>
          <a:lstStyle/>
          <a:p>
            <a:pPr marL="0" indent="0">
              <a:buNone/>
            </a:pPr>
            <a:r>
              <a:rPr lang="en-US" sz="1700" b="1" dirty="0">
                <a:solidFill>
                  <a:schemeClr val="accent2"/>
                </a:solidFill>
              </a:rPr>
              <a:t>Why waterfall?  </a:t>
            </a:r>
            <a:r>
              <a:rPr lang="en-US" sz="1700" dirty="0">
                <a:solidFill>
                  <a:schemeClr val="bg1"/>
                </a:solidFill>
              </a:rPr>
              <a:t>The brief is clear and does not change, and it asks for every stage in this order. Each requirement (R1–R12) can be followed from analysis all the way to testing.</a:t>
            </a:r>
            <a:endParaRPr lang="en-US" sz="1700" dirty="0"/>
          </a:p>
        </p:txBody>
      </p:sp>
      <p:sp>
        <p:nvSpPr>
          <p:cNvPr id="3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Design: break the problem into small parts</a:t>
            </a:r>
            <a:endParaRPr lang="en-US" sz="3400" dirty="0"/>
          </a:p>
        </p:txBody>
      </p:sp>
      <p:sp>
        <p:nvSpPr>
          <p:cNvPr id="3" name="chart root"/>
          <p:cNvSpPr/>
          <p:nvPr/>
        </p:nvSpPr>
        <p:spPr>
          <a:xfrm>
            <a:off x="2971800" y="1417320"/>
            <a:ext cx="2926080" cy="566928"/>
          </a:xfrm>
          <a:prstGeom prst="roundRect">
            <a:avLst>
              <a:gd name="adj" fmla="val 12903"/>
            </a:avLst>
          </a:prstGeom>
          <a:solidFill>
            <a:schemeClr val="tx2"/>
          </a:solidFill>
          <a:ln w="12700">
            <a:solidFill>
              <a:schemeClr val="tx2"/>
            </a:solidFill>
            <a:prstDash val="solid"/>
          </a:ln>
        </p:spPr>
        <p:txBody>
          <a:bodyPr/>
          <a:lstStyle/>
          <a:p>
            <a:endParaRPr lang="en-GB"/>
          </a:p>
        </p:txBody>
      </p:sp>
      <p:sp>
        <p:nvSpPr>
          <p:cNvPr id="4" name="Text 2"/>
          <p:cNvSpPr txBox="1"/>
          <p:nvPr/>
        </p:nvSpPr>
        <p:spPr>
          <a:xfrm>
            <a:off x="2971800" y="1417320"/>
            <a:ext cx="2926080" cy="566928"/>
          </a:xfrm>
          <a:prstGeom prst="rect">
            <a:avLst/>
          </a:prstGeom>
          <a:noFill/>
          <a:ln/>
        </p:spPr>
        <p:txBody>
          <a:bodyPr wrap="square" lIns="0" tIns="0" rIns="0" bIns="0" rtlCol="0" anchor="ctr"/>
          <a:lstStyle/>
          <a:p>
            <a:pPr marL="0" indent="0" algn="ctr">
              <a:buNone/>
            </a:pPr>
            <a:r>
              <a:rPr lang="en-US" sz="1500" b="1" dirty="0">
                <a:solidFill>
                  <a:schemeClr val="bg1"/>
                </a:solidFill>
                <a:latin typeface="Calibri" pitchFamily="34" charset="0"/>
                <a:ea typeface="Calibri" pitchFamily="34" charset="-122"/>
                <a:cs typeface="Calibri" pitchFamily="34" charset="-120"/>
              </a:rPr>
              <a:t>Pizza ordering system</a:t>
            </a:r>
            <a:endParaRPr lang="en-US" sz="1500" dirty="0"/>
          </a:p>
        </p:txBody>
      </p:sp>
      <p:sp>
        <p:nvSpPr>
          <p:cNvPr id="5" name="connector root"/>
          <p:cNvSpPr/>
          <p:nvPr/>
        </p:nvSpPr>
        <p:spPr>
          <a:xfrm>
            <a:off x="4434840" y="1984248"/>
            <a:ext cx="0" cy="228600"/>
          </a:xfrm>
          <a:prstGeom prst="line">
            <a:avLst/>
          </a:prstGeom>
          <a:noFill/>
          <a:ln w="15875">
            <a:solidFill>
              <a:srgbClr val="7A8CA8"/>
            </a:solidFill>
            <a:prstDash val="solid"/>
          </a:ln>
        </p:spPr>
        <p:txBody>
          <a:bodyPr/>
          <a:lstStyle/>
          <a:p>
            <a:endParaRPr lang="en-GB"/>
          </a:p>
        </p:txBody>
      </p:sp>
      <p:sp>
        <p:nvSpPr>
          <p:cNvPr id="6" name="connector bar"/>
          <p:cNvSpPr/>
          <p:nvPr/>
        </p:nvSpPr>
        <p:spPr>
          <a:xfrm>
            <a:off x="1440180" y="2212848"/>
            <a:ext cx="5989320" cy="0"/>
          </a:xfrm>
          <a:prstGeom prst="line">
            <a:avLst/>
          </a:prstGeom>
          <a:noFill/>
          <a:ln w="15875">
            <a:solidFill>
              <a:srgbClr val="7A8CA8"/>
            </a:solidFill>
            <a:prstDash val="solid"/>
          </a:ln>
        </p:spPr>
        <p:txBody>
          <a:bodyPr/>
          <a:lstStyle/>
          <a:p>
            <a:endParaRPr lang="en-GB"/>
          </a:p>
        </p:txBody>
      </p:sp>
      <p:sp>
        <p:nvSpPr>
          <p:cNvPr id="7" name="connector drop"/>
          <p:cNvSpPr/>
          <p:nvPr/>
        </p:nvSpPr>
        <p:spPr>
          <a:xfrm>
            <a:off x="1440180" y="2212848"/>
            <a:ext cx="0" cy="210312"/>
          </a:xfrm>
          <a:prstGeom prst="line">
            <a:avLst/>
          </a:prstGeom>
          <a:noFill/>
          <a:ln w="15875">
            <a:solidFill>
              <a:srgbClr val="7A8CA8"/>
            </a:solidFill>
            <a:prstDash val="solid"/>
          </a:ln>
        </p:spPr>
        <p:txBody>
          <a:bodyPr/>
          <a:lstStyle/>
          <a:p>
            <a:endParaRPr lang="en-GB"/>
          </a:p>
        </p:txBody>
      </p:sp>
      <p:sp>
        <p:nvSpPr>
          <p:cNvPr id="8" name="module Input details"/>
          <p:cNvSpPr/>
          <p:nvPr/>
        </p:nvSpPr>
        <p:spPr>
          <a:xfrm>
            <a:off x="548640" y="2423160"/>
            <a:ext cx="1783080" cy="658368"/>
          </a:xfrm>
          <a:prstGeom prst="roundRect">
            <a:avLst>
              <a:gd name="adj" fmla="val 11111"/>
            </a:avLst>
          </a:prstGeom>
          <a:solidFill>
            <a:srgbClr val="2A9D8F"/>
          </a:solidFill>
          <a:ln w="12700">
            <a:solidFill>
              <a:srgbClr val="2A9D8F"/>
            </a:solidFill>
            <a:prstDash val="solid"/>
          </a:ln>
        </p:spPr>
        <p:txBody>
          <a:bodyPr/>
          <a:lstStyle/>
          <a:p>
            <a:endParaRPr lang="en-GB"/>
          </a:p>
        </p:txBody>
      </p:sp>
      <p:sp>
        <p:nvSpPr>
          <p:cNvPr id="9" name="Text 7"/>
          <p:cNvSpPr txBox="1"/>
          <p:nvPr/>
        </p:nvSpPr>
        <p:spPr>
          <a:xfrm>
            <a:off x="548640" y="2423160"/>
            <a:ext cx="1783080" cy="65836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Input details</a:t>
            </a:r>
            <a:endParaRPr lang="en-US" sz="1400" dirty="0"/>
          </a:p>
          <a:p>
            <a:pPr marL="0" indent="0" algn="ctr">
              <a:buNone/>
            </a:pPr>
            <a:r>
              <a:rPr lang="en-US" sz="1100" dirty="0">
                <a:solidFill>
                  <a:srgbClr val="DDE5F5"/>
                </a:solidFill>
                <a:latin typeface="Calibri" pitchFamily="34" charset="0"/>
                <a:ea typeface="Calibri" pitchFamily="34" charset="-122"/>
                <a:cs typeface="Calibri" pitchFamily="34" charset="-120"/>
              </a:rPr>
              <a:t>1 · Input</a:t>
            </a:r>
            <a:endParaRPr lang="en-US" sz="1400" dirty="0"/>
          </a:p>
        </p:txBody>
      </p:sp>
      <p:sp>
        <p:nvSpPr>
          <p:cNvPr id="10" name="subroutine GetCustomerInfo"/>
          <p:cNvSpPr/>
          <p:nvPr/>
        </p:nvSpPr>
        <p:spPr>
          <a:xfrm>
            <a:off x="640080" y="3246120"/>
            <a:ext cx="1600200" cy="603504"/>
          </a:xfrm>
          <a:prstGeom prst="roundRect">
            <a:avLst>
              <a:gd name="adj" fmla="val 9091"/>
            </a:avLst>
          </a:prstGeom>
          <a:solidFill>
            <a:srgbClr val="DDF1EE"/>
          </a:solidFill>
          <a:ln w="9525">
            <a:solidFill>
              <a:srgbClr val="2A9D8F"/>
            </a:solidFill>
            <a:prstDash val="solid"/>
          </a:ln>
        </p:spPr>
        <p:txBody>
          <a:bodyPr/>
          <a:lstStyle/>
          <a:p>
            <a:endParaRPr lang="en-GB"/>
          </a:p>
        </p:txBody>
      </p:sp>
      <p:sp>
        <p:nvSpPr>
          <p:cNvPr id="11" name="Text 9"/>
          <p:cNvSpPr txBox="1"/>
          <p:nvPr/>
        </p:nvSpPr>
        <p:spPr>
          <a:xfrm>
            <a:off x="640080" y="3246120"/>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GetCustomerInfo</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a:t>
            </a:r>
            <a:endParaRPr lang="en-US" sz="1100" dirty="0"/>
          </a:p>
        </p:txBody>
      </p:sp>
      <p:sp>
        <p:nvSpPr>
          <p:cNvPr id="12" name="subroutine GetPizzaCount"/>
          <p:cNvSpPr/>
          <p:nvPr/>
        </p:nvSpPr>
        <p:spPr>
          <a:xfrm>
            <a:off x="640080" y="3959352"/>
            <a:ext cx="1600200" cy="603504"/>
          </a:xfrm>
          <a:prstGeom prst="roundRect">
            <a:avLst>
              <a:gd name="adj" fmla="val 9091"/>
            </a:avLst>
          </a:prstGeom>
          <a:solidFill>
            <a:srgbClr val="DDF1EE"/>
          </a:solidFill>
          <a:ln w="9525">
            <a:solidFill>
              <a:srgbClr val="2A9D8F"/>
            </a:solidFill>
            <a:prstDash val="solid"/>
          </a:ln>
        </p:spPr>
        <p:txBody>
          <a:bodyPr/>
          <a:lstStyle/>
          <a:p>
            <a:endParaRPr lang="en-GB"/>
          </a:p>
        </p:txBody>
      </p:sp>
      <p:sp>
        <p:nvSpPr>
          <p:cNvPr id="13" name="Text 11"/>
          <p:cNvSpPr txBox="1"/>
          <p:nvPr/>
        </p:nvSpPr>
        <p:spPr>
          <a:xfrm>
            <a:off x="640080" y="3959352"/>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GetPizzaCount</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R2</a:t>
            </a:r>
            <a:endParaRPr lang="en-US" sz="1100" dirty="0"/>
          </a:p>
        </p:txBody>
      </p:sp>
      <p:sp>
        <p:nvSpPr>
          <p:cNvPr id="14" name="subroutine GetPizzaChoices"/>
          <p:cNvSpPr/>
          <p:nvPr/>
        </p:nvSpPr>
        <p:spPr>
          <a:xfrm>
            <a:off x="640080" y="4672584"/>
            <a:ext cx="1600200" cy="603504"/>
          </a:xfrm>
          <a:prstGeom prst="roundRect">
            <a:avLst>
              <a:gd name="adj" fmla="val 9091"/>
            </a:avLst>
          </a:prstGeom>
          <a:solidFill>
            <a:srgbClr val="DDF1EE"/>
          </a:solidFill>
          <a:ln w="9525">
            <a:solidFill>
              <a:srgbClr val="2A9D8F"/>
            </a:solidFill>
            <a:prstDash val="solid"/>
          </a:ln>
        </p:spPr>
        <p:txBody>
          <a:bodyPr/>
          <a:lstStyle/>
          <a:p>
            <a:endParaRPr lang="en-GB"/>
          </a:p>
        </p:txBody>
      </p:sp>
      <p:sp>
        <p:nvSpPr>
          <p:cNvPr id="15" name="Text 13"/>
          <p:cNvSpPr txBox="1"/>
          <p:nvPr/>
        </p:nvSpPr>
        <p:spPr>
          <a:xfrm>
            <a:off x="640080" y="4672584"/>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GetPizzaChoices</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R3, R4</a:t>
            </a:r>
            <a:endParaRPr lang="en-US" sz="1100" dirty="0"/>
          </a:p>
        </p:txBody>
      </p:sp>
      <p:sp>
        <p:nvSpPr>
          <p:cNvPr id="16" name="subroutine GetDeliveryOption"/>
          <p:cNvSpPr/>
          <p:nvPr/>
        </p:nvSpPr>
        <p:spPr>
          <a:xfrm>
            <a:off x="640080" y="5385816"/>
            <a:ext cx="1600200" cy="603504"/>
          </a:xfrm>
          <a:prstGeom prst="roundRect">
            <a:avLst>
              <a:gd name="adj" fmla="val 9091"/>
            </a:avLst>
          </a:prstGeom>
          <a:solidFill>
            <a:srgbClr val="DDF1EE"/>
          </a:solidFill>
          <a:ln w="9525">
            <a:solidFill>
              <a:srgbClr val="2A9D8F"/>
            </a:solidFill>
            <a:prstDash val="solid"/>
          </a:ln>
        </p:spPr>
        <p:txBody>
          <a:bodyPr/>
          <a:lstStyle/>
          <a:p>
            <a:endParaRPr lang="en-GB"/>
          </a:p>
        </p:txBody>
      </p:sp>
      <p:sp>
        <p:nvSpPr>
          <p:cNvPr id="17" name="Text 15"/>
          <p:cNvSpPr txBox="1"/>
          <p:nvPr/>
        </p:nvSpPr>
        <p:spPr>
          <a:xfrm>
            <a:off x="640080" y="5385816"/>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GetDeliveryOption</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R5</a:t>
            </a:r>
            <a:endParaRPr lang="en-US" sz="1100" dirty="0"/>
          </a:p>
        </p:txBody>
      </p:sp>
      <p:sp>
        <p:nvSpPr>
          <p:cNvPr id="18" name="connector drop"/>
          <p:cNvSpPr/>
          <p:nvPr/>
        </p:nvSpPr>
        <p:spPr>
          <a:xfrm>
            <a:off x="3436620" y="2212848"/>
            <a:ext cx="0" cy="210312"/>
          </a:xfrm>
          <a:prstGeom prst="line">
            <a:avLst/>
          </a:prstGeom>
          <a:noFill/>
          <a:ln w="15875">
            <a:solidFill>
              <a:srgbClr val="7A8CA8"/>
            </a:solidFill>
            <a:prstDash val="solid"/>
          </a:ln>
        </p:spPr>
        <p:txBody>
          <a:bodyPr/>
          <a:lstStyle/>
          <a:p>
            <a:endParaRPr lang="en-GB"/>
          </a:p>
        </p:txBody>
      </p:sp>
      <p:sp>
        <p:nvSpPr>
          <p:cNvPr id="19" name="module Pizza costs"/>
          <p:cNvSpPr/>
          <p:nvPr/>
        </p:nvSpPr>
        <p:spPr>
          <a:xfrm>
            <a:off x="2545080" y="2423160"/>
            <a:ext cx="1783080" cy="658368"/>
          </a:xfrm>
          <a:prstGeom prst="roundRect">
            <a:avLst>
              <a:gd name="adj" fmla="val 11111"/>
            </a:avLst>
          </a:prstGeom>
          <a:solidFill>
            <a:srgbClr val="1F3A6B"/>
          </a:solidFill>
          <a:ln w="12700">
            <a:solidFill>
              <a:srgbClr val="1F3A6B"/>
            </a:solidFill>
            <a:prstDash val="solid"/>
          </a:ln>
        </p:spPr>
        <p:txBody>
          <a:bodyPr/>
          <a:lstStyle/>
          <a:p>
            <a:endParaRPr lang="en-GB"/>
          </a:p>
        </p:txBody>
      </p:sp>
      <p:sp>
        <p:nvSpPr>
          <p:cNvPr id="20" name="Text 18"/>
          <p:cNvSpPr txBox="1"/>
          <p:nvPr/>
        </p:nvSpPr>
        <p:spPr>
          <a:xfrm>
            <a:off x="2545080" y="2423160"/>
            <a:ext cx="1783080" cy="65836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Pizza costs</a:t>
            </a:r>
            <a:endParaRPr lang="en-US" sz="1400" dirty="0"/>
          </a:p>
          <a:p>
            <a:pPr marL="0" indent="0" algn="ctr">
              <a:buNone/>
            </a:pPr>
            <a:r>
              <a:rPr lang="en-US" sz="1100" dirty="0">
                <a:solidFill>
                  <a:srgbClr val="DDE5F5"/>
                </a:solidFill>
                <a:latin typeface="Calibri" pitchFamily="34" charset="0"/>
                <a:ea typeface="Calibri" pitchFamily="34" charset="-122"/>
                <a:cs typeface="Calibri" pitchFamily="34" charset="-120"/>
              </a:rPr>
              <a:t>2 · Process</a:t>
            </a:r>
            <a:endParaRPr lang="en-US" sz="1400" dirty="0"/>
          </a:p>
        </p:txBody>
      </p:sp>
      <p:sp>
        <p:nvSpPr>
          <p:cNvPr id="21" name="subroutine GetSizePrice"/>
          <p:cNvSpPr/>
          <p:nvPr/>
        </p:nvSpPr>
        <p:spPr>
          <a:xfrm>
            <a:off x="2636520" y="3246120"/>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22" name="Text 20"/>
          <p:cNvSpPr txBox="1"/>
          <p:nvPr/>
        </p:nvSpPr>
        <p:spPr>
          <a:xfrm>
            <a:off x="2636520" y="3246120"/>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GetSizePrice</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R6</a:t>
            </a:r>
            <a:endParaRPr lang="en-US" sz="1100" dirty="0"/>
          </a:p>
        </p:txBody>
      </p:sp>
      <p:sp>
        <p:nvSpPr>
          <p:cNvPr id="23" name="subroutine GetToppingCharge"/>
          <p:cNvSpPr/>
          <p:nvPr/>
        </p:nvSpPr>
        <p:spPr>
          <a:xfrm>
            <a:off x="2636520" y="3959352"/>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24" name="Text 22"/>
          <p:cNvSpPr txBox="1"/>
          <p:nvPr/>
        </p:nvSpPr>
        <p:spPr>
          <a:xfrm>
            <a:off x="2636520" y="3959352"/>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GetToppingCharge</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R7</a:t>
            </a:r>
            <a:endParaRPr lang="en-US" sz="1100" dirty="0"/>
          </a:p>
        </p:txBody>
      </p:sp>
      <p:sp>
        <p:nvSpPr>
          <p:cNvPr id="25" name="subroutine CalculatePizzaCosts"/>
          <p:cNvSpPr/>
          <p:nvPr/>
        </p:nvSpPr>
        <p:spPr>
          <a:xfrm>
            <a:off x="2636520" y="4672584"/>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26" name="Text 24"/>
          <p:cNvSpPr txBox="1"/>
          <p:nvPr/>
        </p:nvSpPr>
        <p:spPr>
          <a:xfrm>
            <a:off x="2636520" y="4672584"/>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CalculatePizzaCosts</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R6, R7</a:t>
            </a:r>
            <a:endParaRPr lang="en-US" sz="1100" dirty="0"/>
          </a:p>
        </p:txBody>
      </p:sp>
      <p:sp>
        <p:nvSpPr>
          <p:cNvPr id="27" name="connector drop"/>
          <p:cNvSpPr/>
          <p:nvPr/>
        </p:nvSpPr>
        <p:spPr>
          <a:xfrm>
            <a:off x="5433060" y="2212848"/>
            <a:ext cx="0" cy="210312"/>
          </a:xfrm>
          <a:prstGeom prst="line">
            <a:avLst/>
          </a:prstGeom>
          <a:noFill/>
          <a:ln w="15875">
            <a:solidFill>
              <a:srgbClr val="7A8CA8"/>
            </a:solidFill>
            <a:prstDash val="solid"/>
          </a:ln>
        </p:spPr>
        <p:txBody>
          <a:bodyPr/>
          <a:lstStyle/>
          <a:p>
            <a:endParaRPr lang="en-GB"/>
          </a:p>
        </p:txBody>
      </p:sp>
      <p:sp>
        <p:nvSpPr>
          <p:cNvPr id="28" name="module Order totals"/>
          <p:cNvSpPr/>
          <p:nvPr/>
        </p:nvSpPr>
        <p:spPr>
          <a:xfrm>
            <a:off x="4541520" y="2423160"/>
            <a:ext cx="1783080" cy="658368"/>
          </a:xfrm>
          <a:prstGeom prst="roundRect">
            <a:avLst>
              <a:gd name="adj" fmla="val 11111"/>
            </a:avLst>
          </a:prstGeom>
          <a:solidFill>
            <a:srgbClr val="1F3A6B"/>
          </a:solidFill>
          <a:ln w="12700">
            <a:solidFill>
              <a:srgbClr val="1F3A6B"/>
            </a:solidFill>
            <a:prstDash val="solid"/>
          </a:ln>
        </p:spPr>
        <p:txBody>
          <a:bodyPr/>
          <a:lstStyle/>
          <a:p>
            <a:endParaRPr lang="en-GB"/>
          </a:p>
        </p:txBody>
      </p:sp>
      <p:sp>
        <p:nvSpPr>
          <p:cNvPr id="29" name="Text 27"/>
          <p:cNvSpPr txBox="1"/>
          <p:nvPr/>
        </p:nvSpPr>
        <p:spPr>
          <a:xfrm>
            <a:off x="4541520" y="2423160"/>
            <a:ext cx="1783080" cy="65836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Order totals</a:t>
            </a:r>
            <a:endParaRPr lang="en-US" sz="1400" dirty="0"/>
          </a:p>
          <a:p>
            <a:pPr marL="0" indent="0" algn="ctr">
              <a:buNone/>
            </a:pPr>
            <a:r>
              <a:rPr lang="en-US" sz="1100" dirty="0">
                <a:solidFill>
                  <a:srgbClr val="DDE5F5"/>
                </a:solidFill>
                <a:latin typeface="Calibri" pitchFamily="34" charset="0"/>
                <a:ea typeface="Calibri" pitchFamily="34" charset="-122"/>
                <a:cs typeface="Calibri" pitchFamily="34" charset="-120"/>
              </a:rPr>
              <a:t>3 · Process</a:t>
            </a:r>
            <a:endParaRPr lang="en-US" sz="1400" dirty="0"/>
          </a:p>
        </p:txBody>
      </p:sp>
      <p:sp>
        <p:nvSpPr>
          <p:cNvPr id="30" name="subroutine CalculateSubtotal"/>
          <p:cNvSpPr/>
          <p:nvPr/>
        </p:nvSpPr>
        <p:spPr>
          <a:xfrm>
            <a:off x="4632960" y="3246120"/>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31" name="Text 29"/>
          <p:cNvSpPr txBox="1"/>
          <p:nvPr/>
        </p:nvSpPr>
        <p:spPr>
          <a:xfrm>
            <a:off x="4632960" y="3246120"/>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CalculateSubtotal</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R8</a:t>
            </a:r>
            <a:endParaRPr lang="en-US" sz="1100" dirty="0"/>
          </a:p>
        </p:txBody>
      </p:sp>
      <p:sp>
        <p:nvSpPr>
          <p:cNvPr id="32" name="subroutine CalculateDiscount"/>
          <p:cNvSpPr/>
          <p:nvPr/>
        </p:nvSpPr>
        <p:spPr>
          <a:xfrm>
            <a:off x="4632960" y="3959352"/>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33" name="Text 31"/>
          <p:cNvSpPr txBox="1"/>
          <p:nvPr/>
        </p:nvSpPr>
        <p:spPr>
          <a:xfrm>
            <a:off x="4632960" y="3959352"/>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CalculateDiscount</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R9</a:t>
            </a:r>
            <a:endParaRPr lang="en-US" sz="1100" dirty="0"/>
          </a:p>
        </p:txBody>
      </p:sp>
      <p:sp>
        <p:nvSpPr>
          <p:cNvPr id="34" name="subroutine GetDeliveryCharge"/>
          <p:cNvSpPr/>
          <p:nvPr/>
        </p:nvSpPr>
        <p:spPr>
          <a:xfrm>
            <a:off x="4632960" y="4672584"/>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35" name="Text 33"/>
          <p:cNvSpPr txBox="1"/>
          <p:nvPr/>
        </p:nvSpPr>
        <p:spPr>
          <a:xfrm>
            <a:off x="4632960" y="4672584"/>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GetDeliveryCharge</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R10</a:t>
            </a:r>
            <a:endParaRPr lang="en-US" sz="1100" dirty="0"/>
          </a:p>
        </p:txBody>
      </p:sp>
      <p:sp>
        <p:nvSpPr>
          <p:cNvPr id="36" name="subroutine CalculateFinalTotal"/>
          <p:cNvSpPr/>
          <p:nvPr/>
        </p:nvSpPr>
        <p:spPr>
          <a:xfrm>
            <a:off x="4632960" y="5385816"/>
            <a:ext cx="1600200" cy="603504"/>
          </a:xfrm>
          <a:prstGeom prst="roundRect">
            <a:avLst>
              <a:gd name="adj" fmla="val 9091"/>
            </a:avLst>
          </a:prstGeom>
          <a:solidFill>
            <a:srgbClr val="DCE4F3"/>
          </a:solidFill>
          <a:ln w="9525">
            <a:solidFill>
              <a:srgbClr val="1F3A6B"/>
            </a:solidFill>
            <a:prstDash val="solid"/>
          </a:ln>
        </p:spPr>
        <p:txBody>
          <a:bodyPr/>
          <a:lstStyle/>
          <a:p>
            <a:endParaRPr lang="en-GB"/>
          </a:p>
        </p:txBody>
      </p:sp>
      <p:sp>
        <p:nvSpPr>
          <p:cNvPr id="37" name="Text 35"/>
          <p:cNvSpPr txBox="1"/>
          <p:nvPr/>
        </p:nvSpPr>
        <p:spPr>
          <a:xfrm>
            <a:off x="4632960" y="5385816"/>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CalculateFinalTotal</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R11</a:t>
            </a:r>
            <a:endParaRPr lang="en-US" sz="1100" dirty="0"/>
          </a:p>
        </p:txBody>
      </p:sp>
      <p:sp>
        <p:nvSpPr>
          <p:cNvPr id="38" name="connector drop"/>
          <p:cNvSpPr/>
          <p:nvPr/>
        </p:nvSpPr>
        <p:spPr>
          <a:xfrm>
            <a:off x="7429500" y="2212848"/>
            <a:ext cx="0" cy="210312"/>
          </a:xfrm>
          <a:prstGeom prst="line">
            <a:avLst/>
          </a:prstGeom>
          <a:noFill/>
          <a:ln w="15875">
            <a:solidFill>
              <a:srgbClr val="7A8CA8"/>
            </a:solidFill>
            <a:prstDash val="solid"/>
          </a:ln>
        </p:spPr>
        <p:txBody>
          <a:bodyPr/>
          <a:lstStyle/>
          <a:p>
            <a:endParaRPr lang="en-GB"/>
          </a:p>
        </p:txBody>
      </p:sp>
      <p:sp>
        <p:nvSpPr>
          <p:cNvPr id="39" name="module Itemised bill"/>
          <p:cNvSpPr/>
          <p:nvPr/>
        </p:nvSpPr>
        <p:spPr>
          <a:xfrm>
            <a:off x="6537960" y="2423160"/>
            <a:ext cx="1783080" cy="658368"/>
          </a:xfrm>
          <a:prstGeom prst="roundRect">
            <a:avLst>
              <a:gd name="adj" fmla="val 11111"/>
            </a:avLst>
          </a:prstGeom>
          <a:solidFill>
            <a:srgbClr val="D64541"/>
          </a:solidFill>
          <a:ln w="12700">
            <a:solidFill>
              <a:srgbClr val="D64541"/>
            </a:solidFill>
            <a:prstDash val="solid"/>
          </a:ln>
        </p:spPr>
        <p:txBody>
          <a:bodyPr/>
          <a:lstStyle/>
          <a:p>
            <a:endParaRPr lang="en-GB"/>
          </a:p>
        </p:txBody>
      </p:sp>
      <p:sp>
        <p:nvSpPr>
          <p:cNvPr id="40" name="Text 38"/>
          <p:cNvSpPr txBox="1"/>
          <p:nvPr/>
        </p:nvSpPr>
        <p:spPr>
          <a:xfrm>
            <a:off x="6537960" y="2423160"/>
            <a:ext cx="1783080" cy="658368"/>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Itemised bill</a:t>
            </a:r>
            <a:endParaRPr lang="en-US" sz="1400" dirty="0"/>
          </a:p>
          <a:p>
            <a:pPr marL="0" indent="0" algn="ctr">
              <a:buNone/>
            </a:pPr>
            <a:r>
              <a:rPr lang="en-US" sz="1100" dirty="0">
                <a:solidFill>
                  <a:srgbClr val="DDE5F5"/>
                </a:solidFill>
                <a:latin typeface="Calibri" pitchFamily="34" charset="0"/>
                <a:ea typeface="Calibri" pitchFamily="34" charset="-122"/>
                <a:cs typeface="Calibri" pitchFamily="34" charset="-120"/>
              </a:rPr>
              <a:t>4 · Output</a:t>
            </a:r>
            <a:endParaRPr lang="en-US" sz="1400" dirty="0"/>
          </a:p>
        </p:txBody>
      </p:sp>
      <p:sp>
        <p:nvSpPr>
          <p:cNvPr id="41" name="subroutine DisplayCustomerHeader"/>
          <p:cNvSpPr/>
          <p:nvPr/>
        </p:nvSpPr>
        <p:spPr>
          <a:xfrm>
            <a:off x="6629400" y="3246120"/>
            <a:ext cx="1600200" cy="603504"/>
          </a:xfrm>
          <a:prstGeom prst="roundRect">
            <a:avLst>
              <a:gd name="adj" fmla="val 9091"/>
            </a:avLst>
          </a:prstGeom>
          <a:solidFill>
            <a:srgbClr val="FADEDC"/>
          </a:solidFill>
          <a:ln w="9525">
            <a:solidFill>
              <a:srgbClr val="D64541"/>
            </a:solidFill>
            <a:prstDash val="solid"/>
          </a:ln>
        </p:spPr>
        <p:txBody>
          <a:bodyPr/>
          <a:lstStyle/>
          <a:p>
            <a:endParaRPr lang="en-GB"/>
          </a:p>
        </p:txBody>
      </p:sp>
      <p:sp>
        <p:nvSpPr>
          <p:cNvPr id="42" name="Text 40"/>
          <p:cNvSpPr txBox="1"/>
          <p:nvPr/>
        </p:nvSpPr>
        <p:spPr>
          <a:xfrm>
            <a:off x="6629400" y="3246120"/>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DisplayCustomerHeader</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R12</a:t>
            </a:r>
            <a:endParaRPr lang="en-US" sz="1100" dirty="0"/>
          </a:p>
        </p:txBody>
      </p:sp>
      <p:sp>
        <p:nvSpPr>
          <p:cNvPr id="43" name="subroutine DisplayItemisedPizzas"/>
          <p:cNvSpPr/>
          <p:nvPr/>
        </p:nvSpPr>
        <p:spPr>
          <a:xfrm>
            <a:off x="6629400" y="3959352"/>
            <a:ext cx="1600200" cy="603504"/>
          </a:xfrm>
          <a:prstGeom prst="roundRect">
            <a:avLst>
              <a:gd name="adj" fmla="val 9091"/>
            </a:avLst>
          </a:prstGeom>
          <a:solidFill>
            <a:srgbClr val="FADEDC"/>
          </a:solidFill>
          <a:ln w="9525">
            <a:solidFill>
              <a:srgbClr val="D64541"/>
            </a:solidFill>
            <a:prstDash val="solid"/>
          </a:ln>
        </p:spPr>
        <p:txBody>
          <a:bodyPr/>
          <a:lstStyle/>
          <a:p>
            <a:endParaRPr lang="en-GB"/>
          </a:p>
        </p:txBody>
      </p:sp>
      <p:sp>
        <p:nvSpPr>
          <p:cNvPr id="44" name="Text 42"/>
          <p:cNvSpPr txBox="1"/>
          <p:nvPr/>
        </p:nvSpPr>
        <p:spPr>
          <a:xfrm>
            <a:off x="6629400" y="3959352"/>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DisplayItemisedPizzas</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R12</a:t>
            </a:r>
            <a:endParaRPr lang="en-US" sz="1100" dirty="0"/>
          </a:p>
        </p:txBody>
      </p:sp>
      <p:sp>
        <p:nvSpPr>
          <p:cNvPr id="45" name="subroutine DisplayTotals"/>
          <p:cNvSpPr/>
          <p:nvPr/>
        </p:nvSpPr>
        <p:spPr>
          <a:xfrm>
            <a:off x="6629400" y="4672584"/>
            <a:ext cx="1600200" cy="603504"/>
          </a:xfrm>
          <a:prstGeom prst="roundRect">
            <a:avLst>
              <a:gd name="adj" fmla="val 9091"/>
            </a:avLst>
          </a:prstGeom>
          <a:solidFill>
            <a:srgbClr val="FADEDC"/>
          </a:solidFill>
          <a:ln w="9525">
            <a:solidFill>
              <a:srgbClr val="D64541"/>
            </a:solidFill>
            <a:prstDash val="solid"/>
          </a:ln>
        </p:spPr>
        <p:txBody>
          <a:bodyPr/>
          <a:lstStyle/>
          <a:p>
            <a:endParaRPr lang="en-GB"/>
          </a:p>
        </p:txBody>
      </p:sp>
      <p:sp>
        <p:nvSpPr>
          <p:cNvPr id="46" name="Text 44"/>
          <p:cNvSpPr txBox="1"/>
          <p:nvPr/>
        </p:nvSpPr>
        <p:spPr>
          <a:xfrm>
            <a:off x="6629400" y="4672584"/>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DisplayTotals</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R12</a:t>
            </a:r>
            <a:endParaRPr lang="en-US" sz="1100" dirty="0"/>
          </a:p>
        </p:txBody>
      </p:sp>
      <p:sp>
        <p:nvSpPr>
          <p:cNvPr id="47" name="subroutine DisplayFinalTotal"/>
          <p:cNvSpPr/>
          <p:nvPr/>
        </p:nvSpPr>
        <p:spPr>
          <a:xfrm>
            <a:off x="6629400" y="5385816"/>
            <a:ext cx="1600200" cy="603504"/>
          </a:xfrm>
          <a:prstGeom prst="roundRect">
            <a:avLst>
              <a:gd name="adj" fmla="val 9091"/>
            </a:avLst>
          </a:prstGeom>
          <a:solidFill>
            <a:srgbClr val="FADEDC"/>
          </a:solidFill>
          <a:ln w="9525">
            <a:solidFill>
              <a:srgbClr val="D64541"/>
            </a:solidFill>
            <a:prstDash val="solid"/>
          </a:ln>
        </p:spPr>
        <p:txBody>
          <a:bodyPr/>
          <a:lstStyle/>
          <a:p>
            <a:endParaRPr lang="en-GB"/>
          </a:p>
        </p:txBody>
      </p:sp>
      <p:sp>
        <p:nvSpPr>
          <p:cNvPr id="48" name="Text 46"/>
          <p:cNvSpPr txBox="1"/>
          <p:nvPr/>
        </p:nvSpPr>
        <p:spPr>
          <a:xfrm>
            <a:off x="6629400" y="5385816"/>
            <a:ext cx="1600200" cy="603504"/>
          </a:xfrm>
          <a:prstGeom prst="rect">
            <a:avLst/>
          </a:prstGeom>
          <a:noFill/>
          <a:ln/>
        </p:spPr>
        <p:txBody>
          <a:bodyPr wrap="square" lIns="0" tIns="0" rIns="0" bIns="0" rtlCol="0" anchor="ctr"/>
          <a:lstStyle/>
          <a:p>
            <a:pPr marL="0" indent="0" algn="ctr">
              <a:buNone/>
            </a:pPr>
            <a:r>
              <a:rPr lang="en-US" sz="1100" b="1" dirty="0">
                <a:solidFill>
                  <a:srgbClr val="16264B"/>
                </a:solidFill>
                <a:latin typeface="Calibri" pitchFamily="34" charset="0"/>
                <a:ea typeface="Calibri" pitchFamily="34" charset="-122"/>
                <a:cs typeface="Calibri" pitchFamily="34" charset="-120"/>
              </a:rPr>
              <a:t>DisplayFinalTotal</a:t>
            </a:r>
            <a:endParaRPr lang="en-US" sz="1100" dirty="0"/>
          </a:p>
          <a:p>
            <a:pPr marL="0" indent="0" algn="ctr">
              <a:buNone/>
            </a:pPr>
            <a:r>
              <a:rPr lang="en-US" sz="1000" dirty="0">
                <a:solidFill>
                  <a:srgbClr val="4A5876"/>
                </a:solidFill>
                <a:latin typeface="Calibri" pitchFamily="34" charset="0"/>
                <a:ea typeface="Calibri" pitchFamily="34" charset="-122"/>
                <a:cs typeface="Calibri" pitchFamily="34" charset="-120"/>
              </a:rPr>
              <a:t>R11</a:t>
            </a:r>
            <a:endParaRPr lang="en-US" sz="1100" dirty="0"/>
          </a:p>
        </p:txBody>
      </p:sp>
      <p:sp>
        <p:nvSpPr>
          <p:cNvPr id="49" name="design facts"/>
          <p:cNvSpPr/>
          <p:nvPr/>
        </p:nvSpPr>
        <p:spPr>
          <a:xfrm>
            <a:off x="8686800" y="1417320"/>
            <a:ext cx="2953512" cy="4800600"/>
          </a:xfrm>
          <a:prstGeom prst="roundRect">
            <a:avLst>
              <a:gd name="adj" fmla="val 3096"/>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50" name="Text 48"/>
          <p:cNvSpPr txBox="1"/>
          <p:nvPr/>
        </p:nvSpPr>
        <p:spPr>
          <a:xfrm>
            <a:off x="8961120" y="1645920"/>
            <a:ext cx="2468880" cy="685800"/>
          </a:xfrm>
          <a:prstGeom prst="rect">
            <a:avLst/>
          </a:prstGeom>
          <a:noFill/>
          <a:ln/>
        </p:spPr>
        <p:txBody>
          <a:bodyPr wrap="square" lIns="0" tIns="0" rIns="0" bIns="0" rtlCol="0" anchor="ctr"/>
          <a:lstStyle/>
          <a:p>
            <a:pPr marL="0" indent="0">
              <a:buNone/>
            </a:pPr>
            <a:r>
              <a:rPr lang="en-US" sz="4200" b="1" dirty="0">
                <a:solidFill>
                  <a:schemeClr val="accent1"/>
                </a:solidFill>
                <a:latin typeface="Cambria" pitchFamily="34" charset="0"/>
                <a:ea typeface="Cambria" pitchFamily="34" charset="-122"/>
                <a:cs typeface="Cambria" pitchFamily="34" charset="-120"/>
              </a:rPr>
              <a:t>15</a:t>
            </a:r>
            <a:endParaRPr lang="en-US" sz="4200" dirty="0"/>
          </a:p>
        </p:txBody>
      </p:sp>
      <p:sp>
        <p:nvSpPr>
          <p:cNvPr id="51" name="Text 49"/>
          <p:cNvSpPr txBox="1"/>
          <p:nvPr/>
        </p:nvSpPr>
        <p:spPr>
          <a:xfrm>
            <a:off x="8961120" y="2359152"/>
            <a:ext cx="246888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subroutines, each with one clear job</a:t>
            </a:r>
            <a:endParaRPr lang="en-US" sz="1400" dirty="0"/>
          </a:p>
        </p:txBody>
      </p:sp>
      <p:sp>
        <p:nvSpPr>
          <p:cNvPr id="52" name="Text 50"/>
          <p:cNvSpPr txBox="1"/>
          <p:nvPr/>
        </p:nvSpPr>
        <p:spPr>
          <a:xfrm>
            <a:off x="8961120" y="3154680"/>
            <a:ext cx="2468880" cy="685800"/>
          </a:xfrm>
          <a:prstGeom prst="rect">
            <a:avLst/>
          </a:prstGeom>
          <a:noFill/>
          <a:ln/>
        </p:spPr>
        <p:txBody>
          <a:bodyPr wrap="square" lIns="0" tIns="0" rIns="0" bIns="0" rtlCol="0" anchor="ctr"/>
          <a:lstStyle/>
          <a:p>
            <a:pPr marL="0" indent="0">
              <a:buNone/>
            </a:pPr>
            <a:r>
              <a:rPr lang="en-US" sz="4200" b="1" dirty="0">
                <a:solidFill>
                  <a:schemeClr val="accent3"/>
                </a:solidFill>
                <a:latin typeface="Cambria" pitchFamily="34" charset="0"/>
                <a:ea typeface="Cambria" pitchFamily="34" charset="-122"/>
                <a:cs typeface="Cambria" pitchFamily="34" charset="-120"/>
              </a:rPr>
              <a:t>R1–R12</a:t>
            </a:r>
            <a:endParaRPr lang="en-US" sz="4200" dirty="0"/>
          </a:p>
        </p:txBody>
      </p:sp>
      <p:sp>
        <p:nvSpPr>
          <p:cNvPr id="53" name="Text 51"/>
          <p:cNvSpPr txBox="1"/>
          <p:nvPr/>
        </p:nvSpPr>
        <p:spPr>
          <a:xfrm>
            <a:off x="8961120" y="3867912"/>
            <a:ext cx="246888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every requirement traced to a box on the chart</a:t>
            </a:r>
            <a:endParaRPr lang="en-US" sz="1400" dirty="0"/>
          </a:p>
        </p:txBody>
      </p:sp>
      <p:sp>
        <p:nvSpPr>
          <p:cNvPr id="54" name="Text 52"/>
          <p:cNvSpPr txBox="1"/>
          <p:nvPr/>
        </p:nvSpPr>
        <p:spPr>
          <a:xfrm>
            <a:off x="8961120" y="4663440"/>
            <a:ext cx="2468880" cy="685800"/>
          </a:xfrm>
          <a:prstGeom prst="rect">
            <a:avLst/>
          </a:prstGeom>
          <a:noFill/>
          <a:ln/>
        </p:spPr>
        <p:txBody>
          <a:bodyPr wrap="square" lIns="0" tIns="0" rIns="0" bIns="0" rtlCol="0" anchor="ctr"/>
          <a:lstStyle/>
          <a:p>
            <a:pPr marL="0" indent="0">
              <a:buNone/>
            </a:pPr>
            <a:r>
              <a:rPr lang="en-US" sz="4200" b="1" dirty="0">
                <a:solidFill>
                  <a:schemeClr val="accent1"/>
                </a:solidFill>
                <a:latin typeface="Cambria" pitchFamily="34" charset="0"/>
                <a:ea typeface="Cambria" pitchFamily="34" charset="-122"/>
                <a:cs typeface="Cambria" pitchFamily="34" charset="-120"/>
              </a:rPr>
              <a:t>4</a:t>
            </a:r>
            <a:endParaRPr lang="en-US" sz="4200" dirty="0"/>
          </a:p>
        </p:txBody>
      </p:sp>
      <p:sp>
        <p:nvSpPr>
          <p:cNvPr id="55" name="Text 53"/>
          <p:cNvSpPr txBox="1"/>
          <p:nvPr/>
        </p:nvSpPr>
        <p:spPr>
          <a:xfrm>
            <a:off x="8961120" y="5376672"/>
            <a:ext cx="246888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modules: input, pizza costs, order totals, itemised bill</a:t>
            </a:r>
            <a:endParaRPr lang="en-US" sz="1400" dirty="0"/>
          </a:p>
        </p:txBody>
      </p:sp>
      <p:sp>
        <p:nvSpPr>
          <p:cNvPr id="56"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Live demo: the program running</a:t>
            </a:r>
            <a:endParaRPr lang="en-US" sz="3400" dirty="0"/>
          </a:p>
        </p:txBody>
      </p:sp>
      <p:sp>
        <p:nvSpPr>
          <p:cNvPr id="3" name="demo step 1"/>
          <p:cNvSpPr/>
          <p:nvPr/>
        </p:nvSpPr>
        <p:spPr>
          <a:xfrm>
            <a:off x="548640" y="1463040"/>
            <a:ext cx="566928" cy="566928"/>
          </a:xfrm>
          <a:prstGeom prst="ellipse">
            <a:avLst/>
          </a:prstGeom>
          <a:solidFill>
            <a:schemeClr val="accent2"/>
          </a:solidFill>
          <a:ln w="12700">
            <a:solidFill>
              <a:schemeClr val="accent2"/>
            </a:solidFill>
            <a:prstDash val="solid"/>
          </a:ln>
        </p:spPr>
        <p:txBody>
          <a:bodyPr/>
          <a:lstStyle/>
          <a:p>
            <a:endParaRPr lang="en-GB"/>
          </a:p>
        </p:txBody>
      </p:sp>
      <p:sp>
        <p:nvSpPr>
          <p:cNvPr id="4" name="Text 2"/>
          <p:cNvSpPr txBox="1"/>
          <p:nvPr/>
        </p:nvSpPr>
        <p:spPr>
          <a:xfrm>
            <a:off x="548640" y="1463040"/>
            <a:ext cx="566928" cy="566928"/>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371600" y="1426464"/>
            <a:ext cx="4846320" cy="822960"/>
          </a:xfrm>
          <a:prstGeom prst="rect">
            <a:avLst/>
          </a:prstGeom>
          <a:noFill/>
          <a:ln/>
        </p:spPr>
        <p:txBody>
          <a:bodyPr wrap="square" lIns="0" tIns="0" rIns="0" bIns="0" rtlCol="0" anchor="ctr"/>
          <a:lstStyle/>
          <a:p>
            <a:pPr marL="0" indent="0">
              <a:buNone/>
            </a:pPr>
            <a:r>
              <a:rPr lang="en-US" sz="1700" dirty="0">
                <a:solidFill>
                  <a:schemeClr val="bg1"/>
                </a:solidFill>
                <a:latin typeface="Calibri" pitchFamily="34" charset="0"/>
                <a:ea typeface="Calibri" pitchFamily="34" charset="-122"/>
                <a:cs typeface="Calibri" pitchFamily="34" charset="-120"/>
              </a:rPr>
              <a:t>Open the Flowgorithm file straight from our GitHub repo</a:t>
            </a:r>
            <a:endParaRPr lang="en-US" sz="1700" dirty="0"/>
          </a:p>
        </p:txBody>
      </p:sp>
      <p:sp>
        <p:nvSpPr>
          <p:cNvPr id="6" name="demo step 2"/>
          <p:cNvSpPr/>
          <p:nvPr/>
        </p:nvSpPr>
        <p:spPr>
          <a:xfrm>
            <a:off x="548640" y="2487168"/>
            <a:ext cx="566928" cy="566928"/>
          </a:xfrm>
          <a:prstGeom prst="ellipse">
            <a:avLst/>
          </a:prstGeom>
          <a:solidFill>
            <a:schemeClr val="accent2"/>
          </a:solidFill>
          <a:ln w="12700">
            <a:solidFill>
              <a:schemeClr val="accent2"/>
            </a:solidFill>
            <a:prstDash val="solid"/>
          </a:ln>
        </p:spPr>
        <p:txBody>
          <a:bodyPr/>
          <a:lstStyle/>
          <a:p>
            <a:endParaRPr lang="en-GB"/>
          </a:p>
        </p:txBody>
      </p:sp>
      <p:sp>
        <p:nvSpPr>
          <p:cNvPr id="7" name="Text 5"/>
          <p:cNvSpPr txBox="1"/>
          <p:nvPr/>
        </p:nvSpPr>
        <p:spPr>
          <a:xfrm>
            <a:off x="548640" y="2487168"/>
            <a:ext cx="566928" cy="566928"/>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371600" y="2450592"/>
            <a:ext cx="4846320" cy="822960"/>
          </a:xfrm>
          <a:prstGeom prst="rect">
            <a:avLst/>
          </a:prstGeom>
          <a:noFill/>
          <a:ln/>
        </p:spPr>
        <p:txBody>
          <a:bodyPr wrap="square" lIns="0" tIns="0" rIns="0" bIns="0" rtlCol="0" anchor="ctr"/>
          <a:lstStyle/>
          <a:p>
            <a:pPr marL="0" indent="0">
              <a:buNone/>
            </a:pPr>
            <a:r>
              <a:rPr lang="en-US" sz="1700" dirty="0">
                <a:solidFill>
                  <a:schemeClr val="bg1"/>
                </a:solidFill>
                <a:latin typeface="Calibri" pitchFamily="34" charset="0"/>
                <a:ea typeface="Calibri" pitchFamily="34" charset="-122"/>
                <a:cs typeface="Calibri" pitchFamily="34" charset="-120"/>
              </a:rPr>
              <a:t>Run it and enter the challenge order: Large + 3, Large + 2, Medium + 1, delivery Yes</a:t>
            </a:r>
            <a:endParaRPr lang="en-US" sz="1700" dirty="0"/>
          </a:p>
        </p:txBody>
      </p:sp>
      <p:sp>
        <p:nvSpPr>
          <p:cNvPr id="9" name="demo step 3"/>
          <p:cNvSpPr/>
          <p:nvPr/>
        </p:nvSpPr>
        <p:spPr>
          <a:xfrm>
            <a:off x="548640" y="3511296"/>
            <a:ext cx="566928" cy="566928"/>
          </a:xfrm>
          <a:prstGeom prst="ellipse">
            <a:avLst/>
          </a:prstGeom>
          <a:solidFill>
            <a:schemeClr val="accent2"/>
          </a:solidFill>
          <a:ln w="12700">
            <a:solidFill>
              <a:schemeClr val="accent2"/>
            </a:solidFill>
            <a:prstDash val="solid"/>
          </a:ln>
        </p:spPr>
        <p:txBody>
          <a:bodyPr/>
          <a:lstStyle/>
          <a:p>
            <a:endParaRPr lang="en-GB"/>
          </a:p>
        </p:txBody>
      </p:sp>
      <p:sp>
        <p:nvSpPr>
          <p:cNvPr id="10" name="Text 8"/>
          <p:cNvSpPr txBox="1"/>
          <p:nvPr/>
        </p:nvSpPr>
        <p:spPr>
          <a:xfrm>
            <a:off x="548640" y="3511296"/>
            <a:ext cx="566928" cy="566928"/>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371600" y="3474720"/>
            <a:ext cx="4846320" cy="822960"/>
          </a:xfrm>
          <a:prstGeom prst="rect">
            <a:avLst/>
          </a:prstGeom>
          <a:noFill/>
          <a:ln/>
        </p:spPr>
        <p:txBody>
          <a:bodyPr wrap="square" lIns="0" tIns="0" rIns="0" bIns="0" rtlCol="0" anchor="ctr"/>
          <a:lstStyle/>
          <a:p>
            <a:pPr marL="0" indent="0">
              <a:buNone/>
            </a:pPr>
            <a:r>
              <a:rPr lang="en-US" sz="1700" dirty="0">
                <a:solidFill>
                  <a:schemeClr val="bg1"/>
                </a:solidFill>
                <a:latin typeface="Calibri" pitchFamily="34" charset="0"/>
                <a:ea typeface="Calibri" pitchFamily="34" charset="-122"/>
                <a:cs typeface="Calibri" pitchFamily="34" charset="-120"/>
              </a:rPr>
              <a:t>Read the itemised bill and check each figure</a:t>
            </a:r>
            <a:endParaRPr lang="en-US" sz="1700" dirty="0"/>
          </a:p>
        </p:txBody>
      </p:sp>
      <p:sp>
        <p:nvSpPr>
          <p:cNvPr id="12" name="demo step 4"/>
          <p:cNvSpPr/>
          <p:nvPr/>
        </p:nvSpPr>
        <p:spPr>
          <a:xfrm>
            <a:off x="548640" y="4535424"/>
            <a:ext cx="566928" cy="566928"/>
          </a:xfrm>
          <a:prstGeom prst="ellipse">
            <a:avLst/>
          </a:prstGeom>
          <a:solidFill>
            <a:schemeClr val="accent2"/>
          </a:solidFill>
          <a:ln w="12700">
            <a:solidFill>
              <a:schemeClr val="accent2"/>
            </a:solidFill>
            <a:prstDash val="solid"/>
          </a:ln>
        </p:spPr>
        <p:txBody>
          <a:bodyPr/>
          <a:lstStyle/>
          <a:p>
            <a:endParaRPr lang="en-GB"/>
          </a:p>
        </p:txBody>
      </p:sp>
      <p:sp>
        <p:nvSpPr>
          <p:cNvPr id="13" name="Text 11"/>
          <p:cNvSpPr txBox="1"/>
          <p:nvPr/>
        </p:nvSpPr>
        <p:spPr>
          <a:xfrm>
            <a:off x="548640" y="4535424"/>
            <a:ext cx="566928" cy="566928"/>
          </a:xfrm>
          <a:prstGeom prst="rect">
            <a:avLst/>
          </a:prstGeom>
          <a:noFill/>
          <a:ln/>
        </p:spPr>
        <p:txBody>
          <a:bodyPr wrap="square" lIns="0" tIns="0" rIns="0" bIns="0" rtlCol="0" anchor="ctr"/>
          <a:lstStyle/>
          <a:p>
            <a:pPr marL="0" indent="0" algn="ctr">
              <a:buNone/>
            </a:pPr>
            <a:r>
              <a:rPr lang="en-US" sz="2000" b="1" dirty="0">
                <a:solidFill>
                  <a:schemeClr val="tx2"/>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371600" y="4498848"/>
            <a:ext cx="4846320" cy="822960"/>
          </a:xfrm>
          <a:prstGeom prst="rect">
            <a:avLst/>
          </a:prstGeom>
          <a:noFill/>
          <a:ln/>
        </p:spPr>
        <p:txBody>
          <a:bodyPr wrap="square" lIns="0" tIns="0" rIns="0" bIns="0" rtlCol="0" anchor="ctr"/>
          <a:lstStyle/>
          <a:p>
            <a:pPr marL="0" indent="0">
              <a:buNone/>
            </a:pPr>
            <a:r>
              <a:rPr lang="en-US" sz="1700" dirty="0">
                <a:solidFill>
                  <a:schemeClr val="bg1"/>
                </a:solidFill>
                <a:latin typeface="Calibri" pitchFamily="34" charset="0"/>
                <a:ea typeface="Calibri" pitchFamily="34" charset="-122"/>
                <a:cs typeface="Calibri" pitchFamily="34" charset="-120"/>
              </a:rPr>
              <a:t>Did it match your total from the opening challenge?</a:t>
            </a:r>
            <a:endParaRPr lang="en-US" sz="1700" dirty="0"/>
          </a:p>
        </p:txBody>
      </p:sp>
      <p:pic>
        <p:nvPicPr>
          <p:cNvPr id="15" name="github icon" descr="GitHub"/>
          <p:cNvPicPr>
            <a:picLocks noChangeAspect="1"/>
          </p:cNvPicPr>
          <p:nvPr/>
        </p:nvPicPr>
        <p:blipFill>
          <a:blip r:embed="rId3"/>
          <a:stretch>
            <a:fillRect/>
          </a:stretch>
        </p:blipFill>
        <p:spPr>
          <a:xfrm>
            <a:off x="548640" y="5669280"/>
            <a:ext cx="411480" cy="411480"/>
          </a:xfrm>
          <a:prstGeom prst="rect">
            <a:avLst/>
          </a:prstGeom>
        </p:spPr>
      </p:pic>
      <p:sp>
        <p:nvSpPr>
          <p:cNvPr id="16" name="Text 13"/>
          <p:cNvSpPr txBox="1"/>
          <p:nvPr/>
        </p:nvSpPr>
        <p:spPr>
          <a:xfrm>
            <a:off x="1097280" y="5669280"/>
            <a:ext cx="5120640" cy="411480"/>
          </a:xfrm>
          <a:prstGeom prst="rect">
            <a:avLst/>
          </a:prstGeom>
          <a:noFill/>
          <a:ln/>
        </p:spPr>
        <p:txBody>
          <a:bodyPr wrap="square" lIns="0" tIns="0" rIns="0" bIns="0" rtlCol="0" anchor="ctr"/>
          <a:lstStyle/>
          <a:p>
            <a:pPr marL="0" indent="0">
              <a:buNone/>
            </a:pPr>
            <a:r>
              <a:rPr lang="en-US" sz="1400" i="1" dirty="0">
                <a:solidFill>
                  <a:srgbClr val="C9D3EA"/>
                </a:solidFill>
                <a:latin typeface="Calibri" pitchFamily="34" charset="0"/>
                <a:ea typeface="Calibri" pitchFamily="34" charset="-122"/>
                <a:cs typeface="Calibri" pitchFamily="34" charset="-120"/>
              </a:rPr>
              <a:t>Run live from the repository, not a screenshot</a:t>
            </a:r>
            <a:endParaRPr lang="en-US" sz="1400" dirty="0"/>
          </a:p>
        </p:txBody>
      </p:sp>
      <p:sp>
        <p:nvSpPr>
          <p:cNvPr id="17" name="receipt"/>
          <p:cNvSpPr/>
          <p:nvPr/>
        </p:nvSpPr>
        <p:spPr>
          <a:xfrm>
            <a:off x="6675120" y="1325880"/>
            <a:ext cx="4965192" cy="3931920"/>
          </a:xfrm>
          <a:prstGeom prst="roundRect">
            <a:avLst>
              <a:gd name="adj" fmla="val 2326"/>
            </a:avLst>
          </a:prstGeom>
          <a:solidFill>
            <a:srgbClr val="FFFFFF"/>
          </a:solidFill>
          <a:ln w="12700">
            <a:solidFill>
              <a:srgbClr val="FFFFFF"/>
            </a:solidFill>
            <a:prstDash val="solid"/>
          </a:ln>
          <a:effectLst>
            <a:outerShdw blurRad="177800" dist="50800" dir="5400000" algn="bl" rotWithShape="0">
              <a:srgbClr val="000000">
                <a:alpha val="30000"/>
              </a:srgbClr>
            </a:outerShdw>
          </a:effectLst>
        </p:spPr>
        <p:txBody>
          <a:bodyPr/>
          <a:lstStyle/>
          <a:p>
            <a:endParaRPr lang="en-GB"/>
          </a:p>
        </p:txBody>
      </p:sp>
      <p:sp>
        <p:nvSpPr>
          <p:cNvPr id="18" name="receipt text"/>
          <p:cNvSpPr txBox="1"/>
          <p:nvPr/>
        </p:nvSpPr>
        <p:spPr>
          <a:xfrm>
            <a:off x="6949440" y="1554480"/>
            <a:ext cx="4480560" cy="3566160"/>
          </a:xfrm>
          <a:prstGeom prst="rect">
            <a:avLst/>
          </a:prstGeom>
          <a:noFill/>
          <a:ln/>
        </p:spPr>
        <p:txBody>
          <a:bodyPr wrap="square" lIns="0" tIns="0" rIns="0" bIns="0" rtlCol="0" anchor="t"/>
          <a:lstStyle/>
          <a:p>
            <a:pPr marL="0" indent="0" algn="ctr">
              <a:spcAft>
                <a:spcPts val="800"/>
              </a:spcAft>
              <a:buNone/>
            </a:pPr>
            <a:r>
              <a:rPr lang="en-US" sz="1200" b="1" dirty="0">
                <a:solidFill>
                  <a:srgbClr val="1B2335"/>
                </a:solidFill>
                <a:latin typeface="Courier New" pitchFamily="34" charset="0"/>
                <a:ea typeface="Courier New" pitchFamily="34" charset="-122"/>
                <a:cs typeface="Courier New" pitchFamily="34" charset="-120"/>
              </a:rPr>
              <a:t>PENNINE PIZZA WORKS - ORDER BILL</a:t>
            </a:r>
            <a:endParaRPr lang="en-US" sz="1200" dirty="0"/>
          </a:p>
          <a:p>
            <a:pPr marL="0" indent="0">
              <a:buNone/>
            </a:pPr>
            <a:r>
              <a:rPr lang="en-US" sz="1100" b="1" dirty="0">
                <a:solidFill>
                  <a:srgbClr val="1B2335"/>
                </a:solidFill>
                <a:latin typeface="Courier New" pitchFamily="34" charset="0"/>
                <a:ea typeface="Courier New" pitchFamily="34" charset="-122"/>
                <a:cs typeface="Courier New" pitchFamily="34" charset="-120"/>
              </a:rPr>
              <a:t>Pizza 1: Large, 3 extra toppings</a:t>
            </a:r>
            <a:endParaRPr lang="en-US" sz="1200" dirty="0"/>
          </a:p>
          <a:p>
            <a:pPr marL="0" indent="0">
              <a:spcAft>
                <a:spcPts val="600"/>
              </a:spcAft>
              <a:buNone/>
            </a:pPr>
            <a:r>
              <a:rPr lang="en-US" sz="1100" dirty="0">
                <a:solidFill>
                  <a:srgbClr val="1B2335"/>
                </a:solidFill>
                <a:latin typeface="Courier New" pitchFamily="34" charset="0"/>
                <a:ea typeface="Courier New" pitchFamily="34" charset="-122"/>
                <a:cs typeface="Courier New" pitchFamily="34" charset="-120"/>
              </a:rPr>
              <a:t> Standard £7.15 Toppings £2.00 Pizza cost £9.15</a:t>
            </a:r>
            <a:endParaRPr lang="en-US" sz="1200" dirty="0"/>
          </a:p>
          <a:p>
            <a:pPr marL="0" indent="0">
              <a:buNone/>
            </a:pPr>
            <a:r>
              <a:rPr lang="en-US" sz="1100" b="1" dirty="0">
                <a:solidFill>
                  <a:srgbClr val="1B2335"/>
                </a:solidFill>
                <a:latin typeface="Courier New" pitchFamily="34" charset="0"/>
                <a:ea typeface="Courier New" pitchFamily="34" charset="-122"/>
                <a:cs typeface="Courier New" pitchFamily="34" charset="-120"/>
              </a:rPr>
              <a:t>Pizza 2: Large, 2 extra toppings</a:t>
            </a:r>
            <a:endParaRPr lang="en-US" sz="1200" dirty="0"/>
          </a:p>
          <a:p>
            <a:pPr marL="0" indent="0">
              <a:spcAft>
                <a:spcPts val="600"/>
              </a:spcAft>
              <a:buNone/>
            </a:pPr>
            <a:r>
              <a:rPr lang="en-US" sz="1100" dirty="0">
                <a:solidFill>
                  <a:srgbClr val="1B2335"/>
                </a:solidFill>
                <a:latin typeface="Courier New" pitchFamily="34" charset="0"/>
                <a:ea typeface="Courier New" pitchFamily="34" charset="-122"/>
                <a:cs typeface="Courier New" pitchFamily="34" charset="-120"/>
              </a:rPr>
              <a:t> Standard £7.15 Toppings £1.35 Pizza cost £8.50</a:t>
            </a:r>
            <a:endParaRPr lang="en-US" sz="1200" dirty="0"/>
          </a:p>
          <a:p>
            <a:pPr marL="0" indent="0">
              <a:buNone/>
            </a:pPr>
            <a:r>
              <a:rPr lang="en-US" sz="1100" b="1" dirty="0">
                <a:solidFill>
                  <a:srgbClr val="1B2335"/>
                </a:solidFill>
                <a:latin typeface="Courier New" pitchFamily="34" charset="0"/>
                <a:ea typeface="Courier New" pitchFamily="34" charset="-122"/>
                <a:cs typeface="Courier New" pitchFamily="34" charset="-120"/>
              </a:rPr>
              <a:t>Pizza 3: Medium, 1 extra toppings</a:t>
            </a:r>
            <a:endParaRPr lang="en-US" sz="1200" dirty="0"/>
          </a:p>
          <a:p>
            <a:pPr marL="0" indent="0">
              <a:spcAft>
                <a:spcPts val="1000"/>
              </a:spcAft>
              <a:buNone/>
            </a:pPr>
            <a:r>
              <a:rPr lang="en-US" sz="1100" dirty="0">
                <a:solidFill>
                  <a:srgbClr val="1B2335"/>
                </a:solidFill>
                <a:latin typeface="Courier New" pitchFamily="34" charset="0"/>
                <a:ea typeface="Courier New" pitchFamily="34" charset="-122"/>
                <a:cs typeface="Courier New" pitchFamily="34" charset="-120"/>
              </a:rPr>
              <a:t> Standard £5.50 Toppings £0.75 Pizza cost £6.25</a:t>
            </a:r>
            <a:endParaRPr lang="en-US" sz="1200" dirty="0"/>
          </a:p>
          <a:p>
            <a:pPr marL="0" indent="0">
              <a:spcAft>
                <a:spcPts val="400"/>
              </a:spcAft>
              <a:buNone/>
            </a:pPr>
            <a:r>
              <a:rPr lang="en-US" sz="1100" dirty="0">
                <a:solidFill>
                  <a:srgbClr val="1B2335"/>
                </a:solidFill>
                <a:latin typeface="Courier New" pitchFamily="34" charset="0"/>
                <a:ea typeface="Courier New" pitchFamily="34" charset="-122"/>
                <a:cs typeface="Courier New" pitchFamily="34" charset="-120"/>
              </a:rPr>
              <a:t>-------------------------------------------</a:t>
            </a:r>
            <a:endParaRPr lang="en-US" sz="1200" dirty="0"/>
          </a:p>
          <a:p>
            <a:pPr marL="0" indent="0">
              <a:buNone/>
            </a:pPr>
            <a:r>
              <a:rPr lang="en-US" sz="1100" dirty="0">
                <a:solidFill>
                  <a:srgbClr val="1B2335"/>
                </a:solidFill>
                <a:latin typeface="Courier New" pitchFamily="34" charset="0"/>
                <a:ea typeface="Courier New" pitchFamily="34" charset="-122"/>
                <a:cs typeface="Courier New" pitchFamily="34" charset="-120"/>
              </a:rPr>
              <a:t>Subtotal:        £23.90</a:t>
            </a:r>
            <a:endParaRPr lang="en-US" sz="1200" dirty="0"/>
          </a:p>
          <a:p>
            <a:pPr marL="0" indent="0">
              <a:buNone/>
            </a:pPr>
            <a:r>
              <a:rPr lang="en-US" sz="1100" dirty="0">
                <a:solidFill>
                  <a:srgbClr val="1B2335"/>
                </a:solidFill>
                <a:latin typeface="Courier New" pitchFamily="34" charset="0"/>
                <a:ea typeface="Courier New" pitchFamily="34" charset="-122"/>
                <a:cs typeface="Courier New" pitchFamily="34" charset="-120"/>
              </a:rPr>
              <a:t>Discount:        -£2.39</a:t>
            </a:r>
            <a:endParaRPr lang="en-US" sz="1200" dirty="0"/>
          </a:p>
          <a:p>
            <a:pPr marL="0" indent="0">
              <a:spcAft>
                <a:spcPts val="400"/>
              </a:spcAft>
              <a:buNone/>
            </a:pPr>
            <a:r>
              <a:rPr lang="en-US" sz="1100" dirty="0">
                <a:solidFill>
                  <a:srgbClr val="1B2335"/>
                </a:solidFill>
                <a:latin typeface="Courier New" pitchFamily="34" charset="0"/>
                <a:ea typeface="Courier New" pitchFamily="34" charset="-122"/>
                <a:cs typeface="Courier New" pitchFamily="34" charset="-120"/>
              </a:rPr>
              <a:t>Delivery charge: £2.50</a:t>
            </a:r>
            <a:endParaRPr lang="en-US" sz="1200" dirty="0"/>
          </a:p>
          <a:p>
            <a:pPr marL="0" indent="0">
              <a:spcAft>
                <a:spcPts val="600"/>
              </a:spcAft>
              <a:buNone/>
            </a:pPr>
            <a:r>
              <a:rPr lang="en-US" sz="1100" dirty="0">
                <a:solidFill>
                  <a:srgbClr val="1B2335"/>
                </a:solidFill>
                <a:latin typeface="Courier New" pitchFamily="34" charset="0"/>
                <a:ea typeface="Courier New" pitchFamily="34" charset="-122"/>
                <a:cs typeface="Courier New" pitchFamily="34" charset="-120"/>
              </a:rPr>
              <a:t>-------------------------------------------</a:t>
            </a:r>
            <a:endParaRPr lang="en-US" sz="1200" dirty="0"/>
          </a:p>
          <a:p>
            <a:pPr marL="0" indent="0">
              <a:buNone/>
            </a:pPr>
            <a:r>
              <a:rPr lang="en-US" sz="1800" b="1" dirty="0">
                <a:solidFill>
                  <a:srgbClr val="1E7A6E"/>
                </a:solidFill>
                <a:latin typeface="Courier New" pitchFamily="34" charset="0"/>
                <a:ea typeface="Courier New" pitchFamily="34" charset="-122"/>
                <a:cs typeface="Courier New" pitchFamily="34" charset="-120"/>
              </a:rPr>
              <a:t>FINAL TOTAL: £24.01</a:t>
            </a:r>
            <a:endParaRPr lang="en-US" sz="1200" dirty="0"/>
          </a:p>
        </p:txBody>
      </p:sp>
      <p:sp>
        <p:nvSpPr>
          <p:cNvPr id="19" name="demo check"/>
          <p:cNvSpPr/>
          <p:nvPr/>
        </p:nvSpPr>
        <p:spPr>
          <a:xfrm>
            <a:off x="6675120" y="5440680"/>
            <a:ext cx="4965192" cy="777240"/>
          </a:xfrm>
          <a:prstGeom prst="roundRect">
            <a:avLst>
              <a:gd name="adj" fmla="val 11765"/>
            </a:avLst>
          </a:prstGeom>
          <a:solidFill>
            <a:schemeClr val="accent1"/>
          </a:solidFill>
          <a:ln w="12700">
            <a:solidFill>
              <a:schemeClr val="accent1"/>
            </a:solidFill>
            <a:prstDash val="solid"/>
          </a:ln>
        </p:spPr>
        <p:txBody>
          <a:bodyPr/>
          <a:lstStyle/>
          <a:p>
            <a:endParaRPr lang="en-GB"/>
          </a:p>
        </p:txBody>
      </p:sp>
      <p:sp>
        <p:nvSpPr>
          <p:cNvPr id="20" name="Text 17"/>
          <p:cNvSpPr txBox="1"/>
          <p:nvPr/>
        </p:nvSpPr>
        <p:spPr>
          <a:xfrm>
            <a:off x="6903720" y="5440680"/>
            <a:ext cx="4526280" cy="77724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Matches the hand-worked answer: 9.15 + 8.50 + 6.25 = £23.90, minus 10%, plus £2.50 delivery = £24.01</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Testing: 19 tests, 3 kinds of data</a:t>
            </a:r>
            <a:endParaRPr lang="en-US" sz="3400" dirty="0"/>
          </a:p>
        </p:txBody>
      </p:sp>
      <p:sp>
        <p:nvSpPr>
          <p:cNvPr id="3" name="test type Normal"/>
          <p:cNvSpPr/>
          <p:nvPr/>
        </p:nvSpPr>
        <p:spPr>
          <a:xfrm>
            <a:off x="548640" y="1417320"/>
            <a:ext cx="667512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Normal circle"/>
          <p:cNvSpPr/>
          <p:nvPr/>
        </p:nvSpPr>
        <p:spPr>
          <a:xfrm>
            <a:off x="822960" y="1764792"/>
            <a:ext cx="777240" cy="777240"/>
          </a:xfrm>
          <a:prstGeom prst="ellipse">
            <a:avLst/>
          </a:prstGeom>
          <a:solidFill>
            <a:srgbClr val="2A9D8F"/>
          </a:solidFill>
          <a:ln w="12700">
            <a:solidFill>
              <a:srgbClr val="2A9D8F"/>
            </a:solidFill>
            <a:prstDash val="solid"/>
          </a:ln>
        </p:spPr>
        <p:txBody>
          <a:bodyPr/>
          <a:lstStyle/>
          <a:p>
            <a:endParaRPr lang="en-GB"/>
          </a:p>
        </p:txBody>
      </p:sp>
      <p:pic>
        <p:nvPicPr>
          <p:cNvPr id="5" name="Normal icon" descr="Normal"/>
          <p:cNvPicPr>
            <a:picLocks noChangeAspect="1"/>
          </p:cNvPicPr>
          <p:nvPr/>
        </p:nvPicPr>
        <p:blipFill>
          <a:blip r:embed="rId3"/>
          <a:stretch>
            <a:fillRect/>
          </a:stretch>
        </p:blipFill>
        <p:spPr>
          <a:xfrm>
            <a:off x="1025042" y="1966874"/>
            <a:ext cx="373075" cy="373075"/>
          </a:xfrm>
          <a:prstGeom prst="rect">
            <a:avLst/>
          </a:prstGeom>
        </p:spPr>
      </p:pic>
      <p:sp>
        <p:nvSpPr>
          <p:cNvPr id="6" name="Text 3"/>
          <p:cNvSpPr txBox="1"/>
          <p:nvPr/>
        </p:nvSpPr>
        <p:spPr>
          <a:xfrm>
            <a:off x="1920240" y="1600200"/>
            <a:ext cx="5029200" cy="365760"/>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Normal</a:t>
            </a:r>
            <a:endParaRPr lang="en-US" sz="2000" dirty="0"/>
          </a:p>
        </p:txBody>
      </p:sp>
      <p:sp>
        <p:nvSpPr>
          <p:cNvPr id="7" name="Text 4"/>
          <p:cNvSpPr txBox="1"/>
          <p:nvPr/>
        </p:nvSpPr>
        <p:spPr>
          <a:xfrm>
            <a:off x="1920240" y="2011680"/>
            <a:ext cx="5029200" cy="3200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Typical orders the program should accept</a:t>
            </a:r>
            <a:endParaRPr lang="en-US" sz="1500" dirty="0"/>
          </a:p>
        </p:txBody>
      </p:sp>
      <p:sp>
        <p:nvSpPr>
          <p:cNvPr id="8" name="Text 5"/>
          <p:cNvSpPr txBox="1"/>
          <p:nvPr/>
        </p:nvSpPr>
        <p:spPr>
          <a:xfrm>
            <a:off x="1920240" y="2350008"/>
            <a:ext cx="5029200" cy="320040"/>
          </a:xfrm>
          <a:prstGeom prst="rect">
            <a:avLst/>
          </a:prstGeom>
          <a:noFill/>
          <a:ln/>
        </p:spPr>
        <p:txBody>
          <a:bodyPr wrap="square" lIns="0" tIns="0" rIns="0" bIns="0" rtlCol="0" anchor="t"/>
          <a:lstStyle/>
          <a:p>
            <a:pPr marL="0" indent="0">
              <a:buNone/>
            </a:pPr>
            <a:r>
              <a:rPr lang="en-US" sz="1400" i="1" dirty="0">
                <a:solidFill>
                  <a:srgbClr val="5A6785"/>
                </a:solidFill>
                <a:latin typeface="Calibri" pitchFamily="34" charset="0"/>
                <a:ea typeface="Calibri" pitchFamily="34" charset="-122"/>
                <a:cs typeface="Calibri" pitchFamily="34" charset="-120"/>
              </a:rPr>
              <a:t>e.g. 3 pizzas, Medium size, delivery Yes</a:t>
            </a:r>
            <a:endParaRPr lang="en-US" sz="1400" dirty="0"/>
          </a:p>
        </p:txBody>
      </p:sp>
      <p:sp>
        <p:nvSpPr>
          <p:cNvPr id="9" name="test type Extreme"/>
          <p:cNvSpPr/>
          <p:nvPr/>
        </p:nvSpPr>
        <p:spPr>
          <a:xfrm>
            <a:off x="548640" y="3063240"/>
            <a:ext cx="667512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0" name="Extreme circle"/>
          <p:cNvSpPr/>
          <p:nvPr/>
        </p:nvSpPr>
        <p:spPr>
          <a:xfrm>
            <a:off x="822960" y="3410712"/>
            <a:ext cx="777240" cy="777240"/>
          </a:xfrm>
          <a:prstGeom prst="ellipse">
            <a:avLst/>
          </a:prstGeom>
          <a:solidFill>
            <a:srgbClr val="E0A82E"/>
          </a:solidFill>
          <a:ln w="12700">
            <a:solidFill>
              <a:srgbClr val="E0A82E"/>
            </a:solidFill>
            <a:prstDash val="solid"/>
          </a:ln>
        </p:spPr>
        <p:txBody>
          <a:bodyPr/>
          <a:lstStyle/>
          <a:p>
            <a:endParaRPr lang="en-GB"/>
          </a:p>
        </p:txBody>
      </p:sp>
      <p:pic>
        <p:nvPicPr>
          <p:cNvPr id="11" name="Extreme icon" descr="Extreme"/>
          <p:cNvPicPr>
            <a:picLocks noChangeAspect="1"/>
          </p:cNvPicPr>
          <p:nvPr/>
        </p:nvPicPr>
        <p:blipFill>
          <a:blip r:embed="rId4"/>
          <a:stretch>
            <a:fillRect/>
          </a:stretch>
        </p:blipFill>
        <p:spPr>
          <a:xfrm>
            <a:off x="1025042" y="3612794"/>
            <a:ext cx="373075" cy="373075"/>
          </a:xfrm>
          <a:prstGeom prst="rect">
            <a:avLst/>
          </a:prstGeom>
        </p:spPr>
      </p:pic>
      <p:sp>
        <p:nvSpPr>
          <p:cNvPr id="12" name="Text 8"/>
          <p:cNvSpPr txBox="1"/>
          <p:nvPr/>
        </p:nvSpPr>
        <p:spPr>
          <a:xfrm>
            <a:off x="1920240" y="3246120"/>
            <a:ext cx="5029200" cy="365760"/>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Extreme</a:t>
            </a:r>
            <a:endParaRPr lang="en-US" sz="2000" dirty="0"/>
          </a:p>
        </p:txBody>
      </p:sp>
      <p:sp>
        <p:nvSpPr>
          <p:cNvPr id="13" name="Text 9"/>
          <p:cNvSpPr txBox="1"/>
          <p:nvPr/>
        </p:nvSpPr>
        <p:spPr>
          <a:xfrm>
            <a:off x="1920240" y="3657600"/>
            <a:ext cx="5029200" cy="3200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Values at and just beyond the limits</a:t>
            </a:r>
            <a:endParaRPr lang="en-US" sz="1500" dirty="0"/>
          </a:p>
        </p:txBody>
      </p:sp>
      <p:sp>
        <p:nvSpPr>
          <p:cNvPr id="14" name="Text 10"/>
          <p:cNvSpPr txBox="1"/>
          <p:nvPr/>
        </p:nvSpPr>
        <p:spPr>
          <a:xfrm>
            <a:off x="1920240" y="3995928"/>
            <a:ext cx="5029200" cy="320040"/>
          </a:xfrm>
          <a:prstGeom prst="rect">
            <a:avLst/>
          </a:prstGeom>
          <a:noFill/>
          <a:ln/>
        </p:spPr>
        <p:txBody>
          <a:bodyPr wrap="square" lIns="0" tIns="0" rIns="0" bIns="0" rtlCol="0" anchor="t"/>
          <a:lstStyle/>
          <a:p>
            <a:pPr marL="0" indent="0">
              <a:buNone/>
            </a:pPr>
            <a:r>
              <a:rPr lang="en-US" sz="1400" i="1" dirty="0">
                <a:solidFill>
                  <a:srgbClr val="5A6785"/>
                </a:solidFill>
                <a:latin typeface="Calibri" pitchFamily="34" charset="0"/>
                <a:ea typeface="Calibri" pitchFamily="34" charset="-122"/>
                <a:cs typeface="Calibri" pitchFamily="34" charset="-120"/>
              </a:rPr>
              <a:t>e.g. 0 and 7 pizzas, a subtotal of exactly £20.00</a:t>
            </a:r>
            <a:endParaRPr lang="en-US" sz="1400" dirty="0"/>
          </a:p>
        </p:txBody>
      </p:sp>
      <p:sp>
        <p:nvSpPr>
          <p:cNvPr id="15" name="test type Abnormal"/>
          <p:cNvSpPr/>
          <p:nvPr/>
        </p:nvSpPr>
        <p:spPr>
          <a:xfrm>
            <a:off x="548640" y="4709160"/>
            <a:ext cx="667512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6" name="Abnormal circle"/>
          <p:cNvSpPr/>
          <p:nvPr/>
        </p:nvSpPr>
        <p:spPr>
          <a:xfrm>
            <a:off x="822960" y="5056632"/>
            <a:ext cx="777240" cy="777240"/>
          </a:xfrm>
          <a:prstGeom prst="ellipse">
            <a:avLst/>
          </a:prstGeom>
          <a:solidFill>
            <a:srgbClr val="D64541"/>
          </a:solidFill>
          <a:ln w="12700">
            <a:solidFill>
              <a:srgbClr val="D64541"/>
            </a:solidFill>
            <a:prstDash val="solid"/>
          </a:ln>
        </p:spPr>
        <p:txBody>
          <a:bodyPr/>
          <a:lstStyle/>
          <a:p>
            <a:endParaRPr lang="en-GB"/>
          </a:p>
        </p:txBody>
      </p:sp>
      <p:pic>
        <p:nvPicPr>
          <p:cNvPr id="17" name="Abnormal icon" descr="Abnormal"/>
          <p:cNvPicPr>
            <a:picLocks noChangeAspect="1"/>
          </p:cNvPicPr>
          <p:nvPr/>
        </p:nvPicPr>
        <p:blipFill>
          <a:blip r:embed="rId5"/>
          <a:stretch>
            <a:fillRect/>
          </a:stretch>
        </p:blipFill>
        <p:spPr>
          <a:xfrm>
            <a:off x="1025042" y="5258714"/>
            <a:ext cx="373075" cy="373075"/>
          </a:xfrm>
          <a:prstGeom prst="rect">
            <a:avLst/>
          </a:prstGeom>
        </p:spPr>
      </p:pic>
      <p:sp>
        <p:nvSpPr>
          <p:cNvPr id="18" name="Text 13"/>
          <p:cNvSpPr txBox="1"/>
          <p:nvPr/>
        </p:nvSpPr>
        <p:spPr>
          <a:xfrm>
            <a:off x="1920240" y="4892040"/>
            <a:ext cx="5029200" cy="365760"/>
          </a:xfrm>
          <a:prstGeom prst="rect">
            <a:avLst/>
          </a:prstGeom>
          <a:noFill/>
          <a:ln/>
        </p:spPr>
        <p:txBody>
          <a:bodyPr wrap="square" lIns="0" tIns="0" rIns="0" bIns="0" rtlCol="0" anchor="t"/>
          <a:lstStyle/>
          <a:p>
            <a:pPr marL="0" indent="0">
              <a:buNone/>
            </a:pPr>
            <a:r>
              <a:rPr lang="en-US" sz="2000" b="1" dirty="0">
                <a:solidFill>
                  <a:schemeClr val="tx2"/>
                </a:solidFill>
                <a:latin typeface="Calibri" pitchFamily="34" charset="0"/>
                <a:ea typeface="Calibri" pitchFamily="34" charset="-122"/>
                <a:cs typeface="Calibri" pitchFamily="34" charset="-120"/>
              </a:rPr>
              <a:t>Abnormal</a:t>
            </a:r>
            <a:endParaRPr lang="en-US" sz="2000" dirty="0"/>
          </a:p>
        </p:txBody>
      </p:sp>
      <p:sp>
        <p:nvSpPr>
          <p:cNvPr id="19" name="Text 14"/>
          <p:cNvSpPr txBox="1"/>
          <p:nvPr/>
        </p:nvSpPr>
        <p:spPr>
          <a:xfrm>
            <a:off x="1920240" y="5303520"/>
            <a:ext cx="5029200" cy="3200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Input the program should reject</a:t>
            </a:r>
            <a:endParaRPr lang="en-US" sz="1500" dirty="0"/>
          </a:p>
        </p:txBody>
      </p:sp>
      <p:sp>
        <p:nvSpPr>
          <p:cNvPr id="20" name="Text 15"/>
          <p:cNvSpPr txBox="1"/>
          <p:nvPr/>
        </p:nvSpPr>
        <p:spPr>
          <a:xfrm>
            <a:off x="1920240" y="5641848"/>
            <a:ext cx="5029200" cy="320040"/>
          </a:xfrm>
          <a:prstGeom prst="rect">
            <a:avLst/>
          </a:prstGeom>
          <a:noFill/>
          <a:ln/>
        </p:spPr>
        <p:txBody>
          <a:bodyPr wrap="square" lIns="0" tIns="0" rIns="0" bIns="0" rtlCol="0" anchor="t"/>
          <a:lstStyle/>
          <a:p>
            <a:pPr marL="0" indent="0">
              <a:buNone/>
            </a:pPr>
            <a:r>
              <a:rPr lang="en-US" sz="1400" i="1" dirty="0">
                <a:solidFill>
                  <a:srgbClr val="5A6785"/>
                </a:solidFill>
                <a:latin typeface="Calibri" pitchFamily="34" charset="0"/>
                <a:ea typeface="Calibri" pitchFamily="34" charset="-122"/>
                <a:cs typeface="Calibri" pitchFamily="34" charset="-120"/>
              </a:rPr>
              <a:t>e.g. abc, -2, XL, Maybe</a:t>
            </a:r>
            <a:endParaRPr lang="en-US" sz="1400" dirty="0"/>
          </a:p>
        </p:txBody>
      </p:sp>
      <p:sp>
        <p:nvSpPr>
          <p:cNvPr id="21" name="results chart card"/>
          <p:cNvSpPr/>
          <p:nvPr/>
        </p:nvSpPr>
        <p:spPr>
          <a:xfrm>
            <a:off x="7498080" y="1417320"/>
            <a:ext cx="4142232" cy="3337560"/>
          </a:xfrm>
          <a:prstGeom prst="roundRect">
            <a:avLst>
              <a:gd name="adj" fmla="val 274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graphicFrame>
        <p:nvGraphicFramePr>
          <p:cNvPr id="22" name="Chart 0"/>
          <p:cNvGraphicFramePr/>
          <p:nvPr/>
        </p:nvGraphicFramePr>
        <p:xfrm>
          <a:off x="7635240" y="1508760"/>
          <a:ext cx="3867912" cy="3154680"/>
        </p:xfrm>
        <a:graphic>
          <a:graphicData uri="http://schemas.openxmlformats.org/drawingml/2006/chart">
            <c:chart xmlns:c="http://schemas.openxmlformats.org/drawingml/2006/chart" xmlns:r="http://schemas.openxmlformats.org/officeDocument/2006/relationships" r:id="rId6"/>
          </a:graphicData>
        </a:graphic>
      </p:graphicFrame>
      <p:sp>
        <p:nvSpPr>
          <p:cNvPr id="23" name="Text 17"/>
          <p:cNvSpPr txBox="1"/>
          <p:nvPr/>
        </p:nvSpPr>
        <p:spPr>
          <a:xfrm>
            <a:off x="8732520" y="2331720"/>
            <a:ext cx="1645920" cy="594360"/>
          </a:xfrm>
          <a:prstGeom prst="rect">
            <a:avLst/>
          </a:prstGeom>
          <a:noFill/>
          <a:ln/>
        </p:spPr>
        <p:txBody>
          <a:bodyPr wrap="square" lIns="0" tIns="0" rIns="0" bIns="0" rtlCol="0" anchor="ctr"/>
          <a:lstStyle/>
          <a:p>
            <a:pPr marL="0" indent="0" algn="ctr">
              <a:buNone/>
            </a:pPr>
            <a:r>
              <a:rPr lang="en-US" sz="4000" b="1" dirty="0">
                <a:solidFill>
                  <a:schemeClr val="tx2"/>
                </a:solidFill>
                <a:latin typeface="Cambria" pitchFamily="34" charset="0"/>
                <a:ea typeface="Cambria" pitchFamily="34" charset="-122"/>
                <a:cs typeface="Cambria" pitchFamily="34" charset="-120"/>
              </a:rPr>
              <a:t>19</a:t>
            </a:r>
            <a:endParaRPr lang="en-US" sz="4000" dirty="0"/>
          </a:p>
        </p:txBody>
      </p:sp>
      <p:sp>
        <p:nvSpPr>
          <p:cNvPr id="24" name="Text 18"/>
          <p:cNvSpPr txBox="1"/>
          <p:nvPr/>
        </p:nvSpPr>
        <p:spPr>
          <a:xfrm>
            <a:off x="8732520" y="2880360"/>
            <a:ext cx="1645920" cy="274320"/>
          </a:xfrm>
          <a:prstGeom prst="rect">
            <a:avLst/>
          </a:prstGeom>
          <a:noFill/>
          <a:ln/>
        </p:spPr>
        <p:txBody>
          <a:bodyPr wrap="square" lIns="0" tIns="0" rIns="0" bIns="0" rtlCol="0" anchor="t"/>
          <a:lstStyle/>
          <a:p>
            <a:pPr marL="0" indent="0" algn="ctr">
              <a:buNone/>
            </a:pPr>
            <a:r>
              <a:rPr lang="en-US" sz="1300" dirty="0">
                <a:solidFill>
                  <a:srgbClr val="5A6785"/>
                </a:solidFill>
                <a:latin typeface="Calibri" pitchFamily="34" charset="0"/>
                <a:ea typeface="Calibri" pitchFamily="34" charset="-122"/>
                <a:cs typeface="Calibri" pitchFamily="34" charset="-120"/>
              </a:rPr>
              <a:t>tests</a:t>
            </a:r>
            <a:endParaRPr lang="en-US" sz="1300" dirty="0"/>
          </a:p>
        </p:txBody>
      </p:sp>
      <p:sp>
        <p:nvSpPr>
          <p:cNvPr id="25" name="boundary proof"/>
          <p:cNvSpPr/>
          <p:nvPr/>
        </p:nvSpPr>
        <p:spPr>
          <a:xfrm>
            <a:off x="7498080" y="4937760"/>
            <a:ext cx="4142232" cy="1280160"/>
          </a:xfrm>
          <a:prstGeom prst="roundRect">
            <a:avLst>
              <a:gd name="adj" fmla="val 7143"/>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6" name="Text 20"/>
          <p:cNvSpPr txBox="1"/>
          <p:nvPr/>
        </p:nvSpPr>
        <p:spPr>
          <a:xfrm>
            <a:off x="7772400" y="504748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BOUNDARY PROOF</a:t>
            </a:r>
            <a:endParaRPr lang="en-US" sz="1200" dirty="0"/>
          </a:p>
        </p:txBody>
      </p:sp>
      <p:sp>
        <p:nvSpPr>
          <p:cNvPr id="27" name="Text 21"/>
          <p:cNvSpPr txBox="1"/>
          <p:nvPr/>
        </p:nvSpPr>
        <p:spPr>
          <a:xfrm>
            <a:off x="7772400" y="5349240"/>
            <a:ext cx="3657600" cy="777240"/>
          </a:xfrm>
          <a:prstGeom prst="rect">
            <a:avLst/>
          </a:prstGeom>
          <a:noFill/>
          <a:ln/>
        </p:spPr>
        <p:txBody>
          <a:bodyPr wrap="square" lIns="0" tIns="0" rIns="0" bIns="0" rtlCol="0" anchor="t"/>
          <a:lstStyle/>
          <a:p>
            <a:pPr marL="0" indent="0">
              <a:spcAft>
                <a:spcPts val="400"/>
              </a:spcAft>
              <a:buNone/>
            </a:pPr>
            <a:r>
              <a:rPr lang="en-US" sz="1500" dirty="0">
                <a:solidFill>
                  <a:schemeClr val="bg1"/>
                </a:solidFill>
                <a:latin typeface="Calibri" pitchFamily="34" charset="0"/>
                <a:ea typeface="Calibri" pitchFamily="34" charset="-122"/>
                <a:cs typeface="Calibri" pitchFamily="34" charset="-120"/>
              </a:rPr>
              <a:t>£20.00 subtotal → discount £0.00</a:t>
            </a:r>
            <a:endParaRPr lang="en-US" sz="1500" dirty="0"/>
          </a:p>
          <a:p>
            <a:pPr marL="0" indent="0">
              <a:spcAft>
                <a:spcPts val="400"/>
              </a:spcAft>
              <a:buNone/>
            </a:pPr>
            <a:r>
              <a:rPr lang="en-US" sz="1500" dirty="0">
                <a:solidFill>
                  <a:schemeClr val="bg1"/>
                </a:solidFill>
                <a:latin typeface="Calibri" pitchFamily="34" charset="0"/>
                <a:ea typeface="Calibri" pitchFamily="34" charset="-122"/>
                <a:cs typeface="Calibri" pitchFamily="34" charset="-120"/>
              </a:rPr>
              <a:t>£20.30 subtotal → discount £2.03</a:t>
            </a:r>
            <a:endParaRPr lang="en-US" sz="1500" dirty="0"/>
          </a:p>
        </p:txBody>
      </p:sp>
      <p:sp>
        <p:nvSpPr>
          <p:cNvPr id="28"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Testing found bugs, so we fixed them</a:t>
            </a:r>
            <a:endParaRPr lang="en-US" sz="3400" dirty="0"/>
          </a:p>
        </p:txBody>
      </p:sp>
      <p:sp>
        <p:nvSpPr>
          <p:cNvPr id="3" name="bug row TC011"/>
          <p:cNvSpPr/>
          <p:nvPr/>
        </p:nvSpPr>
        <p:spPr>
          <a:xfrm>
            <a:off x="548640" y="1417320"/>
            <a:ext cx="11091672"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Text 2"/>
          <p:cNvSpPr txBox="1"/>
          <p:nvPr/>
        </p:nvSpPr>
        <p:spPr>
          <a:xfrm>
            <a:off x="777240" y="1691640"/>
            <a:ext cx="1188720" cy="228600"/>
          </a:xfrm>
          <a:prstGeom prst="rect">
            <a:avLst/>
          </a:prstGeom>
          <a:noFill/>
          <a:ln/>
        </p:spPr>
        <p:txBody>
          <a:bodyPr wrap="square" lIns="0" tIns="0" rIns="0" bIns="0" rtlCol="0" anchor="t"/>
          <a:lstStyle/>
          <a:p>
            <a:pPr marL="0" indent="0">
              <a:buNone/>
            </a:pPr>
            <a:r>
              <a:rPr lang="en-US" sz="1000" b="1" kern="0" spc="100" dirty="0">
                <a:solidFill>
                  <a:srgbClr val="5A6785"/>
                </a:solidFill>
                <a:latin typeface="Calibri" pitchFamily="34" charset="0"/>
                <a:ea typeface="Calibri" pitchFamily="34" charset="-122"/>
                <a:cs typeface="Calibri" pitchFamily="34" charset="-120"/>
              </a:rPr>
              <a:t>FOUND BY</a:t>
            </a:r>
            <a:endParaRPr lang="en-US" sz="1000" dirty="0"/>
          </a:p>
        </p:txBody>
      </p:sp>
      <p:sp>
        <p:nvSpPr>
          <p:cNvPr id="5" name="Text 3"/>
          <p:cNvSpPr txBox="1"/>
          <p:nvPr/>
        </p:nvSpPr>
        <p:spPr>
          <a:xfrm>
            <a:off x="777240" y="1947672"/>
            <a:ext cx="1280160" cy="45720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TC011</a:t>
            </a:r>
            <a:endParaRPr lang="en-US" sz="1800" dirty="0"/>
          </a:p>
        </p:txBody>
      </p:sp>
      <p:sp>
        <p:nvSpPr>
          <p:cNvPr id="6" name="before TC011"/>
          <p:cNvSpPr/>
          <p:nvPr/>
        </p:nvSpPr>
        <p:spPr>
          <a:xfrm>
            <a:off x="2240280" y="1600200"/>
            <a:ext cx="2697480" cy="1097280"/>
          </a:xfrm>
          <a:prstGeom prst="roundRect">
            <a:avLst>
              <a:gd name="adj" fmla="val 6667"/>
            </a:avLst>
          </a:prstGeom>
          <a:solidFill>
            <a:srgbClr val="FADEDC"/>
          </a:solidFill>
          <a:ln w="12700">
            <a:solidFill>
              <a:srgbClr val="FADEDC"/>
            </a:solidFill>
            <a:prstDash val="solid"/>
          </a:ln>
        </p:spPr>
        <p:txBody>
          <a:bodyPr/>
          <a:lstStyle/>
          <a:p>
            <a:endParaRPr lang="en-GB"/>
          </a:p>
        </p:txBody>
      </p:sp>
      <p:sp>
        <p:nvSpPr>
          <p:cNvPr id="7" name="Text 5"/>
          <p:cNvSpPr txBox="1"/>
          <p:nvPr/>
        </p:nvSpPr>
        <p:spPr>
          <a:xfrm>
            <a:off x="2377440" y="1600200"/>
            <a:ext cx="2423160" cy="1097280"/>
          </a:xfrm>
          <a:prstGeom prst="rect">
            <a:avLst/>
          </a:prstGeom>
          <a:noFill/>
          <a:ln/>
        </p:spPr>
        <p:txBody>
          <a:bodyPr wrap="square" lIns="0" tIns="0" rIns="0" bIns="0" rtlCol="0" anchor="ctr"/>
          <a:lstStyle/>
          <a:p>
            <a:pPr marL="0" indent="0">
              <a:buNone/>
            </a:pPr>
            <a:r>
              <a:rPr lang="en-US" sz="1000" b="1" dirty="0">
                <a:solidFill>
                  <a:srgbClr val="A8262B"/>
                </a:solidFill>
                <a:latin typeface="Calibri" pitchFamily="34" charset="0"/>
                <a:ea typeface="Calibri" pitchFamily="34" charset="-122"/>
                <a:cs typeface="Calibri" pitchFamily="34" charset="-120"/>
              </a:rPr>
              <a:t>BEFORE</a:t>
            </a:r>
            <a:endParaRPr lang="en-US" sz="1000" dirty="0"/>
          </a:p>
          <a:p>
            <a:pPr marL="0" indent="0">
              <a:buNone/>
            </a:pPr>
            <a:r>
              <a:rPr lang="en-US" sz="1400" dirty="0">
                <a:solidFill>
                  <a:srgbClr val="1B2335"/>
                </a:solidFill>
                <a:latin typeface="Calibri" pitchFamily="34" charset="0"/>
                <a:ea typeface="Calibri" pitchFamily="34" charset="-122"/>
                <a:cs typeface="Calibri" pitchFamily="34" charset="-120"/>
              </a:rPr>
              <a:t>“-” accepted as the number of toppings</a:t>
            </a:r>
            <a:endParaRPr lang="en-US" sz="1000" dirty="0"/>
          </a:p>
        </p:txBody>
      </p:sp>
      <p:sp>
        <p:nvSpPr>
          <p:cNvPr id="8" name="arrow"/>
          <p:cNvSpPr/>
          <p:nvPr/>
        </p:nvSpPr>
        <p:spPr>
          <a:xfrm>
            <a:off x="5029200" y="2011680"/>
            <a:ext cx="320040" cy="274320"/>
          </a:xfrm>
          <a:prstGeom prst="rightArrow">
            <a:avLst/>
          </a:prstGeom>
          <a:solidFill>
            <a:schemeClr val="accent2"/>
          </a:solidFill>
          <a:ln w="12700">
            <a:solidFill>
              <a:schemeClr val="accent2"/>
            </a:solidFill>
            <a:prstDash val="solid"/>
          </a:ln>
        </p:spPr>
        <p:txBody>
          <a:bodyPr/>
          <a:lstStyle/>
          <a:p>
            <a:endParaRPr lang="en-GB"/>
          </a:p>
        </p:txBody>
      </p:sp>
      <p:sp>
        <p:nvSpPr>
          <p:cNvPr id="9" name="after TC011"/>
          <p:cNvSpPr/>
          <p:nvPr/>
        </p:nvSpPr>
        <p:spPr>
          <a:xfrm>
            <a:off x="5440680" y="1600200"/>
            <a:ext cx="2697480" cy="1097280"/>
          </a:xfrm>
          <a:prstGeom prst="roundRect">
            <a:avLst>
              <a:gd name="adj" fmla="val 6667"/>
            </a:avLst>
          </a:prstGeom>
          <a:solidFill>
            <a:srgbClr val="DDF1EE"/>
          </a:solidFill>
          <a:ln w="12700">
            <a:solidFill>
              <a:srgbClr val="DDF1EE"/>
            </a:solidFill>
            <a:prstDash val="solid"/>
          </a:ln>
        </p:spPr>
        <p:txBody>
          <a:bodyPr/>
          <a:lstStyle/>
          <a:p>
            <a:endParaRPr lang="en-GB"/>
          </a:p>
        </p:txBody>
      </p:sp>
      <p:sp>
        <p:nvSpPr>
          <p:cNvPr id="10" name="Text 8"/>
          <p:cNvSpPr txBox="1"/>
          <p:nvPr/>
        </p:nvSpPr>
        <p:spPr>
          <a:xfrm>
            <a:off x="5577840" y="1600200"/>
            <a:ext cx="2423160" cy="1097280"/>
          </a:xfrm>
          <a:prstGeom prst="rect">
            <a:avLst/>
          </a:prstGeom>
          <a:noFill/>
          <a:ln/>
        </p:spPr>
        <p:txBody>
          <a:bodyPr wrap="square" lIns="0" tIns="0" rIns="0" bIns="0" rtlCol="0" anchor="ctr"/>
          <a:lstStyle/>
          <a:p>
            <a:pPr marL="0" indent="0">
              <a:buNone/>
            </a:pPr>
            <a:r>
              <a:rPr lang="en-US" sz="1000" b="1" dirty="0">
                <a:solidFill>
                  <a:srgbClr val="1E7A6E"/>
                </a:solidFill>
                <a:latin typeface="Calibri" pitchFamily="34" charset="0"/>
                <a:ea typeface="Calibri" pitchFamily="34" charset="-122"/>
                <a:cs typeface="Calibri" pitchFamily="34" charset="-120"/>
              </a:rPr>
              <a:t>AFTER</a:t>
            </a:r>
            <a:endParaRPr lang="en-US" sz="1000" dirty="0"/>
          </a:p>
          <a:p>
            <a:pPr marL="0" indent="0">
              <a:buNone/>
            </a:pPr>
            <a:r>
              <a:rPr lang="en-US" sz="1400" dirty="0">
                <a:solidFill>
                  <a:srgbClr val="1B2335"/>
                </a:solidFill>
                <a:latin typeface="Calibri" pitchFamily="34" charset="0"/>
                <a:ea typeface="Calibri" pitchFamily="34" charset="-122"/>
                <a:cs typeface="Calibri" pitchFamily="34" charset="-120"/>
              </a:rPr>
              <a:t>Rejected: “Invalid. Please enter a whole number, 0 or more”</a:t>
            </a:r>
            <a:endParaRPr lang="en-US" sz="1000" dirty="0"/>
          </a:p>
        </p:txBody>
      </p:sp>
      <p:sp>
        <p:nvSpPr>
          <p:cNvPr id="11" name="Text 9"/>
          <p:cNvSpPr txBox="1"/>
          <p:nvPr/>
        </p:nvSpPr>
        <p:spPr>
          <a:xfrm>
            <a:off x="8366760" y="1600200"/>
            <a:ext cx="3108960" cy="1097280"/>
          </a:xfrm>
          <a:prstGeom prst="rect">
            <a:avLst/>
          </a:prstGeom>
          <a:noFill/>
          <a:ln/>
        </p:spPr>
        <p:txBody>
          <a:bodyPr wrap="square" lIns="0" tIns="0" rIns="0" bIns="0" rtlCol="0" anchor="ctr"/>
          <a:lstStyle/>
          <a:p>
            <a:pPr marL="0" indent="0">
              <a:buNone/>
            </a:pPr>
            <a:r>
              <a:rPr lang="en-US" sz="1000" b="1" dirty="0">
                <a:solidFill>
                  <a:srgbClr val="5A6785"/>
                </a:solidFill>
                <a:latin typeface="Calibri" pitchFamily="34" charset="0"/>
                <a:ea typeface="Calibri" pitchFamily="34" charset="-122"/>
                <a:cs typeface="Calibri" pitchFamily="34" charset="-120"/>
              </a:rPr>
              <a:t>THE FIX</a:t>
            </a:r>
            <a:endParaRPr lang="en-US" sz="1000" dirty="0"/>
          </a:p>
          <a:p>
            <a:pPr marL="0" indent="0">
              <a:buNone/>
            </a:pPr>
            <a:r>
              <a:rPr lang="en-US" sz="1300" dirty="0">
                <a:solidFill>
                  <a:srgbClr val="1B2335"/>
                </a:solidFill>
                <a:latin typeface="Calibri" pitchFamily="34" charset="0"/>
                <a:ea typeface="Calibri" pitchFamily="34" charset="-122"/>
                <a:cs typeface="Calibri" pitchFamily="34" charset="-120"/>
              </a:rPr>
              <a:t>Read the input as text and check every character is a digit using Len, Char and ToCode. Then convert with ToInteger.</a:t>
            </a:r>
            <a:endParaRPr lang="en-US" sz="1000" dirty="0"/>
          </a:p>
        </p:txBody>
      </p:sp>
      <p:sp>
        <p:nvSpPr>
          <p:cNvPr id="12" name="bug row TC008"/>
          <p:cNvSpPr/>
          <p:nvPr/>
        </p:nvSpPr>
        <p:spPr>
          <a:xfrm>
            <a:off x="548640" y="3063240"/>
            <a:ext cx="11091672"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3" name="Text 11"/>
          <p:cNvSpPr txBox="1"/>
          <p:nvPr/>
        </p:nvSpPr>
        <p:spPr>
          <a:xfrm>
            <a:off x="777240" y="3337560"/>
            <a:ext cx="1188720" cy="228600"/>
          </a:xfrm>
          <a:prstGeom prst="rect">
            <a:avLst/>
          </a:prstGeom>
          <a:noFill/>
          <a:ln/>
        </p:spPr>
        <p:txBody>
          <a:bodyPr wrap="square" lIns="0" tIns="0" rIns="0" bIns="0" rtlCol="0" anchor="t"/>
          <a:lstStyle/>
          <a:p>
            <a:pPr marL="0" indent="0">
              <a:buNone/>
            </a:pPr>
            <a:r>
              <a:rPr lang="en-US" sz="1000" b="1" kern="0" spc="100" dirty="0">
                <a:solidFill>
                  <a:srgbClr val="5A6785"/>
                </a:solidFill>
                <a:latin typeface="Calibri" pitchFamily="34" charset="0"/>
                <a:ea typeface="Calibri" pitchFamily="34" charset="-122"/>
                <a:cs typeface="Calibri" pitchFamily="34" charset="-120"/>
              </a:rPr>
              <a:t>FOUND BY</a:t>
            </a:r>
            <a:endParaRPr lang="en-US" sz="1000" dirty="0"/>
          </a:p>
        </p:txBody>
      </p:sp>
      <p:sp>
        <p:nvSpPr>
          <p:cNvPr id="14" name="Text 12"/>
          <p:cNvSpPr txBox="1"/>
          <p:nvPr/>
        </p:nvSpPr>
        <p:spPr>
          <a:xfrm>
            <a:off x="777240" y="3593592"/>
            <a:ext cx="1280160" cy="45720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TC008</a:t>
            </a:r>
            <a:endParaRPr lang="en-US" sz="1800" dirty="0"/>
          </a:p>
        </p:txBody>
      </p:sp>
      <p:sp>
        <p:nvSpPr>
          <p:cNvPr id="15" name="before TC008"/>
          <p:cNvSpPr/>
          <p:nvPr/>
        </p:nvSpPr>
        <p:spPr>
          <a:xfrm>
            <a:off x="2240280" y="3246120"/>
            <a:ext cx="2697480" cy="1097280"/>
          </a:xfrm>
          <a:prstGeom prst="roundRect">
            <a:avLst>
              <a:gd name="adj" fmla="val 6667"/>
            </a:avLst>
          </a:prstGeom>
          <a:solidFill>
            <a:srgbClr val="FADEDC"/>
          </a:solidFill>
          <a:ln w="12700">
            <a:solidFill>
              <a:srgbClr val="FADEDC"/>
            </a:solidFill>
            <a:prstDash val="solid"/>
          </a:ln>
        </p:spPr>
        <p:txBody>
          <a:bodyPr/>
          <a:lstStyle/>
          <a:p>
            <a:endParaRPr lang="en-GB"/>
          </a:p>
        </p:txBody>
      </p:sp>
      <p:sp>
        <p:nvSpPr>
          <p:cNvPr id="16" name="Text 14"/>
          <p:cNvSpPr txBox="1"/>
          <p:nvPr/>
        </p:nvSpPr>
        <p:spPr>
          <a:xfrm>
            <a:off x="2377440" y="3246120"/>
            <a:ext cx="2423160" cy="1097280"/>
          </a:xfrm>
          <a:prstGeom prst="rect">
            <a:avLst/>
          </a:prstGeom>
          <a:noFill/>
          <a:ln/>
        </p:spPr>
        <p:txBody>
          <a:bodyPr wrap="square" lIns="0" tIns="0" rIns="0" bIns="0" rtlCol="0" anchor="ctr"/>
          <a:lstStyle/>
          <a:p>
            <a:pPr marL="0" indent="0">
              <a:buNone/>
            </a:pPr>
            <a:r>
              <a:rPr lang="en-US" sz="1000" b="1" dirty="0">
                <a:solidFill>
                  <a:srgbClr val="A8262B"/>
                </a:solidFill>
                <a:latin typeface="Calibri" pitchFamily="34" charset="0"/>
                <a:ea typeface="Calibri" pitchFamily="34" charset="-122"/>
                <a:cs typeface="Calibri" pitchFamily="34" charset="-120"/>
              </a:rPr>
              <a:t>BEFORE</a:t>
            </a:r>
            <a:endParaRPr lang="en-US" sz="1000" dirty="0"/>
          </a:p>
          <a:p>
            <a:pPr marL="0" indent="0">
              <a:buNone/>
            </a:pPr>
            <a:r>
              <a:rPr lang="en-US" sz="1400" dirty="0">
                <a:solidFill>
                  <a:srgbClr val="1B2335"/>
                </a:solidFill>
                <a:latin typeface="Calibri" pitchFamily="34" charset="0"/>
                <a:ea typeface="Calibri" pitchFamily="34" charset="-122"/>
                <a:cs typeface="Calibri" pitchFamily="34" charset="-120"/>
              </a:rPr>
              <a:t>“large” (lower case) rejected as an invalid size</a:t>
            </a:r>
            <a:endParaRPr lang="en-US" sz="1000" dirty="0"/>
          </a:p>
        </p:txBody>
      </p:sp>
      <p:sp>
        <p:nvSpPr>
          <p:cNvPr id="17" name="arrow"/>
          <p:cNvSpPr/>
          <p:nvPr/>
        </p:nvSpPr>
        <p:spPr>
          <a:xfrm>
            <a:off x="5029200" y="3657600"/>
            <a:ext cx="320040" cy="274320"/>
          </a:xfrm>
          <a:prstGeom prst="rightArrow">
            <a:avLst/>
          </a:prstGeom>
          <a:solidFill>
            <a:schemeClr val="accent2"/>
          </a:solidFill>
          <a:ln w="12700">
            <a:solidFill>
              <a:schemeClr val="accent2"/>
            </a:solidFill>
            <a:prstDash val="solid"/>
          </a:ln>
        </p:spPr>
        <p:txBody>
          <a:bodyPr/>
          <a:lstStyle/>
          <a:p>
            <a:endParaRPr lang="en-GB"/>
          </a:p>
        </p:txBody>
      </p:sp>
      <p:sp>
        <p:nvSpPr>
          <p:cNvPr id="18" name="after TC008"/>
          <p:cNvSpPr/>
          <p:nvPr/>
        </p:nvSpPr>
        <p:spPr>
          <a:xfrm>
            <a:off x="5440680" y="3246120"/>
            <a:ext cx="2697480" cy="1097280"/>
          </a:xfrm>
          <a:prstGeom prst="roundRect">
            <a:avLst>
              <a:gd name="adj" fmla="val 6667"/>
            </a:avLst>
          </a:prstGeom>
          <a:solidFill>
            <a:srgbClr val="DDF1EE"/>
          </a:solidFill>
          <a:ln w="12700">
            <a:solidFill>
              <a:srgbClr val="DDF1EE"/>
            </a:solidFill>
            <a:prstDash val="solid"/>
          </a:ln>
        </p:spPr>
        <p:txBody>
          <a:bodyPr/>
          <a:lstStyle/>
          <a:p>
            <a:endParaRPr lang="en-GB"/>
          </a:p>
        </p:txBody>
      </p:sp>
      <p:sp>
        <p:nvSpPr>
          <p:cNvPr id="19" name="Text 17"/>
          <p:cNvSpPr txBox="1"/>
          <p:nvPr/>
        </p:nvSpPr>
        <p:spPr>
          <a:xfrm>
            <a:off x="5577840" y="3246120"/>
            <a:ext cx="2423160" cy="1097280"/>
          </a:xfrm>
          <a:prstGeom prst="rect">
            <a:avLst/>
          </a:prstGeom>
          <a:noFill/>
          <a:ln/>
        </p:spPr>
        <p:txBody>
          <a:bodyPr wrap="square" lIns="0" tIns="0" rIns="0" bIns="0" rtlCol="0" anchor="ctr"/>
          <a:lstStyle/>
          <a:p>
            <a:pPr marL="0" indent="0">
              <a:buNone/>
            </a:pPr>
            <a:r>
              <a:rPr lang="en-US" sz="1000" b="1" dirty="0">
                <a:solidFill>
                  <a:srgbClr val="1E7A6E"/>
                </a:solidFill>
                <a:latin typeface="Calibri" pitchFamily="34" charset="0"/>
                <a:ea typeface="Calibri" pitchFamily="34" charset="-122"/>
                <a:cs typeface="Calibri" pitchFamily="34" charset="-120"/>
              </a:rPr>
              <a:t>AFTER</a:t>
            </a:r>
            <a:endParaRPr lang="en-US" sz="1000" dirty="0"/>
          </a:p>
          <a:p>
            <a:pPr marL="0" indent="0">
              <a:buNone/>
            </a:pPr>
            <a:r>
              <a:rPr lang="en-US" sz="1400" dirty="0">
                <a:solidFill>
                  <a:srgbClr val="1B2335"/>
                </a:solidFill>
                <a:latin typeface="Calibri" pitchFamily="34" charset="0"/>
                <a:ea typeface="Calibri" pitchFamily="34" charset="-122"/>
                <a:cs typeface="Calibri" pitchFamily="34" charset="-120"/>
              </a:rPr>
              <a:t>“large” accepted, the same as “Large”</a:t>
            </a:r>
            <a:endParaRPr lang="en-US" sz="1000" dirty="0"/>
          </a:p>
        </p:txBody>
      </p:sp>
      <p:sp>
        <p:nvSpPr>
          <p:cNvPr id="20" name="Text 18"/>
          <p:cNvSpPr txBox="1"/>
          <p:nvPr/>
        </p:nvSpPr>
        <p:spPr>
          <a:xfrm>
            <a:off x="8366760" y="3246120"/>
            <a:ext cx="3108960" cy="1097280"/>
          </a:xfrm>
          <a:prstGeom prst="rect">
            <a:avLst/>
          </a:prstGeom>
          <a:noFill/>
          <a:ln/>
        </p:spPr>
        <p:txBody>
          <a:bodyPr wrap="square" lIns="0" tIns="0" rIns="0" bIns="0" rtlCol="0" anchor="ctr"/>
          <a:lstStyle/>
          <a:p>
            <a:pPr marL="0" indent="0">
              <a:buNone/>
            </a:pPr>
            <a:r>
              <a:rPr lang="en-US" sz="1000" b="1" dirty="0">
                <a:solidFill>
                  <a:srgbClr val="5A6785"/>
                </a:solidFill>
                <a:latin typeface="Calibri" pitchFamily="34" charset="0"/>
                <a:ea typeface="Calibri" pitchFamily="34" charset="-122"/>
                <a:cs typeface="Calibri" pitchFamily="34" charset="-120"/>
              </a:rPr>
              <a:t>THE FIX</a:t>
            </a:r>
            <a:endParaRPr lang="en-US" sz="1000" dirty="0"/>
          </a:p>
          <a:p>
            <a:pPr marL="0" indent="0">
              <a:buNone/>
            </a:pPr>
            <a:r>
              <a:rPr lang="en-US" sz="1300" dirty="0">
                <a:solidFill>
                  <a:srgbClr val="1B2335"/>
                </a:solidFill>
                <a:latin typeface="Calibri" pitchFamily="34" charset="0"/>
                <a:ea typeface="Calibri" pitchFamily="34" charset="-122"/>
                <a:cs typeface="Calibri" pitchFamily="34" charset="-120"/>
              </a:rPr>
              <a:t>Read the size as text. Three nested Ifs accept the full word or just S, M or L, in either case.</a:t>
            </a:r>
            <a:endParaRPr lang="en-US" sz="1000" dirty="0"/>
          </a:p>
        </p:txBody>
      </p:sp>
      <p:sp>
        <p:nvSpPr>
          <p:cNvPr id="21" name="bug row TC014–16"/>
          <p:cNvSpPr/>
          <p:nvPr/>
        </p:nvSpPr>
        <p:spPr>
          <a:xfrm>
            <a:off x="548640" y="4709160"/>
            <a:ext cx="11091672"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2" name="Text 20"/>
          <p:cNvSpPr txBox="1"/>
          <p:nvPr/>
        </p:nvSpPr>
        <p:spPr>
          <a:xfrm>
            <a:off x="777240" y="4983480"/>
            <a:ext cx="1188720" cy="228600"/>
          </a:xfrm>
          <a:prstGeom prst="rect">
            <a:avLst/>
          </a:prstGeom>
          <a:noFill/>
          <a:ln/>
        </p:spPr>
        <p:txBody>
          <a:bodyPr wrap="square" lIns="0" tIns="0" rIns="0" bIns="0" rtlCol="0" anchor="t"/>
          <a:lstStyle/>
          <a:p>
            <a:pPr marL="0" indent="0">
              <a:buNone/>
            </a:pPr>
            <a:r>
              <a:rPr lang="en-US" sz="1000" b="1" kern="0" spc="100" dirty="0">
                <a:solidFill>
                  <a:srgbClr val="5A6785"/>
                </a:solidFill>
                <a:latin typeface="Calibri" pitchFamily="34" charset="0"/>
                <a:ea typeface="Calibri" pitchFamily="34" charset="-122"/>
                <a:cs typeface="Calibri" pitchFamily="34" charset="-120"/>
              </a:rPr>
              <a:t>FOUND BY</a:t>
            </a:r>
            <a:endParaRPr lang="en-US" sz="1000" dirty="0"/>
          </a:p>
        </p:txBody>
      </p:sp>
      <p:sp>
        <p:nvSpPr>
          <p:cNvPr id="23" name="Text 21"/>
          <p:cNvSpPr txBox="1"/>
          <p:nvPr/>
        </p:nvSpPr>
        <p:spPr>
          <a:xfrm>
            <a:off x="777240" y="5239512"/>
            <a:ext cx="1280160" cy="45720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TC014–16</a:t>
            </a:r>
            <a:endParaRPr lang="en-US" sz="1800" dirty="0"/>
          </a:p>
        </p:txBody>
      </p:sp>
      <p:sp>
        <p:nvSpPr>
          <p:cNvPr id="24" name="before TC014–16"/>
          <p:cNvSpPr/>
          <p:nvPr/>
        </p:nvSpPr>
        <p:spPr>
          <a:xfrm>
            <a:off x="2240280" y="4892040"/>
            <a:ext cx="2697480" cy="1097280"/>
          </a:xfrm>
          <a:prstGeom prst="roundRect">
            <a:avLst>
              <a:gd name="adj" fmla="val 6667"/>
            </a:avLst>
          </a:prstGeom>
          <a:solidFill>
            <a:srgbClr val="FADEDC"/>
          </a:solidFill>
          <a:ln w="12700">
            <a:solidFill>
              <a:srgbClr val="FADEDC"/>
            </a:solidFill>
            <a:prstDash val="solid"/>
          </a:ln>
        </p:spPr>
        <p:txBody>
          <a:bodyPr/>
          <a:lstStyle/>
          <a:p>
            <a:endParaRPr lang="en-GB"/>
          </a:p>
        </p:txBody>
      </p:sp>
      <p:sp>
        <p:nvSpPr>
          <p:cNvPr id="25" name="Text 23"/>
          <p:cNvSpPr txBox="1"/>
          <p:nvPr/>
        </p:nvSpPr>
        <p:spPr>
          <a:xfrm>
            <a:off x="2377440" y="4892040"/>
            <a:ext cx="2423160" cy="1097280"/>
          </a:xfrm>
          <a:prstGeom prst="rect">
            <a:avLst/>
          </a:prstGeom>
          <a:noFill/>
          <a:ln/>
        </p:spPr>
        <p:txBody>
          <a:bodyPr wrap="square" lIns="0" tIns="0" rIns="0" bIns="0" rtlCol="0" anchor="ctr"/>
          <a:lstStyle/>
          <a:p>
            <a:pPr marL="0" indent="0">
              <a:buNone/>
            </a:pPr>
            <a:r>
              <a:rPr lang="en-US" sz="1000" b="1" dirty="0">
                <a:solidFill>
                  <a:srgbClr val="A8262B"/>
                </a:solidFill>
                <a:latin typeface="Calibri" pitchFamily="34" charset="0"/>
                <a:ea typeface="Calibri" pitchFamily="34" charset="-122"/>
                <a:cs typeface="Calibri" pitchFamily="34" charset="-120"/>
              </a:rPr>
              <a:t>BEFORE</a:t>
            </a:r>
            <a:endParaRPr lang="en-US" sz="1000" dirty="0"/>
          </a:p>
          <a:p>
            <a:pPr marL="0" indent="0">
              <a:buNone/>
            </a:pPr>
            <a:r>
              <a:rPr lang="en-US" sz="1400" dirty="0">
                <a:solidFill>
                  <a:srgbClr val="1B2335"/>
                </a:solidFill>
                <a:latin typeface="Calibri" pitchFamily="34" charset="0"/>
                <a:ea typeface="Calibri" pitchFamily="34" charset="-122"/>
                <a:cs typeface="Calibri" pitchFamily="34" charset="-120"/>
              </a:rPr>
              <a:t>Prices printed as “Standard £5.5 Toppings £0”</a:t>
            </a:r>
            <a:endParaRPr lang="en-US" sz="1000" dirty="0"/>
          </a:p>
        </p:txBody>
      </p:sp>
      <p:sp>
        <p:nvSpPr>
          <p:cNvPr id="26" name="arrow"/>
          <p:cNvSpPr/>
          <p:nvPr/>
        </p:nvSpPr>
        <p:spPr>
          <a:xfrm>
            <a:off x="5029200" y="5303520"/>
            <a:ext cx="320040" cy="274320"/>
          </a:xfrm>
          <a:prstGeom prst="rightArrow">
            <a:avLst/>
          </a:prstGeom>
          <a:solidFill>
            <a:schemeClr val="accent2"/>
          </a:solidFill>
          <a:ln w="12700">
            <a:solidFill>
              <a:schemeClr val="accent2"/>
            </a:solidFill>
            <a:prstDash val="solid"/>
          </a:ln>
        </p:spPr>
        <p:txBody>
          <a:bodyPr/>
          <a:lstStyle/>
          <a:p>
            <a:endParaRPr lang="en-GB"/>
          </a:p>
        </p:txBody>
      </p:sp>
      <p:sp>
        <p:nvSpPr>
          <p:cNvPr id="27" name="after TC014–16"/>
          <p:cNvSpPr/>
          <p:nvPr/>
        </p:nvSpPr>
        <p:spPr>
          <a:xfrm>
            <a:off x="5440680" y="4892040"/>
            <a:ext cx="2697480" cy="1097280"/>
          </a:xfrm>
          <a:prstGeom prst="roundRect">
            <a:avLst>
              <a:gd name="adj" fmla="val 6667"/>
            </a:avLst>
          </a:prstGeom>
          <a:solidFill>
            <a:srgbClr val="DDF1EE"/>
          </a:solidFill>
          <a:ln w="12700">
            <a:solidFill>
              <a:srgbClr val="DDF1EE"/>
            </a:solidFill>
            <a:prstDash val="solid"/>
          </a:ln>
        </p:spPr>
        <p:txBody>
          <a:bodyPr/>
          <a:lstStyle/>
          <a:p>
            <a:endParaRPr lang="en-GB"/>
          </a:p>
        </p:txBody>
      </p:sp>
      <p:sp>
        <p:nvSpPr>
          <p:cNvPr id="28" name="Text 26"/>
          <p:cNvSpPr txBox="1"/>
          <p:nvPr/>
        </p:nvSpPr>
        <p:spPr>
          <a:xfrm>
            <a:off x="5577840" y="4892040"/>
            <a:ext cx="2423160" cy="1097280"/>
          </a:xfrm>
          <a:prstGeom prst="rect">
            <a:avLst/>
          </a:prstGeom>
          <a:noFill/>
          <a:ln/>
        </p:spPr>
        <p:txBody>
          <a:bodyPr wrap="square" lIns="0" tIns="0" rIns="0" bIns="0" rtlCol="0" anchor="ctr"/>
          <a:lstStyle/>
          <a:p>
            <a:pPr marL="0" indent="0">
              <a:buNone/>
            </a:pPr>
            <a:r>
              <a:rPr lang="en-US" sz="1000" b="1" dirty="0">
                <a:solidFill>
                  <a:srgbClr val="1E7A6E"/>
                </a:solidFill>
                <a:latin typeface="Calibri" pitchFamily="34" charset="0"/>
                <a:ea typeface="Calibri" pitchFamily="34" charset="-122"/>
                <a:cs typeface="Calibri" pitchFamily="34" charset="-120"/>
              </a:rPr>
              <a:t>AFTER</a:t>
            </a:r>
            <a:endParaRPr lang="en-US" sz="1000" dirty="0"/>
          </a:p>
          <a:p>
            <a:pPr marL="0" indent="0">
              <a:buNone/>
            </a:pPr>
            <a:r>
              <a:rPr lang="en-US" sz="1400" dirty="0">
                <a:solidFill>
                  <a:srgbClr val="1B2335"/>
                </a:solidFill>
                <a:latin typeface="Calibri" pitchFamily="34" charset="0"/>
                <a:ea typeface="Calibri" pitchFamily="34" charset="-122"/>
                <a:cs typeface="Calibri" pitchFamily="34" charset="-120"/>
              </a:rPr>
              <a:t>“Standard £5.50 Toppings £0.00”</a:t>
            </a:r>
            <a:endParaRPr lang="en-US" sz="1000" dirty="0"/>
          </a:p>
        </p:txBody>
      </p:sp>
      <p:sp>
        <p:nvSpPr>
          <p:cNvPr id="29" name="Text 27"/>
          <p:cNvSpPr txBox="1"/>
          <p:nvPr/>
        </p:nvSpPr>
        <p:spPr>
          <a:xfrm>
            <a:off x="8366760" y="4892040"/>
            <a:ext cx="3108960" cy="1097280"/>
          </a:xfrm>
          <a:prstGeom prst="rect">
            <a:avLst/>
          </a:prstGeom>
          <a:noFill/>
          <a:ln/>
        </p:spPr>
        <p:txBody>
          <a:bodyPr wrap="square" lIns="0" tIns="0" rIns="0" bIns="0" rtlCol="0" anchor="ctr"/>
          <a:lstStyle/>
          <a:p>
            <a:pPr marL="0" indent="0">
              <a:buNone/>
            </a:pPr>
            <a:r>
              <a:rPr lang="en-US" sz="1000" b="1" dirty="0">
                <a:solidFill>
                  <a:srgbClr val="5A6785"/>
                </a:solidFill>
                <a:latin typeface="Calibri" pitchFamily="34" charset="0"/>
                <a:ea typeface="Calibri" pitchFamily="34" charset="-122"/>
                <a:cs typeface="Calibri" pitchFamily="34" charset="-120"/>
              </a:rPr>
              <a:t>THE FIX</a:t>
            </a:r>
            <a:endParaRPr lang="en-US" sz="1000" dirty="0"/>
          </a:p>
          <a:p>
            <a:pPr marL="0" indent="0">
              <a:buNone/>
            </a:pPr>
            <a:r>
              <a:rPr lang="en-US" sz="1300" dirty="0">
                <a:solidFill>
                  <a:srgbClr val="1B2335"/>
                </a:solidFill>
                <a:latin typeface="Calibri" pitchFamily="34" charset="0"/>
                <a:ea typeface="Calibri" pitchFamily="34" charset="-122"/>
                <a:cs typeface="Calibri" pitchFamily="34" charset="-120"/>
              </a:rPr>
              <a:t>Wrap each price in ToFixed(…, 2) inside DisplayItemisedPizzas.</a:t>
            </a:r>
            <a:endParaRPr lang="en-US" sz="1000" dirty="0"/>
          </a:p>
        </p:txBody>
      </p:sp>
      <p:sp>
        <p:nvSpPr>
          <p:cNvPr id="30"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ackdrop circle"/>
          <p:cNvSpPr/>
          <p:nvPr/>
        </p:nvSpPr>
        <p:spPr>
          <a:xfrm>
            <a:off x="7498080" y="822960"/>
            <a:ext cx="4754880" cy="4754880"/>
          </a:xfrm>
          <a:prstGeom prst="ellipse">
            <a:avLst/>
          </a:prstGeom>
          <a:solidFill>
            <a:schemeClr val="accent4">
              <a:alpha val="45000"/>
            </a:schemeClr>
          </a:solidFill>
          <a:ln w="12700">
            <a:solidFill>
              <a:schemeClr val="accent4"/>
            </a:solidFill>
            <a:prstDash val="solid"/>
          </a:ln>
        </p:spPr>
        <p:txBody>
          <a:bodyPr/>
          <a:lstStyle/>
          <a:p>
            <a:endParaRPr lang="en-GB"/>
          </a:p>
        </p:txBody>
      </p:sp>
      <p:sp>
        <p:nvSpPr>
          <p:cNvPr id="3" name="divider circle"/>
          <p:cNvSpPr/>
          <p:nvPr/>
        </p:nvSpPr>
        <p:spPr>
          <a:xfrm>
            <a:off x="8229600" y="1554480"/>
            <a:ext cx="3291840" cy="3291840"/>
          </a:xfrm>
          <a:prstGeom prst="ellipse">
            <a:avLst/>
          </a:prstGeom>
          <a:solidFill>
            <a:schemeClr val="accent4"/>
          </a:solidFill>
          <a:ln w="50800">
            <a:solidFill>
              <a:schemeClr val="tx2"/>
            </a:solidFill>
            <a:prstDash val="solid"/>
          </a:ln>
        </p:spPr>
        <p:txBody>
          <a:bodyPr/>
          <a:lstStyle/>
          <a:p>
            <a:endParaRPr lang="en-GB"/>
          </a:p>
        </p:txBody>
      </p:sp>
      <p:pic>
        <p:nvPicPr>
          <p:cNvPr id="4" name="divider icon" descr="Networking"/>
          <p:cNvPicPr>
            <a:picLocks noChangeAspect="1"/>
          </p:cNvPicPr>
          <p:nvPr/>
        </p:nvPicPr>
        <p:blipFill>
          <a:blip r:embed="rId3"/>
          <a:stretch>
            <a:fillRect/>
          </a:stretch>
        </p:blipFill>
        <p:spPr>
          <a:xfrm>
            <a:off x="9189720" y="2514600"/>
            <a:ext cx="1371600" cy="1371600"/>
          </a:xfrm>
          <a:prstGeom prst="rect">
            <a:avLst/>
          </a:prstGeom>
        </p:spPr>
      </p:pic>
      <p:sp>
        <p:nvSpPr>
          <p:cNvPr id="5" name="Text 2"/>
          <p:cNvSpPr txBox="1"/>
          <p:nvPr/>
        </p:nvSpPr>
        <p:spPr>
          <a:xfrm>
            <a:off x="822960" y="1188720"/>
            <a:ext cx="548640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MP3</a:t>
            </a:r>
            <a:endParaRPr lang="en-US" sz="8800" dirty="0"/>
          </a:p>
        </p:txBody>
      </p:sp>
      <p:sp>
        <p:nvSpPr>
          <p:cNvPr id="6" name="Text 3"/>
          <p:cNvSpPr txBox="1"/>
          <p:nvPr/>
        </p:nvSpPr>
        <p:spPr>
          <a:xfrm>
            <a:off x="822960" y="2514600"/>
            <a:ext cx="676656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Networking</a:t>
            </a:r>
            <a:endParaRPr lang="en-US" sz="4400" dirty="0"/>
          </a:p>
        </p:txBody>
      </p:sp>
      <p:sp>
        <p:nvSpPr>
          <p:cNvPr id="7" name="Text 4"/>
          <p:cNvSpPr txBox="1"/>
          <p:nvPr/>
        </p:nvSpPr>
        <p:spPr>
          <a:xfrm>
            <a:off x="822960" y="3337560"/>
            <a:ext cx="6766560" cy="457200"/>
          </a:xfrm>
          <a:prstGeom prst="rect">
            <a:avLst/>
          </a:prstGeom>
          <a:noFill/>
          <a:ln/>
        </p:spPr>
        <p:txBody>
          <a:bodyPr wrap="square" lIns="0" tIns="0" rIns="0" bIns="0" rtlCol="0" anchor="t"/>
          <a:lstStyle/>
          <a:p>
            <a:pPr marL="0" indent="0">
              <a:buNone/>
            </a:pPr>
            <a:r>
              <a:rPr lang="en-US" sz="2100" i="1" dirty="0">
                <a:solidFill>
                  <a:srgbClr val="C9D3EA"/>
                </a:solidFill>
                <a:latin typeface="Calibri" pitchFamily="34" charset="0"/>
                <a:ea typeface="Calibri" pitchFamily="34" charset="-122"/>
                <a:cs typeface="Calibri" pitchFamily="34" charset="-120"/>
              </a:rPr>
              <a:t>Studio network</a:t>
            </a:r>
            <a:endParaRPr lang="en-US" sz="2100" dirty="0"/>
          </a:p>
        </p:txBody>
      </p:sp>
      <p:sp>
        <p:nvSpPr>
          <p:cNvPr id="8" name="Text 5"/>
          <p:cNvSpPr txBox="1"/>
          <p:nvPr/>
        </p:nvSpPr>
        <p:spPr>
          <a:xfrm>
            <a:off x="822960" y="4343400"/>
            <a:ext cx="4572000" cy="274320"/>
          </a:xfrm>
          <a:prstGeom prst="rect">
            <a:avLst/>
          </a:prstGeom>
          <a:noFill/>
          <a:ln/>
        </p:spPr>
        <p:txBody>
          <a:bodyPr wrap="square" lIns="0" tIns="0" rIns="0" bIns="0" rtlCol="0" anchor="t"/>
          <a:lstStyle/>
          <a:p>
            <a:pPr marL="0" indent="0">
              <a:buNone/>
            </a:pPr>
            <a:r>
              <a:rPr lang="en-US" sz="1300" b="1" kern="0" spc="300" dirty="0">
                <a:solidFill>
                  <a:schemeClr val="accent2"/>
                </a:solidFill>
                <a:latin typeface="Calibri" pitchFamily="34" charset="0"/>
                <a:ea typeface="Calibri" pitchFamily="34" charset="-122"/>
                <a:cs typeface="Calibri" pitchFamily="34" charset="-120"/>
              </a:rPr>
              <a:t>PRESENTED BY</a:t>
            </a:r>
            <a:endParaRPr lang="en-US" sz="1300" dirty="0"/>
          </a:p>
        </p:txBody>
      </p:sp>
      <p:sp>
        <p:nvSpPr>
          <p:cNvPr id="9" name="Text 6"/>
          <p:cNvSpPr txBox="1"/>
          <p:nvPr/>
        </p:nvSpPr>
        <p:spPr>
          <a:xfrm>
            <a:off x="822960" y="4663440"/>
            <a:ext cx="6766560" cy="594360"/>
          </a:xfrm>
          <a:prstGeom prst="rect">
            <a:avLst/>
          </a:prstGeom>
          <a:noFill/>
          <a:ln/>
        </p:spPr>
        <p:txBody>
          <a:bodyPr wrap="square" lIns="0" tIns="0" rIns="0" bIns="0" rtlCol="0" anchor="ctr"/>
          <a:lstStyle/>
          <a:p>
            <a:pPr marL="0" indent="0">
              <a:buNone/>
            </a:pPr>
            <a:r>
              <a:rPr lang="en-US" sz="3000" b="1" dirty="0">
                <a:solidFill>
                  <a:schemeClr val="bg1"/>
                </a:solidFill>
                <a:latin typeface="Cambria" pitchFamily="34" charset="0"/>
                <a:ea typeface="Cambria" pitchFamily="34" charset="-122"/>
                <a:cs typeface="Cambria" pitchFamily="34" charset="-120"/>
              </a:rPr>
              <a:t>Toby Mathew</a:t>
            </a:r>
            <a:endParaRPr lang="en-US" sz="3000" dirty="0"/>
          </a:p>
        </p:txBody>
      </p:sp>
      <p:sp>
        <p:nvSpPr>
          <p:cNvPr id="10" name="progress 1"/>
          <p:cNvSpPr/>
          <p:nvPr/>
        </p:nvSpPr>
        <p:spPr>
          <a:xfrm>
            <a:off x="822960"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1" name="Text 8"/>
          <p:cNvSpPr txBox="1"/>
          <p:nvPr/>
        </p:nvSpPr>
        <p:spPr>
          <a:xfrm>
            <a:off x="822960"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1</a:t>
            </a:r>
            <a:endParaRPr lang="en-US" sz="1400" dirty="0"/>
          </a:p>
        </p:txBody>
      </p:sp>
      <p:sp>
        <p:nvSpPr>
          <p:cNvPr id="12" name="progress 2"/>
          <p:cNvSpPr/>
          <p:nvPr/>
        </p:nvSpPr>
        <p:spPr>
          <a:xfrm>
            <a:off x="1389888"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3" name="Text 10"/>
          <p:cNvSpPr txBox="1"/>
          <p:nvPr/>
        </p:nvSpPr>
        <p:spPr>
          <a:xfrm>
            <a:off x="1389888"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2</a:t>
            </a:r>
            <a:endParaRPr lang="en-US" sz="1400" dirty="0"/>
          </a:p>
        </p:txBody>
      </p:sp>
      <p:sp>
        <p:nvSpPr>
          <p:cNvPr id="14" name="progress 3"/>
          <p:cNvSpPr/>
          <p:nvPr/>
        </p:nvSpPr>
        <p:spPr>
          <a:xfrm>
            <a:off x="1956816" y="5806440"/>
            <a:ext cx="411480" cy="411480"/>
          </a:xfrm>
          <a:prstGeom prst="ellipse">
            <a:avLst/>
          </a:prstGeom>
          <a:solidFill>
            <a:schemeClr val="accent2"/>
          </a:solidFill>
          <a:ln w="12700">
            <a:solidFill>
              <a:schemeClr val="accent2"/>
            </a:solidFill>
            <a:prstDash val="solid"/>
          </a:ln>
        </p:spPr>
        <p:txBody>
          <a:bodyPr/>
          <a:lstStyle/>
          <a:p>
            <a:endParaRPr lang="en-GB"/>
          </a:p>
        </p:txBody>
      </p:sp>
      <p:sp>
        <p:nvSpPr>
          <p:cNvPr id="15" name="Text 12"/>
          <p:cNvSpPr txBox="1"/>
          <p:nvPr/>
        </p:nvSpPr>
        <p:spPr>
          <a:xfrm>
            <a:off x="1956816" y="5806440"/>
            <a:ext cx="411480" cy="41148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3</a:t>
            </a:r>
            <a:endParaRPr lang="en-US" sz="1400" dirty="0"/>
          </a:p>
        </p:txBody>
      </p:sp>
      <p:sp>
        <p:nvSpPr>
          <p:cNvPr id="16" name="progress 4"/>
          <p:cNvSpPr/>
          <p:nvPr/>
        </p:nvSpPr>
        <p:spPr>
          <a:xfrm>
            <a:off x="2523744"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7" name="Text 14"/>
          <p:cNvSpPr txBox="1"/>
          <p:nvPr/>
        </p:nvSpPr>
        <p:spPr>
          <a:xfrm>
            <a:off x="2523744"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problem: a network for a design studio</a:t>
            </a:r>
            <a:endParaRPr lang="en-US" sz="3400" dirty="0"/>
          </a:p>
        </p:txBody>
      </p:sp>
      <p:sp>
        <p:nvSpPr>
          <p:cNvPr id="3" name="problem card The client"/>
          <p:cNvSpPr/>
          <p:nvPr/>
        </p:nvSpPr>
        <p:spPr>
          <a:xfrm>
            <a:off x="548640" y="1417320"/>
            <a:ext cx="758952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The client circle"/>
          <p:cNvSpPr/>
          <p:nvPr/>
        </p:nvSpPr>
        <p:spPr>
          <a:xfrm>
            <a:off x="804672" y="1764792"/>
            <a:ext cx="777240" cy="777240"/>
          </a:xfrm>
          <a:prstGeom prst="ellipse">
            <a:avLst/>
          </a:prstGeom>
          <a:solidFill>
            <a:srgbClr val="2A9D8F"/>
          </a:solidFill>
          <a:ln w="12700">
            <a:solidFill>
              <a:srgbClr val="2A9D8F"/>
            </a:solidFill>
            <a:prstDash val="solid"/>
          </a:ln>
        </p:spPr>
        <p:txBody>
          <a:bodyPr/>
          <a:lstStyle/>
          <a:p>
            <a:endParaRPr lang="en-GB"/>
          </a:p>
        </p:txBody>
      </p:sp>
      <p:pic>
        <p:nvPicPr>
          <p:cNvPr id="5" name="The client icon" descr="The client"/>
          <p:cNvPicPr>
            <a:picLocks noChangeAspect="1"/>
          </p:cNvPicPr>
          <p:nvPr/>
        </p:nvPicPr>
        <p:blipFill>
          <a:blip r:embed="rId3"/>
          <a:stretch>
            <a:fillRect/>
          </a:stretch>
        </p:blipFill>
        <p:spPr>
          <a:xfrm>
            <a:off x="1006754" y="1966874"/>
            <a:ext cx="373075" cy="373075"/>
          </a:xfrm>
          <a:prstGeom prst="rect">
            <a:avLst/>
          </a:prstGeom>
        </p:spPr>
      </p:pic>
      <p:sp>
        <p:nvSpPr>
          <p:cNvPr id="6" name="Text 3"/>
          <p:cNvSpPr txBox="1"/>
          <p:nvPr/>
        </p:nvSpPr>
        <p:spPr>
          <a:xfrm>
            <a:off x="1920240" y="1554480"/>
            <a:ext cx="594360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The client</a:t>
            </a:r>
            <a:endParaRPr lang="en-US" sz="1900" dirty="0"/>
          </a:p>
        </p:txBody>
      </p:sp>
      <p:sp>
        <p:nvSpPr>
          <p:cNvPr id="7" name="Text 4"/>
          <p:cNvSpPr txBox="1"/>
          <p:nvPr/>
        </p:nvSpPr>
        <p:spPr>
          <a:xfrm>
            <a:off x="1920240" y="1965960"/>
            <a:ext cx="594360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NorthWest Architecture Studio Ltd is refreshing its IT infrastructure. Staff PCs cover admin, project management, CAD design and 3D visualisation roles.</a:t>
            </a:r>
            <a:endParaRPr lang="en-US" sz="1500" dirty="0"/>
          </a:p>
        </p:txBody>
      </p:sp>
      <p:sp>
        <p:nvSpPr>
          <p:cNvPr id="8" name="problem card The task"/>
          <p:cNvSpPr/>
          <p:nvPr/>
        </p:nvSpPr>
        <p:spPr>
          <a:xfrm>
            <a:off x="548640" y="3044952"/>
            <a:ext cx="758952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9" name="The task circle"/>
          <p:cNvSpPr/>
          <p:nvPr/>
        </p:nvSpPr>
        <p:spPr>
          <a:xfrm>
            <a:off x="804672" y="3392424"/>
            <a:ext cx="777240" cy="777240"/>
          </a:xfrm>
          <a:prstGeom prst="ellipse">
            <a:avLst/>
          </a:prstGeom>
          <a:solidFill>
            <a:srgbClr val="1F3A6B"/>
          </a:solidFill>
          <a:ln w="12700">
            <a:solidFill>
              <a:srgbClr val="1F3A6B"/>
            </a:solidFill>
            <a:prstDash val="solid"/>
          </a:ln>
        </p:spPr>
        <p:txBody>
          <a:bodyPr/>
          <a:lstStyle/>
          <a:p>
            <a:endParaRPr lang="en-GB"/>
          </a:p>
        </p:txBody>
      </p:sp>
      <p:pic>
        <p:nvPicPr>
          <p:cNvPr id="10" name="The task icon" descr="The task"/>
          <p:cNvPicPr>
            <a:picLocks noChangeAspect="1"/>
          </p:cNvPicPr>
          <p:nvPr/>
        </p:nvPicPr>
        <p:blipFill>
          <a:blip r:embed="rId4"/>
          <a:stretch>
            <a:fillRect/>
          </a:stretch>
        </p:blipFill>
        <p:spPr>
          <a:xfrm>
            <a:off x="1006754" y="3594506"/>
            <a:ext cx="373075" cy="373075"/>
          </a:xfrm>
          <a:prstGeom prst="rect">
            <a:avLst/>
          </a:prstGeom>
        </p:spPr>
      </p:pic>
      <p:sp>
        <p:nvSpPr>
          <p:cNvPr id="11" name="Text 7"/>
          <p:cNvSpPr txBox="1"/>
          <p:nvPr/>
        </p:nvSpPr>
        <p:spPr>
          <a:xfrm>
            <a:off x="1920240" y="3182112"/>
            <a:ext cx="594360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The task</a:t>
            </a:r>
            <a:endParaRPr lang="en-US" sz="1900" dirty="0"/>
          </a:p>
        </p:txBody>
      </p:sp>
      <p:sp>
        <p:nvSpPr>
          <p:cNvPr id="12" name="Text 8"/>
          <p:cNvSpPr txBox="1"/>
          <p:nvPr/>
        </p:nvSpPr>
        <p:spPr>
          <a:xfrm>
            <a:off x="1920240" y="3593592"/>
            <a:ext cx="594360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Model a working office Local Area Network (LAN), plus a connection to an external cloud network.</a:t>
            </a:r>
            <a:endParaRPr lang="en-US" sz="1500" dirty="0"/>
          </a:p>
        </p:txBody>
      </p:sp>
      <p:sp>
        <p:nvSpPr>
          <p:cNvPr id="13" name="problem card Also required"/>
          <p:cNvSpPr/>
          <p:nvPr/>
        </p:nvSpPr>
        <p:spPr>
          <a:xfrm>
            <a:off x="548640" y="4672584"/>
            <a:ext cx="7589520" cy="1463040"/>
          </a:xfrm>
          <a:prstGeom prst="roundRect">
            <a:avLst>
              <a:gd name="adj" fmla="val 625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4" name="Also required circle"/>
          <p:cNvSpPr/>
          <p:nvPr/>
        </p:nvSpPr>
        <p:spPr>
          <a:xfrm>
            <a:off x="804672" y="5020056"/>
            <a:ext cx="777240" cy="777240"/>
          </a:xfrm>
          <a:prstGeom prst="ellipse">
            <a:avLst/>
          </a:prstGeom>
          <a:solidFill>
            <a:srgbClr val="C98F12"/>
          </a:solidFill>
          <a:ln w="12700">
            <a:solidFill>
              <a:srgbClr val="C98F12"/>
            </a:solidFill>
            <a:prstDash val="solid"/>
          </a:ln>
        </p:spPr>
        <p:txBody>
          <a:bodyPr/>
          <a:lstStyle/>
          <a:p>
            <a:endParaRPr lang="en-GB"/>
          </a:p>
        </p:txBody>
      </p:sp>
      <p:pic>
        <p:nvPicPr>
          <p:cNvPr id="15" name="Also required icon" descr="Also required"/>
          <p:cNvPicPr>
            <a:picLocks noChangeAspect="1"/>
          </p:cNvPicPr>
          <p:nvPr/>
        </p:nvPicPr>
        <p:blipFill>
          <a:blip r:embed="rId5"/>
          <a:stretch>
            <a:fillRect/>
          </a:stretch>
        </p:blipFill>
        <p:spPr>
          <a:xfrm>
            <a:off x="1006754" y="5222138"/>
            <a:ext cx="373075" cy="373075"/>
          </a:xfrm>
          <a:prstGeom prst="rect">
            <a:avLst/>
          </a:prstGeom>
        </p:spPr>
      </p:pic>
      <p:sp>
        <p:nvSpPr>
          <p:cNvPr id="16" name="Text 11"/>
          <p:cNvSpPr txBox="1"/>
          <p:nvPr/>
        </p:nvSpPr>
        <p:spPr>
          <a:xfrm>
            <a:off x="1920240" y="4809744"/>
            <a:ext cx="594360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Also required</a:t>
            </a:r>
            <a:endParaRPr lang="en-US" sz="1900" dirty="0"/>
          </a:p>
        </p:txBody>
      </p:sp>
      <p:sp>
        <p:nvSpPr>
          <p:cNvPr id="17" name="Text 12"/>
          <p:cNvSpPr txBox="1"/>
          <p:nvPr/>
        </p:nvSpPr>
        <p:spPr>
          <a:xfrm>
            <a:off x="1920240" y="5221224"/>
            <a:ext cx="594360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Assign IP addresses, set up internal and external services, test the network and explain the principles.</a:t>
            </a:r>
            <a:endParaRPr lang="en-US" sz="1500" dirty="0"/>
          </a:p>
        </p:txBody>
      </p:sp>
      <p:sp>
        <p:nvSpPr>
          <p:cNvPr id="18" name="tool card"/>
          <p:cNvSpPr/>
          <p:nvPr/>
        </p:nvSpPr>
        <p:spPr>
          <a:xfrm>
            <a:off x="8412480" y="1417320"/>
            <a:ext cx="3227832" cy="4709160"/>
          </a:xfrm>
          <a:prstGeom prst="roundRect">
            <a:avLst>
              <a:gd name="adj" fmla="val 3399"/>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9" name="Filius circle"/>
          <p:cNvSpPr/>
          <p:nvPr/>
        </p:nvSpPr>
        <p:spPr>
          <a:xfrm>
            <a:off x="9326880" y="1828800"/>
            <a:ext cx="1371600" cy="1371600"/>
          </a:xfrm>
          <a:prstGeom prst="ellipse">
            <a:avLst/>
          </a:prstGeom>
          <a:solidFill>
            <a:srgbClr val="1F3A6B"/>
          </a:solidFill>
          <a:ln w="12700">
            <a:solidFill>
              <a:srgbClr val="1F3A6B"/>
            </a:solidFill>
            <a:prstDash val="solid"/>
          </a:ln>
        </p:spPr>
        <p:txBody>
          <a:bodyPr/>
          <a:lstStyle/>
          <a:p>
            <a:endParaRPr lang="en-GB"/>
          </a:p>
        </p:txBody>
      </p:sp>
      <p:pic>
        <p:nvPicPr>
          <p:cNvPr id="20" name="Filius icon" descr="Filius"/>
          <p:cNvPicPr>
            <a:picLocks noChangeAspect="1"/>
          </p:cNvPicPr>
          <p:nvPr/>
        </p:nvPicPr>
        <p:blipFill>
          <a:blip r:embed="rId4"/>
          <a:stretch>
            <a:fillRect/>
          </a:stretch>
        </p:blipFill>
        <p:spPr>
          <a:xfrm>
            <a:off x="9683496" y="2185416"/>
            <a:ext cx="658368" cy="658368"/>
          </a:xfrm>
          <a:prstGeom prst="rect">
            <a:avLst/>
          </a:prstGeom>
        </p:spPr>
      </p:pic>
      <p:sp>
        <p:nvSpPr>
          <p:cNvPr id="21" name="Text 15"/>
          <p:cNvSpPr txBox="1"/>
          <p:nvPr/>
        </p:nvSpPr>
        <p:spPr>
          <a:xfrm>
            <a:off x="8686800" y="3474720"/>
            <a:ext cx="2651760" cy="274320"/>
          </a:xfrm>
          <a:prstGeom prst="rect">
            <a:avLst/>
          </a:prstGeom>
          <a:noFill/>
          <a:ln/>
        </p:spPr>
        <p:txBody>
          <a:bodyPr wrap="square" lIns="0" tIns="0" rIns="0" bIns="0" rtlCol="0" anchor="t"/>
          <a:lstStyle/>
          <a:p>
            <a:pPr marL="0" indent="0" algn="ctr">
              <a:buNone/>
            </a:pPr>
            <a:r>
              <a:rPr lang="en-US" sz="1200" b="1" kern="0" spc="200" dirty="0">
                <a:solidFill>
                  <a:schemeClr val="accent2"/>
                </a:solidFill>
                <a:latin typeface="Calibri" pitchFamily="34" charset="0"/>
                <a:ea typeface="Calibri" pitchFamily="34" charset="-122"/>
                <a:cs typeface="Calibri" pitchFamily="34" charset="-120"/>
              </a:rPr>
              <a:t>BUILT IN</a:t>
            </a:r>
            <a:endParaRPr lang="en-US" sz="1200" dirty="0"/>
          </a:p>
        </p:txBody>
      </p:sp>
      <p:sp>
        <p:nvSpPr>
          <p:cNvPr id="22" name="Text 16"/>
          <p:cNvSpPr txBox="1"/>
          <p:nvPr/>
        </p:nvSpPr>
        <p:spPr>
          <a:xfrm>
            <a:off x="8686800" y="3794760"/>
            <a:ext cx="265176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Filius</a:t>
            </a:r>
            <a:endParaRPr lang="en-US" sz="3600" dirty="0"/>
          </a:p>
        </p:txBody>
      </p:sp>
      <p:sp>
        <p:nvSpPr>
          <p:cNvPr id="23" name="Text 17"/>
          <p:cNvSpPr txBox="1"/>
          <p:nvPr/>
        </p:nvSpPr>
        <p:spPr>
          <a:xfrm>
            <a:off x="8686800" y="4480560"/>
            <a:ext cx="2651760" cy="640080"/>
          </a:xfrm>
          <a:prstGeom prst="rect">
            <a:avLst/>
          </a:prstGeom>
          <a:noFill/>
          <a:ln/>
        </p:spPr>
        <p:txBody>
          <a:bodyPr wrap="square" lIns="0" tIns="0" rIns="0" bIns="0" rtlCol="0" anchor="t"/>
          <a:lstStyle/>
          <a:p>
            <a:pPr marL="0" indent="0" algn="ctr">
              <a:buNone/>
            </a:pPr>
            <a:r>
              <a:rPr lang="en-US" sz="1500" dirty="0">
                <a:solidFill>
                  <a:srgbClr val="C9D3EA"/>
                </a:solidFill>
                <a:latin typeface="Calibri" pitchFamily="34" charset="0"/>
                <a:ea typeface="Calibri" pitchFamily="34" charset="-122"/>
                <a:cs typeface="Calibri" pitchFamily="34" charset="-120"/>
              </a:rPr>
              <a:t>network simulation software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solution: a routed office LAN</a:t>
            </a:r>
            <a:endParaRPr lang="en-US" sz="3400" dirty="0"/>
          </a:p>
        </p:txBody>
      </p:sp>
      <p:sp>
        <p:nvSpPr>
          <p:cNvPr id="3" name="stat router"/>
          <p:cNvSpPr/>
          <p:nvPr/>
        </p:nvSpPr>
        <p:spPr>
          <a:xfrm>
            <a:off x="548640" y="1417320"/>
            <a:ext cx="3520440" cy="1463040"/>
          </a:xfrm>
          <a:prstGeom prst="roundRect">
            <a:avLst>
              <a:gd name="adj" fmla="val 6250"/>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4" name="Text 2"/>
          <p:cNvSpPr txBox="1"/>
          <p:nvPr/>
        </p:nvSpPr>
        <p:spPr>
          <a:xfrm>
            <a:off x="685800" y="1527048"/>
            <a:ext cx="3246120" cy="804672"/>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1</a:t>
            </a:r>
            <a:endParaRPr lang="en-US" sz="3400" dirty="0"/>
          </a:p>
        </p:txBody>
      </p:sp>
      <p:sp>
        <p:nvSpPr>
          <p:cNvPr id="5" name="Text 3"/>
          <p:cNvSpPr txBox="1"/>
          <p:nvPr/>
        </p:nvSpPr>
        <p:spPr>
          <a:xfrm>
            <a:off x="685800" y="2324405"/>
            <a:ext cx="3246120" cy="438912"/>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router</a:t>
            </a:r>
            <a:endParaRPr lang="en-US" sz="1400" dirty="0"/>
          </a:p>
        </p:txBody>
      </p:sp>
      <p:sp>
        <p:nvSpPr>
          <p:cNvPr id="6" name="stat switches"/>
          <p:cNvSpPr/>
          <p:nvPr/>
        </p:nvSpPr>
        <p:spPr>
          <a:xfrm>
            <a:off x="4334256" y="1417320"/>
            <a:ext cx="3520440" cy="1463040"/>
          </a:xfrm>
          <a:prstGeom prst="roundRect">
            <a:avLst>
              <a:gd name="adj" fmla="val 6250"/>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7" name="Text 5"/>
          <p:cNvSpPr txBox="1"/>
          <p:nvPr/>
        </p:nvSpPr>
        <p:spPr>
          <a:xfrm>
            <a:off x="4471416" y="1527048"/>
            <a:ext cx="3246120" cy="804672"/>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2</a:t>
            </a:r>
            <a:endParaRPr lang="en-US" sz="3400" dirty="0"/>
          </a:p>
        </p:txBody>
      </p:sp>
      <p:sp>
        <p:nvSpPr>
          <p:cNvPr id="8" name="Text 6"/>
          <p:cNvSpPr txBox="1"/>
          <p:nvPr/>
        </p:nvSpPr>
        <p:spPr>
          <a:xfrm>
            <a:off x="4471416" y="2324405"/>
            <a:ext cx="3246120" cy="438912"/>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switches</a:t>
            </a:r>
            <a:endParaRPr lang="en-US" sz="1400" dirty="0"/>
          </a:p>
        </p:txBody>
      </p:sp>
      <p:sp>
        <p:nvSpPr>
          <p:cNvPr id="9" name="stat computers"/>
          <p:cNvSpPr/>
          <p:nvPr/>
        </p:nvSpPr>
        <p:spPr>
          <a:xfrm>
            <a:off x="8119872" y="1417320"/>
            <a:ext cx="3520440" cy="1463040"/>
          </a:xfrm>
          <a:prstGeom prst="roundRect">
            <a:avLst>
              <a:gd name="adj" fmla="val 6250"/>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0" name="Text 8"/>
          <p:cNvSpPr txBox="1"/>
          <p:nvPr/>
        </p:nvSpPr>
        <p:spPr>
          <a:xfrm>
            <a:off x="8257032" y="1527048"/>
            <a:ext cx="3246120" cy="804672"/>
          </a:xfrm>
          <a:prstGeom prst="rect">
            <a:avLst/>
          </a:prstGeom>
          <a:noFill/>
          <a:ln/>
        </p:spPr>
        <p:txBody>
          <a:bodyPr wrap="square" lIns="0" tIns="0" rIns="0" bIns="0" rtlCol="0" anchor="ctr"/>
          <a:lstStyle/>
          <a:p>
            <a:pPr marL="0" indent="0" algn="ctr">
              <a:buNone/>
            </a:pPr>
            <a:r>
              <a:rPr lang="en-US" sz="3400" b="1" dirty="0">
                <a:solidFill>
                  <a:schemeClr val="accent2"/>
                </a:solidFill>
                <a:latin typeface="Cambria" pitchFamily="34" charset="0"/>
                <a:ea typeface="Cambria" pitchFamily="34" charset="-122"/>
                <a:cs typeface="Cambria" pitchFamily="34" charset="-120"/>
              </a:rPr>
              <a:t>7</a:t>
            </a:r>
            <a:endParaRPr lang="en-US" sz="3400" dirty="0"/>
          </a:p>
        </p:txBody>
      </p:sp>
      <p:sp>
        <p:nvSpPr>
          <p:cNvPr id="11" name="Text 9"/>
          <p:cNvSpPr txBox="1"/>
          <p:nvPr/>
        </p:nvSpPr>
        <p:spPr>
          <a:xfrm>
            <a:off x="8257032" y="2324405"/>
            <a:ext cx="3246120" cy="438912"/>
          </a:xfrm>
          <a:prstGeom prst="rect">
            <a:avLst/>
          </a:prstGeom>
          <a:noFill/>
          <a:ln/>
        </p:spPr>
        <p:txBody>
          <a:bodyPr wrap="square" lIns="0" tIns="0" rIns="0" bIns="0"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computers</a:t>
            </a:r>
            <a:endParaRPr lang="en-US" sz="1400" dirty="0"/>
          </a:p>
        </p:txBody>
      </p:sp>
      <p:sp>
        <p:nvSpPr>
          <p:cNvPr id="12" name="address card Office side"/>
          <p:cNvSpPr/>
          <p:nvPr/>
        </p:nvSpPr>
        <p:spPr>
          <a:xfrm>
            <a:off x="548640" y="3154680"/>
            <a:ext cx="5362956" cy="3063240"/>
          </a:xfrm>
          <a:prstGeom prst="roundRect">
            <a:avLst>
              <a:gd name="adj" fmla="val 298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3" name="Text 11"/>
          <p:cNvSpPr txBox="1"/>
          <p:nvPr/>
        </p:nvSpPr>
        <p:spPr>
          <a:xfrm>
            <a:off x="822960" y="3337560"/>
            <a:ext cx="2743200" cy="274320"/>
          </a:xfrm>
          <a:prstGeom prst="rect">
            <a:avLst/>
          </a:prstGeom>
          <a:noFill/>
          <a:ln/>
        </p:spPr>
        <p:txBody>
          <a:bodyPr wrap="square" lIns="0" tIns="0" rIns="0" bIns="0" rtlCol="0" anchor="t"/>
          <a:lstStyle/>
          <a:p>
            <a:pPr marL="0" indent="0">
              <a:buNone/>
            </a:pPr>
            <a:r>
              <a:rPr lang="en-US" sz="1200" b="1" kern="0" spc="200" dirty="0">
                <a:solidFill>
                  <a:srgbClr val="4A5876"/>
                </a:solidFill>
                <a:latin typeface="Calibri" pitchFamily="34" charset="0"/>
                <a:ea typeface="Calibri" pitchFamily="34" charset="-122"/>
                <a:cs typeface="Calibri" pitchFamily="34" charset="-120"/>
              </a:rPr>
              <a:t>OFFICE SIDE</a:t>
            </a:r>
            <a:endParaRPr lang="en-US" sz="1200" dirty="0"/>
          </a:p>
        </p:txBody>
      </p:sp>
      <p:sp>
        <p:nvSpPr>
          <p:cNvPr id="14" name="ip pill Office side"/>
          <p:cNvSpPr/>
          <p:nvPr/>
        </p:nvSpPr>
        <p:spPr>
          <a:xfrm>
            <a:off x="822960" y="3703320"/>
            <a:ext cx="3108960" cy="685800"/>
          </a:xfrm>
          <a:prstGeom prst="roundRect">
            <a:avLst>
              <a:gd name="adj" fmla="val 49333"/>
            </a:avLst>
          </a:prstGeom>
          <a:solidFill>
            <a:srgbClr val="2A9D8F"/>
          </a:solidFill>
          <a:ln w="12700">
            <a:solidFill>
              <a:srgbClr val="2A9D8F"/>
            </a:solidFill>
            <a:prstDash val="solid"/>
          </a:ln>
        </p:spPr>
        <p:txBody>
          <a:bodyPr/>
          <a:lstStyle/>
          <a:p>
            <a:endParaRPr lang="en-GB"/>
          </a:p>
        </p:txBody>
      </p:sp>
      <p:sp>
        <p:nvSpPr>
          <p:cNvPr id="15" name="Text 13"/>
          <p:cNvSpPr txBox="1"/>
          <p:nvPr/>
        </p:nvSpPr>
        <p:spPr>
          <a:xfrm>
            <a:off x="822960" y="3703320"/>
            <a:ext cx="310896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192.168.10.x</a:t>
            </a:r>
            <a:endParaRPr lang="en-US" sz="2400" dirty="0"/>
          </a:p>
        </p:txBody>
      </p:sp>
      <p:sp>
        <p:nvSpPr>
          <p:cNvPr id="16" name="Text 14"/>
          <p:cNvSpPr txBox="1"/>
          <p:nvPr/>
        </p:nvSpPr>
        <p:spPr>
          <a:xfrm>
            <a:off x="822960" y="4617720"/>
            <a:ext cx="4846320" cy="14630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router has two connections, one for each switch. The office switch is connected to 6 of the computers.</a:t>
            </a:r>
            <a:endParaRPr lang="en-US" sz="1500" dirty="0"/>
          </a:p>
        </p:txBody>
      </p:sp>
      <p:sp>
        <p:nvSpPr>
          <p:cNvPr id="17" name="address card Cloud side"/>
          <p:cNvSpPr/>
          <p:nvPr/>
        </p:nvSpPr>
        <p:spPr>
          <a:xfrm>
            <a:off x="6277356" y="3154680"/>
            <a:ext cx="5362956" cy="3063240"/>
          </a:xfrm>
          <a:prstGeom prst="roundRect">
            <a:avLst>
              <a:gd name="adj" fmla="val 298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8" name="Text 16"/>
          <p:cNvSpPr txBox="1"/>
          <p:nvPr/>
        </p:nvSpPr>
        <p:spPr>
          <a:xfrm>
            <a:off x="6551676" y="3337560"/>
            <a:ext cx="2743200" cy="274320"/>
          </a:xfrm>
          <a:prstGeom prst="rect">
            <a:avLst/>
          </a:prstGeom>
          <a:noFill/>
          <a:ln/>
        </p:spPr>
        <p:txBody>
          <a:bodyPr wrap="square" lIns="0" tIns="0" rIns="0" bIns="0" rtlCol="0" anchor="t"/>
          <a:lstStyle/>
          <a:p>
            <a:pPr marL="0" indent="0">
              <a:buNone/>
            </a:pPr>
            <a:r>
              <a:rPr lang="en-US" sz="1200" b="1" kern="0" spc="200" dirty="0">
                <a:solidFill>
                  <a:srgbClr val="4A5876"/>
                </a:solidFill>
                <a:latin typeface="Calibri" pitchFamily="34" charset="0"/>
                <a:ea typeface="Calibri" pitchFamily="34" charset="-122"/>
                <a:cs typeface="Calibri" pitchFamily="34" charset="-120"/>
              </a:rPr>
              <a:t>CLOUD SIDE</a:t>
            </a:r>
            <a:endParaRPr lang="en-US" sz="1200" dirty="0"/>
          </a:p>
        </p:txBody>
      </p:sp>
      <p:sp>
        <p:nvSpPr>
          <p:cNvPr id="19" name="ip pill Cloud side"/>
          <p:cNvSpPr/>
          <p:nvPr/>
        </p:nvSpPr>
        <p:spPr>
          <a:xfrm>
            <a:off x="6551676" y="3703320"/>
            <a:ext cx="3108960" cy="685800"/>
          </a:xfrm>
          <a:prstGeom prst="roundRect">
            <a:avLst>
              <a:gd name="adj" fmla="val 49333"/>
            </a:avLst>
          </a:prstGeom>
          <a:solidFill>
            <a:srgbClr val="D64541"/>
          </a:solidFill>
          <a:ln w="12700">
            <a:solidFill>
              <a:srgbClr val="D64541"/>
            </a:solidFill>
            <a:prstDash val="solid"/>
          </a:ln>
        </p:spPr>
        <p:txBody>
          <a:bodyPr/>
          <a:lstStyle/>
          <a:p>
            <a:endParaRPr lang="en-GB"/>
          </a:p>
        </p:txBody>
      </p:sp>
      <p:sp>
        <p:nvSpPr>
          <p:cNvPr id="20" name="Text 18"/>
          <p:cNvSpPr txBox="1"/>
          <p:nvPr/>
        </p:nvSpPr>
        <p:spPr>
          <a:xfrm>
            <a:off x="6551676" y="3703320"/>
            <a:ext cx="310896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203.0.113.x</a:t>
            </a:r>
            <a:endParaRPr lang="en-US" sz="2400" dirty="0"/>
          </a:p>
        </p:txBody>
      </p:sp>
      <p:sp>
        <p:nvSpPr>
          <p:cNvPr id="21" name="Text 19"/>
          <p:cNvSpPr txBox="1"/>
          <p:nvPr/>
        </p:nvSpPr>
        <p:spPr>
          <a:xfrm>
            <a:off x="6551676" y="4617720"/>
            <a:ext cx="4846320" cy="14630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external switch is connected to the cloud. Addresses were assigned so each device matches the switch it connects through.</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The network diagram</a:t>
            </a:r>
            <a:endParaRPr lang="en-US" sz="3400" dirty="0"/>
          </a:p>
        </p:txBody>
      </p:sp>
      <p:sp>
        <p:nvSpPr>
          <p:cNvPr id="3" name="network diagram frame"/>
          <p:cNvSpPr/>
          <p:nvPr/>
        </p:nvSpPr>
        <p:spPr>
          <a:xfrm>
            <a:off x="548640" y="1417320"/>
            <a:ext cx="7680960" cy="4800600"/>
          </a:xfrm>
          <a:prstGeom prst="roundRect">
            <a:avLst>
              <a:gd name="adj" fmla="val 190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4" name="network diagram" descr="Filius network diagram: office switch with six devices, office router, external switch and ISP cloud server"/>
          <p:cNvPicPr>
            <a:picLocks noChangeAspect="1"/>
          </p:cNvPicPr>
          <p:nvPr/>
        </p:nvPicPr>
        <p:blipFill>
          <a:blip r:embed="rId3"/>
          <a:stretch>
            <a:fillRect/>
          </a:stretch>
        </p:blipFill>
        <p:spPr>
          <a:xfrm>
            <a:off x="658368" y="1949821"/>
            <a:ext cx="7461504" cy="3735597"/>
          </a:xfrm>
          <a:prstGeom prst="rect">
            <a:avLst/>
          </a:prstGeom>
        </p:spPr>
      </p:pic>
      <p:sp>
        <p:nvSpPr>
          <p:cNvPr id="5" name="office legend"/>
          <p:cNvSpPr/>
          <p:nvPr/>
        </p:nvSpPr>
        <p:spPr>
          <a:xfrm>
            <a:off x="8458200" y="1417320"/>
            <a:ext cx="3182112" cy="2286000"/>
          </a:xfrm>
          <a:prstGeom prst="roundRect">
            <a:avLst>
              <a:gd name="adj" fmla="val 4000"/>
            </a:avLst>
          </a:prstGeom>
          <a:solidFill>
            <a:srgbClr val="DDF1EE"/>
          </a:solidFill>
          <a:ln w="12700">
            <a:solidFill>
              <a:srgbClr val="2A9D8F"/>
            </a:solidFill>
            <a:prstDash val="solid"/>
          </a:ln>
        </p:spPr>
        <p:txBody>
          <a:bodyPr/>
          <a:lstStyle/>
          <a:p>
            <a:endParaRPr lang="en-GB"/>
          </a:p>
        </p:txBody>
      </p:sp>
      <p:sp>
        <p:nvSpPr>
          <p:cNvPr id="6" name="Text 3"/>
          <p:cNvSpPr txBox="1"/>
          <p:nvPr/>
        </p:nvSpPr>
        <p:spPr>
          <a:xfrm>
            <a:off x="8686800" y="1417320"/>
            <a:ext cx="2743200" cy="2286000"/>
          </a:xfrm>
          <a:prstGeom prst="rect">
            <a:avLst/>
          </a:prstGeom>
          <a:noFill/>
          <a:ln/>
        </p:spPr>
        <p:txBody>
          <a:bodyPr wrap="square" lIns="0" tIns="0" rIns="0" bIns="0" rtlCol="0" anchor="ctr"/>
          <a:lstStyle/>
          <a:p>
            <a:pPr marL="0" indent="0">
              <a:spcAft>
                <a:spcPts val="600"/>
              </a:spcAft>
              <a:buNone/>
            </a:pPr>
            <a:r>
              <a:rPr lang="en-US" sz="1200" b="1" kern="0" spc="100" dirty="0">
                <a:solidFill>
                  <a:srgbClr val="1E7A6E"/>
                </a:solidFill>
                <a:latin typeface="Calibri" pitchFamily="34" charset="0"/>
                <a:ea typeface="Calibri" pitchFamily="34" charset="-122"/>
                <a:cs typeface="Calibri" pitchFamily="34" charset="-120"/>
              </a:rPr>
              <a:t>OFFICE · 192.168.10.x</a:t>
            </a:r>
            <a:endParaRPr lang="en-US" sz="1200" dirty="0"/>
          </a:p>
          <a:p>
            <a:pPr marL="0" indent="0">
              <a:spcAft>
                <a:spcPts val="600"/>
              </a:spcAft>
              <a:buNone/>
            </a:pPr>
            <a:r>
              <a:rPr lang="en-US" sz="1500" dirty="0">
                <a:solidFill>
                  <a:schemeClr val="tx1"/>
                </a:solidFill>
                <a:latin typeface="Calibri" pitchFamily="34" charset="0"/>
                <a:ea typeface="Calibri" pitchFamily="34" charset="-122"/>
                <a:cs typeface="Calibri" pitchFamily="34" charset="-120"/>
              </a:rPr>
              <a:t>Admin PC, Project PC, CAD PC, Visual PC, Office Server and DNS Server, all on the office switch.</a:t>
            </a:r>
            <a:endParaRPr lang="en-US" sz="1200" dirty="0"/>
          </a:p>
        </p:txBody>
      </p:sp>
      <p:sp>
        <p:nvSpPr>
          <p:cNvPr id="7" name="cloud legend"/>
          <p:cNvSpPr/>
          <p:nvPr/>
        </p:nvSpPr>
        <p:spPr>
          <a:xfrm>
            <a:off x="8458200" y="3931920"/>
            <a:ext cx="3182112" cy="2286000"/>
          </a:xfrm>
          <a:prstGeom prst="roundRect">
            <a:avLst>
              <a:gd name="adj" fmla="val 4000"/>
            </a:avLst>
          </a:prstGeom>
          <a:solidFill>
            <a:srgbClr val="FADEDC"/>
          </a:solidFill>
          <a:ln w="12700">
            <a:solidFill>
              <a:srgbClr val="D64541"/>
            </a:solidFill>
            <a:prstDash val="solid"/>
          </a:ln>
        </p:spPr>
        <p:txBody>
          <a:bodyPr/>
          <a:lstStyle/>
          <a:p>
            <a:endParaRPr lang="en-GB"/>
          </a:p>
        </p:txBody>
      </p:sp>
      <p:sp>
        <p:nvSpPr>
          <p:cNvPr id="8" name="Text 5"/>
          <p:cNvSpPr txBox="1"/>
          <p:nvPr/>
        </p:nvSpPr>
        <p:spPr>
          <a:xfrm>
            <a:off x="8686800" y="3931920"/>
            <a:ext cx="2743200" cy="2286000"/>
          </a:xfrm>
          <a:prstGeom prst="rect">
            <a:avLst/>
          </a:prstGeom>
          <a:noFill/>
          <a:ln/>
        </p:spPr>
        <p:txBody>
          <a:bodyPr wrap="square" lIns="0" tIns="0" rIns="0" bIns="0" rtlCol="0" anchor="ctr"/>
          <a:lstStyle/>
          <a:p>
            <a:pPr marL="0" indent="0">
              <a:spcAft>
                <a:spcPts val="600"/>
              </a:spcAft>
              <a:buNone/>
            </a:pPr>
            <a:r>
              <a:rPr lang="en-US" sz="1200" b="1" kern="0" spc="100" dirty="0">
                <a:solidFill>
                  <a:srgbClr val="A8262B"/>
                </a:solidFill>
                <a:latin typeface="Calibri" pitchFamily="34" charset="0"/>
                <a:ea typeface="Calibri" pitchFamily="34" charset="-122"/>
                <a:cs typeface="Calibri" pitchFamily="34" charset="-120"/>
              </a:rPr>
              <a:t>CLOUD · 203.0.113.x</a:t>
            </a:r>
            <a:endParaRPr lang="en-US" sz="1200" dirty="0"/>
          </a:p>
          <a:p>
            <a:pPr marL="0" indent="0">
              <a:spcAft>
                <a:spcPts val="600"/>
              </a:spcAft>
              <a:buNone/>
            </a:pPr>
            <a:r>
              <a:rPr lang="en-US" sz="1500" dirty="0">
                <a:solidFill>
                  <a:schemeClr val="tx1"/>
                </a:solidFill>
                <a:latin typeface="Calibri" pitchFamily="34" charset="0"/>
                <a:ea typeface="Calibri" pitchFamily="34" charset="-122"/>
                <a:cs typeface="Calibri" pitchFamily="34" charset="-120"/>
              </a:rPr>
              <a:t>The external switch connects the router to the ISP / Cloud Server.</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Configuration: addresses and gateways</a:t>
            </a:r>
            <a:endParaRPr lang="en-US" sz="3400" dirty="0"/>
          </a:p>
        </p:txBody>
      </p:sp>
      <p:sp>
        <p:nvSpPr>
          <p:cNvPr id="3" name="config row Admin PC"/>
          <p:cNvSpPr/>
          <p:nvPr/>
        </p:nvSpPr>
        <p:spPr>
          <a:xfrm>
            <a:off x="548640" y="1417320"/>
            <a:ext cx="11091672" cy="1508760"/>
          </a:xfrm>
          <a:prstGeom prst="roundRect">
            <a:avLst>
              <a:gd name="adj" fmla="val 6061"/>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4" name="config Admin PC" descr="Admin PC configuration screenshot"/>
          <p:cNvPicPr>
            <a:picLocks noChangeAspect="1"/>
          </p:cNvPicPr>
          <p:nvPr/>
        </p:nvPicPr>
        <p:blipFill>
          <a:blip r:embed="rId3"/>
          <a:stretch>
            <a:fillRect/>
          </a:stretch>
        </p:blipFill>
        <p:spPr>
          <a:xfrm>
            <a:off x="1253901" y="1527048"/>
            <a:ext cx="3984438" cy="1289304"/>
          </a:xfrm>
          <a:prstGeom prst="rect">
            <a:avLst/>
          </a:prstGeom>
        </p:spPr>
      </p:pic>
      <p:sp>
        <p:nvSpPr>
          <p:cNvPr id="5" name="config dot 1"/>
          <p:cNvSpPr/>
          <p:nvPr/>
        </p:nvSpPr>
        <p:spPr>
          <a:xfrm>
            <a:off x="5989320" y="1920240"/>
            <a:ext cx="502920" cy="502920"/>
          </a:xfrm>
          <a:prstGeom prst="ellipse">
            <a:avLst/>
          </a:prstGeom>
          <a:solidFill>
            <a:srgbClr val="2A9D8F"/>
          </a:solidFill>
          <a:ln w="12700">
            <a:solidFill>
              <a:srgbClr val="2A9D8F"/>
            </a:solidFill>
            <a:prstDash val="solid"/>
          </a:ln>
        </p:spPr>
        <p:txBody>
          <a:bodyPr/>
          <a:lstStyle/>
          <a:p>
            <a:endParaRPr lang="en-GB"/>
          </a:p>
        </p:txBody>
      </p:sp>
      <p:sp>
        <p:nvSpPr>
          <p:cNvPr id="6" name="Text 3"/>
          <p:cNvSpPr txBox="1"/>
          <p:nvPr/>
        </p:nvSpPr>
        <p:spPr>
          <a:xfrm>
            <a:off x="5989320" y="1920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6720840" y="1600200"/>
            <a:ext cx="475488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Admin PC</a:t>
            </a:r>
            <a:endParaRPr lang="en-US" sz="1900" dirty="0"/>
          </a:p>
        </p:txBody>
      </p:sp>
      <p:sp>
        <p:nvSpPr>
          <p:cNvPr id="8" name="Text 5"/>
          <p:cNvSpPr txBox="1"/>
          <p:nvPr/>
        </p:nvSpPr>
        <p:spPr>
          <a:xfrm>
            <a:off x="6720840" y="2011680"/>
            <a:ext cx="475488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192.168.10.101 on the office side, with the router (192.168.10.1) as its gateway.</a:t>
            </a:r>
            <a:endParaRPr lang="en-US" sz="1500" dirty="0"/>
          </a:p>
        </p:txBody>
      </p:sp>
      <p:sp>
        <p:nvSpPr>
          <p:cNvPr id="9" name="config row ISP / Cloud Server"/>
          <p:cNvSpPr/>
          <p:nvPr/>
        </p:nvSpPr>
        <p:spPr>
          <a:xfrm>
            <a:off x="548640" y="3063240"/>
            <a:ext cx="11091672" cy="1508760"/>
          </a:xfrm>
          <a:prstGeom prst="roundRect">
            <a:avLst>
              <a:gd name="adj" fmla="val 6061"/>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10" name="config ISP / Cloud Server" descr="ISP / Cloud Server configuration screenshot"/>
          <p:cNvPicPr>
            <a:picLocks noChangeAspect="1"/>
          </p:cNvPicPr>
          <p:nvPr/>
        </p:nvPicPr>
        <p:blipFill>
          <a:blip r:embed="rId4"/>
          <a:stretch>
            <a:fillRect/>
          </a:stretch>
        </p:blipFill>
        <p:spPr>
          <a:xfrm>
            <a:off x="1241193" y="3172968"/>
            <a:ext cx="4009854" cy="1289304"/>
          </a:xfrm>
          <a:prstGeom prst="rect">
            <a:avLst/>
          </a:prstGeom>
        </p:spPr>
      </p:pic>
      <p:sp>
        <p:nvSpPr>
          <p:cNvPr id="11" name="config dot 2"/>
          <p:cNvSpPr/>
          <p:nvPr/>
        </p:nvSpPr>
        <p:spPr>
          <a:xfrm>
            <a:off x="5989320" y="3566160"/>
            <a:ext cx="502920" cy="502920"/>
          </a:xfrm>
          <a:prstGeom prst="ellipse">
            <a:avLst/>
          </a:prstGeom>
          <a:solidFill>
            <a:srgbClr val="D64541"/>
          </a:solidFill>
          <a:ln w="12700">
            <a:solidFill>
              <a:srgbClr val="D64541"/>
            </a:solidFill>
            <a:prstDash val="solid"/>
          </a:ln>
        </p:spPr>
        <p:txBody>
          <a:bodyPr/>
          <a:lstStyle/>
          <a:p>
            <a:endParaRPr lang="en-GB"/>
          </a:p>
        </p:txBody>
      </p:sp>
      <p:sp>
        <p:nvSpPr>
          <p:cNvPr id="12" name="Text 8"/>
          <p:cNvSpPr txBox="1"/>
          <p:nvPr/>
        </p:nvSpPr>
        <p:spPr>
          <a:xfrm>
            <a:off x="5989320" y="35661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9"/>
          <p:cNvSpPr txBox="1"/>
          <p:nvPr/>
        </p:nvSpPr>
        <p:spPr>
          <a:xfrm>
            <a:off x="6720840" y="3246120"/>
            <a:ext cx="475488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ISP / Cloud Server</a:t>
            </a:r>
            <a:endParaRPr lang="en-US" sz="1900" dirty="0"/>
          </a:p>
        </p:txBody>
      </p:sp>
      <p:sp>
        <p:nvSpPr>
          <p:cNvPr id="14" name="Text 10"/>
          <p:cNvSpPr txBox="1"/>
          <p:nvPr/>
        </p:nvSpPr>
        <p:spPr>
          <a:xfrm>
            <a:off x="6720840" y="3657600"/>
            <a:ext cx="475488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203.0.113.10 on the cloud side, with its gateway at 203.0.113.1.</a:t>
            </a:r>
            <a:endParaRPr lang="en-US" sz="1500" dirty="0"/>
          </a:p>
        </p:txBody>
      </p:sp>
      <p:sp>
        <p:nvSpPr>
          <p:cNvPr id="15" name="config row Office Router"/>
          <p:cNvSpPr/>
          <p:nvPr/>
        </p:nvSpPr>
        <p:spPr>
          <a:xfrm>
            <a:off x="548640" y="4709160"/>
            <a:ext cx="11091672" cy="1508760"/>
          </a:xfrm>
          <a:prstGeom prst="roundRect">
            <a:avLst>
              <a:gd name="adj" fmla="val 6061"/>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pic>
        <p:nvPicPr>
          <p:cNvPr id="16" name="config Office Router" descr="Office Router configuration screenshot"/>
          <p:cNvPicPr>
            <a:picLocks noChangeAspect="1"/>
          </p:cNvPicPr>
          <p:nvPr/>
        </p:nvPicPr>
        <p:blipFill>
          <a:blip r:embed="rId5"/>
          <a:stretch>
            <a:fillRect/>
          </a:stretch>
        </p:blipFill>
        <p:spPr>
          <a:xfrm>
            <a:off x="685800" y="4843616"/>
            <a:ext cx="5120640" cy="1239847"/>
          </a:xfrm>
          <a:prstGeom prst="rect">
            <a:avLst/>
          </a:prstGeom>
        </p:spPr>
      </p:pic>
      <p:sp>
        <p:nvSpPr>
          <p:cNvPr id="17" name="config dot 3"/>
          <p:cNvSpPr/>
          <p:nvPr/>
        </p:nvSpPr>
        <p:spPr>
          <a:xfrm>
            <a:off x="5989320" y="5212080"/>
            <a:ext cx="502920" cy="502920"/>
          </a:xfrm>
          <a:prstGeom prst="ellipse">
            <a:avLst/>
          </a:prstGeom>
          <a:solidFill>
            <a:srgbClr val="1F3A6B"/>
          </a:solidFill>
          <a:ln w="12700">
            <a:solidFill>
              <a:srgbClr val="1F3A6B"/>
            </a:solidFill>
            <a:prstDash val="solid"/>
          </a:ln>
        </p:spPr>
        <p:txBody>
          <a:bodyPr/>
          <a:lstStyle/>
          <a:p>
            <a:endParaRPr lang="en-GB"/>
          </a:p>
        </p:txBody>
      </p:sp>
      <p:sp>
        <p:nvSpPr>
          <p:cNvPr id="18" name="Text 13"/>
          <p:cNvSpPr txBox="1"/>
          <p:nvPr/>
        </p:nvSpPr>
        <p:spPr>
          <a:xfrm>
            <a:off x="5989320" y="5212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4"/>
          <p:cNvSpPr txBox="1"/>
          <p:nvPr/>
        </p:nvSpPr>
        <p:spPr>
          <a:xfrm>
            <a:off x="6720840" y="4892040"/>
            <a:ext cx="475488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Office Router</a:t>
            </a:r>
            <a:endParaRPr lang="en-US" sz="1900" dirty="0"/>
          </a:p>
        </p:txBody>
      </p:sp>
      <p:sp>
        <p:nvSpPr>
          <p:cNvPr id="20" name="Text 15"/>
          <p:cNvSpPr txBox="1"/>
          <p:nvPr/>
        </p:nvSpPr>
        <p:spPr>
          <a:xfrm>
            <a:off x="6720840" y="5303520"/>
            <a:ext cx="4754880" cy="8229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One interface for each side, 192.168.10.1 and 203.0.113.1, with IP forwarding switched on.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ackdrop circle"/>
          <p:cNvSpPr/>
          <p:nvPr/>
        </p:nvSpPr>
        <p:spPr>
          <a:xfrm>
            <a:off x="7498080" y="822960"/>
            <a:ext cx="4754880" cy="4754880"/>
          </a:xfrm>
          <a:prstGeom prst="ellipse">
            <a:avLst/>
          </a:prstGeom>
          <a:solidFill>
            <a:schemeClr val="accent4">
              <a:alpha val="45000"/>
            </a:schemeClr>
          </a:solidFill>
          <a:ln w="12700">
            <a:solidFill>
              <a:schemeClr val="accent4"/>
            </a:solidFill>
            <a:prstDash val="solid"/>
          </a:ln>
        </p:spPr>
        <p:txBody>
          <a:bodyPr/>
          <a:lstStyle/>
          <a:p>
            <a:endParaRPr lang="en-GB"/>
          </a:p>
        </p:txBody>
      </p:sp>
      <p:sp>
        <p:nvSpPr>
          <p:cNvPr id="3" name="divider circle"/>
          <p:cNvSpPr/>
          <p:nvPr/>
        </p:nvSpPr>
        <p:spPr>
          <a:xfrm>
            <a:off x="8229600" y="1554480"/>
            <a:ext cx="3291840" cy="3291840"/>
          </a:xfrm>
          <a:prstGeom prst="ellipse">
            <a:avLst/>
          </a:prstGeom>
          <a:solidFill>
            <a:schemeClr val="accent3"/>
          </a:solidFill>
          <a:ln w="50800">
            <a:solidFill>
              <a:schemeClr val="tx2"/>
            </a:solidFill>
            <a:prstDash val="solid"/>
          </a:ln>
        </p:spPr>
        <p:txBody>
          <a:bodyPr/>
          <a:lstStyle/>
          <a:p>
            <a:endParaRPr lang="en-GB"/>
          </a:p>
        </p:txBody>
      </p:sp>
      <p:pic>
        <p:nvPicPr>
          <p:cNvPr id="4" name="divider icon" descr="Cyber-security"/>
          <p:cNvPicPr>
            <a:picLocks noChangeAspect="1"/>
          </p:cNvPicPr>
          <p:nvPr/>
        </p:nvPicPr>
        <p:blipFill>
          <a:blip r:embed="rId3"/>
          <a:stretch>
            <a:fillRect/>
          </a:stretch>
        </p:blipFill>
        <p:spPr>
          <a:xfrm>
            <a:off x="9189720" y="2514600"/>
            <a:ext cx="1371600" cy="1371600"/>
          </a:xfrm>
          <a:prstGeom prst="rect">
            <a:avLst/>
          </a:prstGeom>
        </p:spPr>
      </p:pic>
      <p:sp>
        <p:nvSpPr>
          <p:cNvPr id="5" name="Text 2"/>
          <p:cNvSpPr txBox="1"/>
          <p:nvPr/>
        </p:nvSpPr>
        <p:spPr>
          <a:xfrm>
            <a:off x="822960" y="1188720"/>
            <a:ext cx="5486400" cy="1280160"/>
          </a:xfrm>
          <a:prstGeom prst="rect">
            <a:avLst/>
          </a:prstGeom>
          <a:noFill/>
          <a:ln/>
        </p:spPr>
        <p:txBody>
          <a:bodyPr wrap="square" lIns="0" tIns="0" rIns="0" bIns="0" rtlCol="0" anchor="ctr"/>
          <a:lstStyle/>
          <a:p>
            <a:pPr marL="0" indent="0">
              <a:buNone/>
            </a:pPr>
            <a:r>
              <a:rPr lang="en-US" sz="8800" b="1" dirty="0">
                <a:solidFill>
                  <a:schemeClr val="accent2"/>
                </a:solidFill>
                <a:latin typeface="Cambria" pitchFamily="34" charset="0"/>
                <a:ea typeface="Cambria" pitchFamily="34" charset="-122"/>
                <a:cs typeface="Cambria" pitchFamily="34" charset="-120"/>
              </a:rPr>
              <a:t>MP4</a:t>
            </a:r>
            <a:endParaRPr lang="en-US" sz="8800" dirty="0"/>
          </a:p>
        </p:txBody>
      </p:sp>
      <p:sp>
        <p:nvSpPr>
          <p:cNvPr id="6" name="Text 3"/>
          <p:cNvSpPr txBox="1"/>
          <p:nvPr/>
        </p:nvSpPr>
        <p:spPr>
          <a:xfrm>
            <a:off x="822960" y="2514600"/>
            <a:ext cx="676656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Cyber-security</a:t>
            </a:r>
            <a:endParaRPr lang="en-US" sz="4400" dirty="0"/>
          </a:p>
        </p:txBody>
      </p:sp>
      <p:sp>
        <p:nvSpPr>
          <p:cNvPr id="7" name="Text 4"/>
          <p:cNvSpPr txBox="1"/>
          <p:nvPr/>
        </p:nvSpPr>
        <p:spPr>
          <a:xfrm>
            <a:off x="822960" y="3337560"/>
            <a:ext cx="6766560" cy="457200"/>
          </a:xfrm>
          <a:prstGeom prst="rect">
            <a:avLst/>
          </a:prstGeom>
          <a:noFill/>
          <a:ln/>
        </p:spPr>
        <p:txBody>
          <a:bodyPr wrap="square" lIns="0" tIns="0" rIns="0" bIns="0" rtlCol="0" anchor="t"/>
          <a:lstStyle/>
          <a:p>
            <a:pPr marL="0" indent="0">
              <a:buNone/>
            </a:pPr>
            <a:r>
              <a:rPr lang="en-US" sz="2100" i="1" dirty="0">
                <a:solidFill>
                  <a:srgbClr val="C9D3EA"/>
                </a:solidFill>
                <a:latin typeface="Calibri" pitchFamily="34" charset="0"/>
                <a:ea typeface="Calibri" pitchFamily="34" charset="-122"/>
                <a:cs typeface="Calibri" pitchFamily="34" charset="-120"/>
              </a:rPr>
              <a:t>Cyber-security awareness report</a:t>
            </a:r>
            <a:endParaRPr lang="en-US" sz="2100" dirty="0"/>
          </a:p>
        </p:txBody>
      </p:sp>
      <p:sp>
        <p:nvSpPr>
          <p:cNvPr id="8" name="Text 5"/>
          <p:cNvSpPr txBox="1"/>
          <p:nvPr/>
        </p:nvSpPr>
        <p:spPr>
          <a:xfrm>
            <a:off x="822960" y="4343400"/>
            <a:ext cx="4572000" cy="274320"/>
          </a:xfrm>
          <a:prstGeom prst="rect">
            <a:avLst/>
          </a:prstGeom>
          <a:noFill/>
          <a:ln/>
        </p:spPr>
        <p:txBody>
          <a:bodyPr wrap="square" lIns="0" tIns="0" rIns="0" bIns="0" rtlCol="0" anchor="t"/>
          <a:lstStyle/>
          <a:p>
            <a:pPr marL="0" indent="0">
              <a:buNone/>
            </a:pPr>
            <a:r>
              <a:rPr lang="en-US" sz="1300" b="1" kern="0" spc="300" dirty="0">
                <a:solidFill>
                  <a:schemeClr val="accent2"/>
                </a:solidFill>
                <a:latin typeface="Calibri" pitchFamily="34" charset="0"/>
                <a:ea typeface="Calibri" pitchFamily="34" charset="-122"/>
                <a:cs typeface="Calibri" pitchFamily="34" charset="-120"/>
              </a:rPr>
              <a:t>PRESENTED BY</a:t>
            </a:r>
            <a:endParaRPr lang="en-US" sz="1300" dirty="0"/>
          </a:p>
        </p:txBody>
      </p:sp>
      <p:sp>
        <p:nvSpPr>
          <p:cNvPr id="9" name="Text 6"/>
          <p:cNvSpPr txBox="1"/>
          <p:nvPr/>
        </p:nvSpPr>
        <p:spPr>
          <a:xfrm>
            <a:off x="822960" y="4663440"/>
            <a:ext cx="6766560" cy="594360"/>
          </a:xfrm>
          <a:prstGeom prst="rect">
            <a:avLst/>
          </a:prstGeom>
          <a:noFill/>
          <a:ln/>
        </p:spPr>
        <p:txBody>
          <a:bodyPr wrap="square" lIns="0" tIns="0" rIns="0" bIns="0" rtlCol="0" anchor="ctr"/>
          <a:lstStyle/>
          <a:p>
            <a:pPr marL="0" indent="0">
              <a:buNone/>
            </a:pPr>
            <a:r>
              <a:rPr lang="en-US" sz="3000" b="1" dirty="0">
                <a:solidFill>
                  <a:schemeClr val="bg1"/>
                </a:solidFill>
                <a:latin typeface="Cambria" pitchFamily="34" charset="0"/>
                <a:ea typeface="Cambria" pitchFamily="34" charset="-122"/>
                <a:cs typeface="Cambria" pitchFamily="34" charset="-120"/>
              </a:rPr>
              <a:t>Fatimah Bibi</a:t>
            </a:r>
            <a:endParaRPr lang="en-US" sz="3000" dirty="0"/>
          </a:p>
        </p:txBody>
      </p:sp>
      <p:sp>
        <p:nvSpPr>
          <p:cNvPr id="10" name="progress 1"/>
          <p:cNvSpPr/>
          <p:nvPr/>
        </p:nvSpPr>
        <p:spPr>
          <a:xfrm>
            <a:off x="822960"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1" name="Text 8"/>
          <p:cNvSpPr txBox="1"/>
          <p:nvPr/>
        </p:nvSpPr>
        <p:spPr>
          <a:xfrm>
            <a:off x="822960"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1</a:t>
            </a:r>
            <a:endParaRPr lang="en-US" sz="1400" dirty="0"/>
          </a:p>
        </p:txBody>
      </p:sp>
      <p:sp>
        <p:nvSpPr>
          <p:cNvPr id="12" name="progress 2"/>
          <p:cNvSpPr/>
          <p:nvPr/>
        </p:nvSpPr>
        <p:spPr>
          <a:xfrm>
            <a:off x="1389888"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3" name="Text 10"/>
          <p:cNvSpPr txBox="1"/>
          <p:nvPr/>
        </p:nvSpPr>
        <p:spPr>
          <a:xfrm>
            <a:off x="1389888"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2</a:t>
            </a:r>
            <a:endParaRPr lang="en-US" sz="1400" dirty="0"/>
          </a:p>
        </p:txBody>
      </p:sp>
      <p:sp>
        <p:nvSpPr>
          <p:cNvPr id="14" name="progress 3"/>
          <p:cNvSpPr/>
          <p:nvPr/>
        </p:nvSpPr>
        <p:spPr>
          <a:xfrm>
            <a:off x="1956816" y="5806440"/>
            <a:ext cx="411480" cy="411480"/>
          </a:xfrm>
          <a:prstGeom prst="ellipse">
            <a:avLst/>
          </a:prstGeom>
          <a:solidFill>
            <a:schemeClr val="accent4"/>
          </a:solidFill>
          <a:ln w="12700">
            <a:solidFill>
              <a:schemeClr val="accent4"/>
            </a:solidFill>
            <a:prstDash val="solid"/>
          </a:ln>
        </p:spPr>
        <p:txBody>
          <a:bodyPr/>
          <a:lstStyle/>
          <a:p>
            <a:endParaRPr lang="en-GB"/>
          </a:p>
        </p:txBody>
      </p:sp>
      <p:sp>
        <p:nvSpPr>
          <p:cNvPr id="15" name="Text 12"/>
          <p:cNvSpPr txBox="1"/>
          <p:nvPr/>
        </p:nvSpPr>
        <p:spPr>
          <a:xfrm>
            <a:off x="1956816" y="5806440"/>
            <a:ext cx="411480" cy="411480"/>
          </a:xfrm>
          <a:prstGeom prst="rect">
            <a:avLst/>
          </a:prstGeom>
          <a:noFill/>
          <a:ln/>
        </p:spPr>
        <p:txBody>
          <a:bodyPr wrap="square" lIns="0" tIns="0" rIns="0" bIns="0" rtlCol="0" anchor="ctr"/>
          <a:lstStyle/>
          <a:p>
            <a:pPr marL="0" indent="0" algn="ctr">
              <a:buNone/>
            </a:pPr>
            <a:r>
              <a:rPr lang="en-US" sz="1400" b="1" dirty="0">
                <a:solidFill>
                  <a:srgbClr val="9FB0D0"/>
                </a:solidFill>
                <a:latin typeface="Calibri" pitchFamily="34" charset="0"/>
                <a:ea typeface="Calibri" pitchFamily="34" charset="-122"/>
                <a:cs typeface="Calibri" pitchFamily="34" charset="-120"/>
              </a:rPr>
              <a:t>3</a:t>
            </a:r>
            <a:endParaRPr lang="en-US" sz="1400" dirty="0"/>
          </a:p>
        </p:txBody>
      </p:sp>
      <p:sp>
        <p:nvSpPr>
          <p:cNvPr id="16" name="progress 4"/>
          <p:cNvSpPr/>
          <p:nvPr/>
        </p:nvSpPr>
        <p:spPr>
          <a:xfrm>
            <a:off x="2523744" y="5806440"/>
            <a:ext cx="411480" cy="411480"/>
          </a:xfrm>
          <a:prstGeom prst="ellipse">
            <a:avLst/>
          </a:prstGeom>
          <a:solidFill>
            <a:schemeClr val="accent2"/>
          </a:solidFill>
          <a:ln w="12700">
            <a:solidFill>
              <a:schemeClr val="accent2"/>
            </a:solidFill>
            <a:prstDash val="solid"/>
          </a:ln>
        </p:spPr>
        <p:txBody>
          <a:bodyPr/>
          <a:lstStyle/>
          <a:p>
            <a:endParaRPr lang="en-GB"/>
          </a:p>
        </p:txBody>
      </p:sp>
      <p:sp>
        <p:nvSpPr>
          <p:cNvPr id="17" name="Text 14"/>
          <p:cNvSpPr txBox="1"/>
          <p:nvPr/>
        </p:nvSpPr>
        <p:spPr>
          <a:xfrm>
            <a:off x="2523744" y="5806440"/>
            <a:ext cx="411480" cy="411480"/>
          </a:xfrm>
          <a:prstGeom prst="rect">
            <a:avLst/>
          </a:prstGeom>
          <a:noFill/>
          <a:ln/>
        </p:spPr>
        <p:txBody>
          <a:bodyPr wrap="square" lIns="0" tIns="0" rIns="0" bIns="0" rtlCol="0" anchor="ctr"/>
          <a:lstStyle/>
          <a:p>
            <a:pPr marL="0" indent="0" algn="ctr">
              <a:buNone/>
            </a:pPr>
            <a:r>
              <a:rPr lang="en-US" sz="1400" b="1" dirty="0">
                <a:solidFill>
                  <a:schemeClr val="tx2"/>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Cybersecurity: safer choices online</a:t>
            </a:r>
            <a:endParaRPr lang="en-US" sz="3400" dirty="0"/>
          </a:p>
        </p:txBody>
      </p:sp>
      <p:sp>
        <p:nvSpPr>
          <p:cNvPr id="3" name="Text 1"/>
          <p:cNvSpPr txBox="1"/>
          <p:nvPr/>
        </p:nvSpPr>
        <p:spPr>
          <a:xfrm>
            <a:off x="548640" y="1078992"/>
            <a:ext cx="11064240" cy="320040"/>
          </a:xfrm>
          <a:prstGeom prst="rect">
            <a:avLst/>
          </a:prstGeom>
          <a:noFill/>
          <a:ln/>
        </p:spPr>
        <p:txBody>
          <a:bodyPr wrap="square" lIns="0" tIns="0" rIns="0" bIns="0" rtlCol="0" anchor="t"/>
          <a:lstStyle/>
          <a:p>
            <a:pPr marL="0" indent="0">
              <a:buNone/>
            </a:pPr>
            <a:r>
              <a:rPr lang="en-US" sz="1800" i="1" dirty="0">
                <a:solidFill>
                  <a:srgbClr val="4A5876"/>
                </a:solidFill>
                <a:latin typeface="Calibri" pitchFamily="34" charset="0"/>
                <a:ea typeface="Calibri" pitchFamily="34" charset="-122"/>
                <a:cs typeface="Calibri" pitchFamily="34" charset="-120"/>
              </a:rPr>
              <a:t>Practical ways to protect accounts, recognise scams and secure devices.</a:t>
            </a:r>
            <a:endParaRPr lang="en-US" sz="1800" dirty="0"/>
          </a:p>
        </p:txBody>
      </p:sp>
      <p:sp>
        <p:nvSpPr>
          <p:cNvPr id="4" name="issue card"/>
          <p:cNvSpPr/>
          <p:nvPr/>
        </p:nvSpPr>
        <p:spPr>
          <a:xfrm>
            <a:off x="548640" y="1645920"/>
            <a:ext cx="11091672" cy="1691640"/>
          </a:xfrm>
          <a:prstGeom prst="roundRect">
            <a:avLst>
              <a:gd name="adj" fmla="val 540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5" name="Issue circle"/>
          <p:cNvSpPr/>
          <p:nvPr/>
        </p:nvSpPr>
        <p:spPr>
          <a:xfrm>
            <a:off x="868680" y="2103120"/>
            <a:ext cx="777240" cy="777240"/>
          </a:xfrm>
          <a:prstGeom prst="ellipse">
            <a:avLst/>
          </a:prstGeom>
          <a:solidFill>
            <a:srgbClr val="D64541"/>
          </a:solidFill>
          <a:ln w="12700">
            <a:solidFill>
              <a:srgbClr val="D64541"/>
            </a:solidFill>
            <a:prstDash val="solid"/>
          </a:ln>
        </p:spPr>
        <p:txBody>
          <a:bodyPr/>
          <a:lstStyle/>
          <a:p>
            <a:endParaRPr lang="en-GB"/>
          </a:p>
        </p:txBody>
      </p:sp>
      <p:pic>
        <p:nvPicPr>
          <p:cNvPr id="6" name="Issue icon" descr="Issue"/>
          <p:cNvPicPr>
            <a:picLocks noChangeAspect="1"/>
          </p:cNvPicPr>
          <p:nvPr/>
        </p:nvPicPr>
        <p:blipFill>
          <a:blip r:embed="rId3"/>
          <a:stretch>
            <a:fillRect/>
          </a:stretch>
        </p:blipFill>
        <p:spPr>
          <a:xfrm>
            <a:off x="1070762" y="2305202"/>
            <a:ext cx="373075" cy="373075"/>
          </a:xfrm>
          <a:prstGeom prst="rect">
            <a:avLst/>
          </a:prstGeom>
        </p:spPr>
      </p:pic>
      <p:sp>
        <p:nvSpPr>
          <p:cNvPr id="7" name="Text 4"/>
          <p:cNvSpPr txBox="1"/>
          <p:nvPr/>
        </p:nvSpPr>
        <p:spPr>
          <a:xfrm>
            <a:off x="2011680" y="1810512"/>
            <a:ext cx="3657600" cy="274320"/>
          </a:xfrm>
          <a:prstGeom prst="rect">
            <a:avLst/>
          </a:prstGeom>
          <a:noFill/>
          <a:ln/>
        </p:spPr>
        <p:txBody>
          <a:bodyPr wrap="square" lIns="0" tIns="0" rIns="0" bIns="0" rtlCol="0" anchor="t"/>
          <a:lstStyle/>
          <a:p>
            <a:pPr marL="0" indent="0">
              <a:buNone/>
            </a:pPr>
            <a:r>
              <a:rPr lang="en-US" sz="1200" b="1" kern="0" spc="200" dirty="0">
                <a:solidFill>
                  <a:srgbClr val="D64541"/>
                </a:solidFill>
                <a:latin typeface="Calibri" pitchFamily="34" charset="0"/>
                <a:ea typeface="Calibri" pitchFamily="34" charset="-122"/>
                <a:cs typeface="Calibri" pitchFamily="34" charset="-120"/>
              </a:rPr>
              <a:t>THE ISSUE</a:t>
            </a:r>
            <a:endParaRPr lang="en-US" sz="1200" dirty="0"/>
          </a:p>
        </p:txBody>
      </p:sp>
      <p:sp>
        <p:nvSpPr>
          <p:cNvPr id="8" name="Text 5"/>
          <p:cNvSpPr txBox="1"/>
          <p:nvPr/>
        </p:nvSpPr>
        <p:spPr>
          <a:xfrm>
            <a:off x="2011680" y="2103120"/>
            <a:ext cx="9326880" cy="1005840"/>
          </a:xfrm>
          <a:prstGeom prst="rect">
            <a:avLst/>
          </a:prstGeom>
          <a:noFill/>
          <a:ln/>
        </p:spPr>
        <p:txBody>
          <a:bodyPr wrap="square" lIns="0" tIns="0" rIns="0" bIns="0" rtlCol="0" anchor="t"/>
          <a:lstStyle/>
          <a:p>
            <a:pPr marL="0" indent="0">
              <a:buNone/>
            </a:pPr>
            <a:r>
              <a:rPr lang="en-US" sz="2000" dirty="0">
                <a:solidFill>
                  <a:schemeClr val="tx1"/>
                </a:solidFill>
                <a:latin typeface="Calibri" pitchFamily="34" charset="0"/>
                <a:ea typeface="Calibri" pitchFamily="34" charset="-122"/>
                <a:cs typeface="Calibri" pitchFamily="34" charset="-120"/>
              </a:rPr>
              <a:t>There is little current cyber awareness. Our team addressed this by creating a cyber report for the public with five sections.</a:t>
            </a:r>
            <a:endParaRPr lang="en-US" sz="2000" dirty="0"/>
          </a:p>
        </p:txBody>
      </p:sp>
      <p:sp>
        <p:nvSpPr>
          <p:cNvPr id="9" name="Text 6"/>
          <p:cNvSpPr txBox="1"/>
          <p:nvPr/>
        </p:nvSpPr>
        <p:spPr>
          <a:xfrm>
            <a:off x="548640" y="3611880"/>
            <a:ext cx="4572000" cy="274320"/>
          </a:xfrm>
          <a:prstGeom prst="rect">
            <a:avLst/>
          </a:prstGeom>
          <a:noFill/>
          <a:ln/>
        </p:spPr>
        <p:txBody>
          <a:bodyPr wrap="square" lIns="0" tIns="0" rIns="0" bIns="0" rtlCol="0" anchor="t"/>
          <a:lstStyle/>
          <a:p>
            <a:pPr marL="0" indent="0">
              <a:buNone/>
            </a:pPr>
            <a:r>
              <a:rPr lang="en-US" sz="1200" b="1" kern="0" spc="200" dirty="0">
                <a:solidFill>
                  <a:srgbClr val="4A5876"/>
                </a:solidFill>
                <a:latin typeface="Calibri" pitchFamily="34" charset="0"/>
                <a:ea typeface="Calibri" pitchFamily="34" charset="-122"/>
                <a:cs typeface="Calibri" pitchFamily="34" charset="-120"/>
              </a:rPr>
              <a:t>THE FIVE SECTIONS</a:t>
            </a:r>
            <a:endParaRPr lang="en-US" sz="1200" dirty="0"/>
          </a:p>
        </p:txBody>
      </p:sp>
      <p:sp>
        <p:nvSpPr>
          <p:cNvPr id="10" name="section chip Passwords"/>
          <p:cNvSpPr/>
          <p:nvPr/>
        </p:nvSpPr>
        <p:spPr>
          <a:xfrm>
            <a:off x="548640" y="3977640"/>
            <a:ext cx="2011680" cy="219456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1" name="Passwords circle"/>
          <p:cNvSpPr/>
          <p:nvPr/>
        </p:nvSpPr>
        <p:spPr>
          <a:xfrm>
            <a:off x="1143000" y="4297680"/>
            <a:ext cx="822960" cy="822960"/>
          </a:xfrm>
          <a:prstGeom prst="ellipse">
            <a:avLst/>
          </a:prstGeom>
          <a:solidFill>
            <a:srgbClr val="2A9D8F"/>
          </a:solidFill>
          <a:ln w="12700">
            <a:solidFill>
              <a:srgbClr val="2A9D8F"/>
            </a:solidFill>
            <a:prstDash val="solid"/>
          </a:ln>
        </p:spPr>
        <p:txBody>
          <a:bodyPr/>
          <a:lstStyle/>
          <a:p>
            <a:endParaRPr lang="en-GB"/>
          </a:p>
        </p:txBody>
      </p:sp>
      <p:pic>
        <p:nvPicPr>
          <p:cNvPr id="12" name="Passwords icon" descr="Passwords"/>
          <p:cNvPicPr>
            <a:picLocks noChangeAspect="1"/>
          </p:cNvPicPr>
          <p:nvPr/>
        </p:nvPicPr>
        <p:blipFill>
          <a:blip r:embed="rId4"/>
          <a:stretch>
            <a:fillRect/>
          </a:stretch>
        </p:blipFill>
        <p:spPr>
          <a:xfrm>
            <a:off x="1356970" y="4511650"/>
            <a:ext cx="395021" cy="395021"/>
          </a:xfrm>
          <a:prstGeom prst="rect">
            <a:avLst/>
          </a:prstGeom>
        </p:spPr>
      </p:pic>
      <p:sp>
        <p:nvSpPr>
          <p:cNvPr id="13" name="Text 9"/>
          <p:cNvSpPr txBox="1"/>
          <p:nvPr/>
        </p:nvSpPr>
        <p:spPr>
          <a:xfrm>
            <a:off x="640080" y="5349240"/>
            <a:ext cx="1828800" cy="457200"/>
          </a:xfrm>
          <a:prstGeom prst="rect">
            <a:avLst/>
          </a:prstGeom>
          <a:noFill/>
          <a:ln/>
        </p:spPr>
        <p:txBody>
          <a:bodyPr wrap="square" lIns="0" tIns="0" rIns="0" bIns="0" rtlCol="0" anchor="ctr"/>
          <a:lstStyle/>
          <a:p>
            <a:pPr marL="0" indent="0" algn="ctr">
              <a:buNone/>
            </a:pPr>
            <a:r>
              <a:rPr lang="en-US" sz="1900" b="1" dirty="0">
                <a:solidFill>
                  <a:schemeClr val="tx2"/>
                </a:solidFill>
                <a:latin typeface="Calibri" pitchFamily="34" charset="0"/>
                <a:ea typeface="Calibri" pitchFamily="34" charset="-122"/>
                <a:cs typeface="Calibri" pitchFamily="34" charset="-120"/>
              </a:rPr>
              <a:t>Passwords</a:t>
            </a:r>
            <a:endParaRPr lang="en-US" sz="1900" dirty="0"/>
          </a:p>
        </p:txBody>
      </p:sp>
      <p:sp>
        <p:nvSpPr>
          <p:cNvPr id="14" name="section chip MFA"/>
          <p:cNvSpPr/>
          <p:nvPr/>
        </p:nvSpPr>
        <p:spPr>
          <a:xfrm>
            <a:off x="2818638" y="3977640"/>
            <a:ext cx="2011680" cy="219456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5" name="MFA circle"/>
          <p:cNvSpPr/>
          <p:nvPr/>
        </p:nvSpPr>
        <p:spPr>
          <a:xfrm>
            <a:off x="3412998" y="4297680"/>
            <a:ext cx="822960" cy="822960"/>
          </a:xfrm>
          <a:prstGeom prst="ellipse">
            <a:avLst/>
          </a:prstGeom>
          <a:solidFill>
            <a:srgbClr val="1F3A6B"/>
          </a:solidFill>
          <a:ln w="12700">
            <a:solidFill>
              <a:srgbClr val="1F3A6B"/>
            </a:solidFill>
            <a:prstDash val="solid"/>
          </a:ln>
        </p:spPr>
        <p:txBody>
          <a:bodyPr/>
          <a:lstStyle/>
          <a:p>
            <a:endParaRPr lang="en-GB"/>
          </a:p>
        </p:txBody>
      </p:sp>
      <p:pic>
        <p:nvPicPr>
          <p:cNvPr id="16" name="MFA icon" descr="MFA"/>
          <p:cNvPicPr>
            <a:picLocks noChangeAspect="1"/>
          </p:cNvPicPr>
          <p:nvPr/>
        </p:nvPicPr>
        <p:blipFill>
          <a:blip r:embed="rId5"/>
          <a:stretch>
            <a:fillRect/>
          </a:stretch>
        </p:blipFill>
        <p:spPr>
          <a:xfrm>
            <a:off x="3626968" y="4511650"/>
            <a:ext cx="395021" cy="395021"/>
          </a:xfrm>
          <a:prstGeom prst="rect">
            <a:avLst/>
          </a:prstGeom>
        </p:spPr>
      </p:pic>
      <p:sp>
        <p:nvSpPr>
          <p:cNvPr id="17" name="Text 12"/>
          <p:cNvSpPr txBox="1"/>
          <p:nvPr/>
        </p:nvSpPr>
        <p:spPr>
          <a:xfrm>
            <a:off x="2910078" y="5349240"/>
            <a:ext cx="1828800" cy="457200"/>
          </a:xfrm>
          <a:prstGeom prst="rect">
            <a:avLst/>
          </a:prstGeom>
          <a:noFill/>
          <a:ln/>
        </p:spPr>
        <p:txBody>
          <a:bodyPr wrap="square" lIns="0" tIns="0" rIns="0" bIns="0" rtlCol="0" anchor="ctr"/>
          <a:lstStyle/>
          <a:p>
            <a:pPr marL="0" indent="0" algn="ctr">
              <a:buNone/>
            </a:pPr>
            <a:r>
              <a:rPr lang="en-US" sz="1900" b="1" dirty="0">
                <a:solidFill>
                  <a:schemeClr val="tx2"/>
                </a:solidFill>
                <a:latin typeface="Calibri" pitchFamily="34" charset="0"/>
                <a:ea typeface="Calibri" pitchFamily="34" charset="-122"/>
                <a:cs typeface="Calibri" pitchFamily="34" charset="-120"/>
              </a:rPr>
              <a:t>MFA</a:t>
            </a:r>
            <a:endParaRPr lang="en-US" sz="1900" dirty="0"/>
          </a:p>
        </p:txBody>
      </p:sp>
      <p:sp>
        <p:nvSpPr>
          <p:cNvPr id="18" name="section chip Phishing"/>
          <p:cNvSpPr/>
          <p:nvPr/>
        </p:nvSpPr>
        <p:spPr>
          <a:xfrm>
            <a:off x="5088636" y="3977640"/>
            <a:ext cx="2011680" cy="219456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9" name="Phishing circle"/>
          <p:cNvSpPr/>
          <p:nvPr/>
        </p:nvSpPr>
        <p:spPr>
          <a:xfrm>
            <a:off x="5682996" y="4297680"/>
            <a:ext cx="822960" cy="822960"/>
          </a:xfrm>
          <a:prstGeom prst="ellipse">
            <a:avLst/>
          </a:prstGeom>
          <a:solidFill>
            <a:srgbClr val="D64541"/>
          </a:solidFill>
          <a:ln w="12700">
            <a:solidFill>
              <a:srgbClr val="D64541"/>
            </a:solidFill>
            <a:prstDash val="solid"/>
          </a:ln>
        </p:spPr>
        <p:txBody>
          <a:bodyPr/>
          <a:lstStyle/>
          <a:p>
            <a:endParaRPr lang="en-GB"/>
          </a:p>
        </p:txBody>
      </p:sp>
      <p:pic>
        <p:nvPicPr>
          <p:cNvPr id="20" name="Phishing icon" descr="Phishing"/>
          <p:cNvPicPr>
            <a:picLocks noChangeAspect="1"/>
          </p:cNvPicPr>
          <p:nvPr/>
        </p:nvPicPr>
        <p:blipFill>
          <a:blip r:embed="rId6"/>
          <a:stretch>
            <a:fillRect/>
          </a:stretch>
        </p:blipFill>
        <p:spPr>
          <a:xfrm>
            <a:off x="5896966" y="4511650"/>
            <a:ext cx="395021" cy="395021"/>
          </a:xfrm>
          <a:prstGeom prst="rect">
            <a:avLst/>
          </a:prstGeom>
        </p:spPr>
      </p:pic>
      <p:sp>
        <p:nvSpPr>
          <p:cNvPr id="21" name="Text 15"/>
          <p:cNvSpPr txBox="1"/>
          <p:nvPr/>
        </p:nvSpPr>
        <p:spPr>
          <a:xfrm>
            <a:off x="5180076" y="5349240"/>
            <a:ext cx="1828800" cy="457200"/>
          </a:xfrm>
          <a:prstGeom prst="rect">
            <a:avLst/>
          </a:prstGeom>
          <a:noFill/>
          <a:ln/>
        </p:spPr>
        <p:txBody>
          <a:bodyPr wrap="square" lIns="0" tIns="0" rIns="0" bIns="0" rtlCol="0" anchor="ctr"/>
          <a:lstStyle/>
          <a:p>
            <a:pPr marL="0" indent="0" algn="ctr">
              <a:buNone/>
            </a:pPr>
            <a:r>
              <a:rPr lang="en-US" sz="1900" b="1" dirty="0">
                <a:solidFill>
                  <a:schemeClr val="tx2"/>
                </a:solidFill>
                <a:latin typeface="Calibri" pitchFamily="34" charset="0"/>
                <a:ea typeface="Calibri" pitchFamily="34" charset="-122"/>
                <a:cs typeface="Calibri" pitchFamily="34" charset="-120"/>
              </a:rPr>
              <a:t>Phishing</a:t>
            </a:r>
            <a:endParaRPr lang="en-US" sz="1900" dirty="0"/>
          </a:p>
        </p:txBody>
      </p:sp>
      <p:sp>
        <p:nvSpPr>
          <p:cNvPr id="22" name="section chip Devices"/>
          <p:cNvSpPr/>
          <p:nvPr/>
        </p:nvSpPr>
        <p:spPr>
          <a:xfrm>
            <a:off x="7358634" y="3977640"/>
            <a:ext cx="2011680" cy="219456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3" name="Devices circle"/>
          <p:cNvSpPr/>
          <p:nvPr/>
        </p:nvSpPr>
        <p:spPr>
          <a:xfrm>
            <a:off x="7952994" y="4297680"/>
            <a:ext cx="822960" cy="822960"/>
          </a:xfrm>
          <a:prstGeom prst="ellipse">
            <a:avLst/>
          </a:prstGeom>
          <a:solidFill>
            <a:srgbClr val="C98F12"/>
          </a:solidFill>
          <a:ln w="12700">
            <a:solidFill>
              <a:srgbClr val="C98F12"/>
            </a:solidFill>
            <a:prstDash val="solid"/>
          </a:ln>
        </p:spPr>
        <p:txBody>
          <a:bodyPr/>
          <a:lstStyle/>
          <a:p>
            <a:endParaRPr lang="en-GB"/>
          </a:p>
        </p:txBody>
      </p:sp>
      <p:pic>
        <p:nvPicPr>
          <p:cNvPr id="24" name="Devices icon" descr="Devices"/>
          <p:cNvPicPr>
            <a:picLocks noChangeAspect="1"/>
          </p:cNvPicPr>
          <p:nvPr/>
        </p:nvPicPr>
        <p:blipFill>
          <a:blip r:embed="rId7"/>
          <a:stretch>
            <a:fillRect/>
          </a:stretch>
        </p:blipFill>
        <p:spPr>
          <a:xfrm>
            <a:off x="8166964" y="4511650"/>
            <a:ext cx="395021" cy="395021"/>
          </a:xfrm>
          <a:prstGeom prst="rect">
            <a:avLst/>
          </a:prstGeom>
        </p:spPr>
      </p:pic>
      <p:sp>
        <p:nvSpPr>
          <p:cNvPr id="25" name="Text 18"/>
          <p:cNvSpPr txBox="1"/>
          <p:nvPr/>
        </p:nvSpPr>
        <p:spPr>
          <a:xfrm>
            <a:off x="7450074" y="5349240"/>
            <a:ext cx="1828800" cy="457200"/>
          </a:xfrm>
          <a:prstGeom prst="rect">
            <a:avLst/>
          </a:prstGeom>
          <a:noFill/>
          <a:ln/>
        </p:spPr>
        <p:txBody>
          <a:bodyPr wrap="square" lIns="0" tIns="0" rIns="0" bIns="0" rtlCol="0" anchor="ctr"/>
          <a:lstStyle/>
          <a:p>
            <a:pPr marL="0" indent="0" algn="ctr">
              <a:buNone/>
            </a:pPr>
            <a:r>
              <a:rPr lang="en-US" sz="1900" b="1" dirty="0">
                <a:solidFill>
                  <a:schemeClr val="tx2"/>
                </a:solidFill>
                <a:latin typeface="Calibri" pitchFamily="34" charset="0"/>
                <a:ea typeface="Calibri" pitchFamily="34" charset="-122"/>
                <a:cs typeface="Calibri" pitchFamily="34" charset="-120"/>
              </a:rPr>
              <a:t>Devices</a:t>
            </a:r>
            <a:endParaRPr lang="en-US" sz="1900" dirty="0"/>
          </a:p>
        </p:txBody>
      </p:sp>
      <p:sp>
        <p:nvSpPr>
          <p:cNvPr id="26" name="section chip Wi-Fi"/>
          <p:cNvSpPr/>
          <p:nvPr/>
        </p:nvSpPr>
        <p:spPr>
          <a:xfrm>
            <a:off x="9628632" y="3977640"/>
            <a:ext cx="2011680" cy="219456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7" name="Wi-Fi circle"/>
          <p:cNvSpPr/>
          <p:nvPr/>
        </p:nvSpPr>
        <p:spPr>
          <a:xfrm>
            <a:off x="10222992" y="4297680"/>
            <a:ext cx="822960" cy="822960"/>
          </a:xfrm>
          <a:prstGeom prst="ellipse">
            <a:avLst/>
          </a:prstGeom>
          <a:solidFill>
            <a:srgbClr val="2A9D8F"/>
          </a:solidFill>
          <a:ln w="12700">
            <a:solidFill>
              <a:srgbClr val="2A9D8F"/>
            </a:solidFill>
            <a:prstDash val="solid"/>
          </a:ln>
        </p:spPr>
        <p:txBody>
          <a:bodyPr/>
          <a:lstStyle/>
          <a:p>
            <a:endParaRPr lang="en-GB"/>
          </a:p>
        </p:txBody>
      </p:sp>
      <p:pic>
        <p:nvPicPr>
          <p:cNvPr id="28" name="Wi-Fi icon" descr="Wi-Fi"/>
          <p:cNvPicPr>
            <a:picLocks noChangeAspect="1"/>
          </p:cNvPicPr>
          <p:nvPr/>
        </p:nvPicPr>
        <p:blipFill>
          <a:blip r:embed="rId8"/>
          <a:stretch>
            <a:fillRect/>
          </a:stretch>
        </p:blipFill>
        <p:spPr>
          <a:xfrm>
            <a:off x="10436962" y="4511650"/>
            <a:ext cx="395021" cy="395021"/>
          </a:xfrm>
          <a:prstGeom prst="rect">
            <a:avLst/>
          </a:prstGeom>
        </p:spPr>
      </p:pic>
      <p:sp>
        <p:nvSpPr>
          <p:cNvPr id="29" name="Text 21"/>
          <p:cNvSpPr txBox="1"/>
          <p:nvPr/>
        </p:nvSpPr>
        <p:spPr>
          <a:xfrm>
            <a:off x="9720072" y="5349240"/>
            <a:ext cx="1828800" cy="457200"/>
          </a:xfrm>
          <a:prstGeom prst="rect">
            <a:avLst/>
          </a:prstGeom>
          <a:noFill/>
          <a:ln/>
        </p:spPr>
        <p:txBody>
          <a:bodyPr wrap="square" lIns="0" tIns="0" rIns="0" bIns="0" rtlCol="0" anchor="ctr"/>
          <a:lstStyle/>
          <a:p>
            <a:pPr marL="0" indent="0" algn="ctr">
              <a:buNone/>
            </a:pPr>
            <a:r>
              <a:rPr lang="en-US" sz="1900" b="1" dirty="0">
                <a:solidFill>
                  <a:schemeClr val="tx2"/>
                </a:solidFill>
                <a:latin typeface="Calibri" pitchFamily="34" charset="0"/>
                <a:ea typeface="Calibri" pitchFamily="34" charset="-122"/>
                <a:cs typeface="Calibri" pitchFamily="34" charset="-120"/>
              </a:rPr>
              <a:t>Wi-Fi</a:t>
            </a:r>
            <a:endParaRPr lang="en-US" sz="1900" dirty="0"/>
          </a:p>
        </p:txBody>
      </p:sp>
      <p:sp>
        <p:nvSpPr>
          <p:cNvPr id="30"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Password hygiene and MFA</a:t>
            </a:r>
            <a:endParaRPr lang="en-US" sz="3400" dirty="0"/>
          </a:p>
        </p:txBody>
      </p:sp>
      <p:sp>
        <p:nvSpPr>
          <p:cNvPr id="3" name="Text 1"/>
          <p:cNvSpPr txBox="1"/>
          <p:nvPr/>
        </p:nvSpPr>
        <p:spPr>
          <a:xfrm>
            <a:off x="548640" y="1078992"/>
            <a:ext cx="11064240" cy="320040"/>
          </a:xfrm>
          <a:prstGeom prst="rect">
            <a:avLst/>
          </a:prstGeom>
          <a:noFill/>
          <a:ln/>
        </p:spPr>
        <p:txBody>
          <a:bodyPr wrap="square" lIns="0" tIns="0" rIns="0" bIns="0" rtlCol="0" anchor="t"/>
          <a:lstStyle/>
          <a:p>
            <a:pPr marL="0" indent="0">
              <a:buNone/>
            </a:pPr>
            <a:r>
              <a:rPr lang="en-US" sz="1800" i="1" dirty="0">
                <a:solidFill>
                  <a:srgbClr val="4A5876"/>
                </a:solidFill>
                <a:latin typeface="Calibri" pitchFamily="34" charset="0"/>
                <a:ea typeface="Calibri" pitchFamily="34" charset="-122"/>
                <a:cs typeface="Calibri" pitchFamily="34" charset="-120"/>
              </a:rPr>
              <a:t>Make stolen passwords less useful</a:t>
            </a:r>
            <a:endParaRPr lang="en-US" sz="1800" dirty="0"/>
          </a:p>
        </p:txBody>
      </p:sp>
      <p:sp>
        <p:nvSpPr>
          <p:cNvPr id="4" name="password card A"/>
          <p:cNvSpPr/>
          <p:nvPr/>
        </p:nvSpPr>
        <p:spPr>
          <a:xfrm>
            <a:off x="548640" y="1645920"/>
            <a:ext cx="3520440" cy="2697480"/>
          </a:xfrm>
          <a:prstGeom prst="roundRect">
            <a:avLst>
              <a:gd name="adj" fmla="val 339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5" name="letter A"/>
          <p:cNvSpPr/>
          <p:nvPr/>
        </p:nvSpPr>
        <p:spPr>
          <a:xfrm>
            <a:off x="804672" y="1901952"/>
            <a:ext cx="640080" cy="640080"/>
          </a:xfrm>
          <a:prstGeom prst="ellipse">
            <a:avLst/>
          </a:prstGeom>
          <a:solidFill>
            <a:srgbClr val="2A9D8F"/>
          </a:solidFill>
          <a:ln w="12700">
            <a:solidFill>
              <a:srgbClr val="2A9D8F"/>
            </a:solidFill>
            <a:prstDash val="solid"/>
          </a:ln>
        </p:spPr>
        <p:txBody>
          <a:bodyPr/>
          <a:lstStyle/>
          <a:p>
            <a:endParaRPr lang="en-GB"/>
          </a:p>
        </p:txBody>
      </p:sp>
      <p:sp>
        <p:nvSpPr>
          <p:cNvPr id="6" name="Text 4"/>
          <p:cNvSpPr txBox="1"/>
          <p:nvPr/>
        </p:nvSpPr>
        <p:spPr>
          <a:xfrm>
            <a:off x="804672" y="1901952"/>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7" name="Text 5"/>
          <p:cNvSpPr txBox="1"/>
          <p:nvPr/>
        </p:nvSpPr>
        <p:spPr>
          <a:xfrm>
            <a:off x="804672" y="2697480"/>
            <a:ext cx="301752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Use unique passwords</a:t>
            </a:r>
            <a:endParaRPr lang="en-US" sz="1900" dirty="0"/>
          </a:p>
        </p:txBody>
      </p:sp>
      <p:sp>
        <p:nvSpPr>
          <p:cNvPr id="8" name="Text 6"/>
          <p:cNvSpPr txBox="1"/>
          <p:nvPr/>
        </p:nvSpPr>
        <p:spPr>
          <a:xfrm>
            <a:off x="804672" y="3154680"/>
            <a:ext cx="301752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Reusing passwords lets attackers try credentials leaked from one service on other accounts.</a:t>
            </a:r>
            <a:endParaRPr lang="en-US" sz="1500" dirty="0"/>
          </a:p>
        </p:txBody>
      </p:sp>
      <p:sp>
        <p:nvSpPr>
          <p:cNvPr id="9" name="password card B"/>
          <p:cNvSpPr/>
          <p:nvPr/>
        </p:nvSpPr>
        <p:spPr>
          <a:xfrm>
            <a:off x="4334256" y="1645920"/>
            <a:ext cx="3520440" cy="2697480"/>
          </a:xfrm>
          <a:prstGeom prst="roundRect">
            <a:avLst>
              <a:gd name="adj" fmla="val 339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0" name="letter B"/>
          <p:cNvSpPr/>
          <p:nvPr/>
        </p:nvSpPr>
        <p:spPr>
          <a:xfrm>
            <a:off x="4590288" y="1901952"/>
            <a:ext cx="640080" cy="640080"/>
          </a:xfrm>
          <a:prstGeom prst="ellipse">
            <a:avLst/>
          </a:prstGeom>
          <a:solidFill>
            <a:srgbClr val="1F3A6B"/>
          </a:solidFill>
          <a:ln w="12700">
            <a:solidFill>
              <a:srgbClr val="1F3A6B"/>
            </a:solidFill>
            <a:prstDash val="solid"/>
          </a:ln>
        </p:spPr>
        <p:txBody>
          <a:bodyPr/>
          <a:lstStyle/>
          <a:p>
            <a:endParaRPr lang="en-GB"/>
          </a:p>
        </p:txBody>
      </p:sp>
      <p:sp>
        <p:nvSpPr>
          <p:cNvPr id="11" name="Text 9"/>
          <p:cNvSpPr txBox="1"/>
          <p:nvPr/>
        </p:nvSpPr>
        <p:spPr>
          <a:xfrm>
            <a:off x="4590288" y="1901952"/>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4590288" y="2697480"/>
            <a:ext cx="301752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Use a password manager</a:t>
            </a:r>
            <a:endParaRPr lang="en-US" sz="1900" dirty="0"/>
          </a:p>
        </p:txBody>
      </p:sp>
      <p:sp>
        <p:nvSpPr>
          <p:cNvPr id="13" name="Text 11"/>
          <p:cNvSpPr txBox="1"/>
          <p:nvPr/>
        </p:nvSpPr>
        <p:spPr>
          <a:xfrm>
            <a:off x="4590288" y="3154680"/>
            <a:ext cx="301752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Generate and store long, unique passwords instead of relying on memory or predictable variations.</a:t>
            </a:r>
            <a:endParaRPr lang="en-US" sz="1500" dirty="0"/>
          </a:p>
        </p:txBody>
      </p:sp>
      <p:sp>
        <p:nvSpPr>
          <p:cNvPr id="14" name="password card C"/>
          <p:cNvSpPr/>
          <p:nvPr/>
        </p:nvSpPr>
        <p:spPr>
          <a:xfrm>
            <a:off x="8119872" y="1645920"/>
            <a:ext cx="3520440" cy="2697480"/>
          </a:xfrm>
          <a:prstGeom prst="roundRect">
            <a:avLst>
              <a:gd name="adj" fmla="val 3390"/>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5" name="letter C"/>
          <p:cNvSpPr/>
          <p:nvPr/>
        </p:nvSpPr>
        <p:spPr>
          <a:xfrm>
            <a:off x="8375904" y="1901952"/>
            <a:ext cx="640080" cy="640080"/>
          </a:xfrm>
          <a:prstGeom prst="ellipse">
            <a:avLst/>
          </a:prstGeom>
          <a:solidFill>
            <a:srgbClr val="D64541"/>
          </a:solidFill>
          <a:ln w="12700">
            <a:solidFill>
              <a:srgbClr val="D64541"/>
            </a:solidFill>
            <a:prstDash val="solid"/>
          </a:ln>
        </p:spPr>
        <p:txBody>
          <a:bodyPr/>
          <a:lstStyle/>
          <a:p>
            <a:endParaRPr lang="en-GB"/>
          </a:p>
        </p:txBody>
      </p:sp>
      <p:sp>
        <p:nvSpPr>
          <p:cNvPr id="16" name="Text 14"/>
          <p:cNvSpPr txBox="1"/>
          <p:nvPr/>
        </p:nvSpPr>
        <p:spPr>
          <a:xfrm>
            <a:off x="8375904" y="1901952"/>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7" name="Text 15"/>
          <p:cNvSpPr txBox="1"/>
          <p:nvPr/>
        </p:nvSpPr>
        <p:spPr>
          <a:xfrm>
            <a:off x="8375904" y="2697480"/>
            <a:ext cx="3017520" cy="36576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Enable MFA</a:t>
            </a:r>
            <a:endParaRPr lang="en-US" sz="1900" dirty="0"/>
          </a:p>
        </p:txBody>
      </p:sp>
      <p:sp>
        <p:nvSpPr>
          <p:cNvPr id="18" name="Text 16"/>
          <p:cNvSpPr txBox="1"/>
          <p:nvPr/>
        </p:nvSpPr>
        <p:spPr>
          <a:xfrm>
            <a:off x="8375904" y="3154680"/>
            <a:ext cx="301752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A second factor adds protection if a password is stolen. Never approve an unexpected login request.</a:t>
            </a:r>
            <a:endParaRPr lang="en-US" sz="1500" dirty="0"/>
          </a:p>
        </p:txBody>
      </p:sp>
      <p:sp>
        <p:nvSpPr>
          <p:cNvPr id="19" name="note REMEMBER"/>
          <p:cNvSpPr/>
          <p:nvPr/>
        </p:nvSpPr>
        <p:spPr>
          <a:xfrm>
            <a:off x="548640" y="4572000"/>
            <a:ext cx="5362956" cy="1645920"/>
          </a:xfrm>
          <a:prstGeom prst="roundRect">
            <a:avLst>
              <a:gd name="adj" fmla="val 5556"/>
            </a:avLst>
          </a:prstGeom>
          <a:solidFill>
            <a:srgbClr val="FADEDC"/>
          </a:solidFill>
          <a:ln w="12700">
            <a:solidFill>
              <a:srgbClr val="FADEDC"/>
            </a:solidFill>
            <a:prstDash val="solid"/>
          </a:ln>
        </p:spPr>
        <p:txBody>
          <a:bodyPr/>
          <a:lstStyle/>
          <a:p>
            <a:endParaRPr lang="en-GB"/>
          </a:p>
        </p:txBody>
      </p:sp>
      <p:sp>
        <p:nvSpPr>
          <p:cNvPr id="20" name="Text 18"/>
          <p:cNvSpPr txBox="1"/>
          <p:nvPr/>
        </p:nvSpPr>
        <p:spPr>
          <a:xfrm>
            <a:off x="822960" y="4754880"/>
            <a:ext cx="3657600" cy="274320"/>
          </a:xfrm>
          <a:prstGeom prst="rect">
            <a:avLst/>
          </a:prstGeom>
          <a:noFill/>
          <a:ln/>
        </p:spPr>
        <p:txBody>
          <a:bodyPr wrap="square" lIns="0" tIns="0" rIns="0" bIns="0" rtlCol="0" anchor="t"/>
          <a:lstStyle/>
          <a:p>
            <a:pPr marL="0" indent="0">
              <a:buNone/>
            </a:pPr>
            <a:r>
              <a:rPr lang="en-US" sz="1200" b="1" kern="0" spc="200" dirty="0">
                <a:solidFill>
                  <a:srgbClr val="A8262B"/>
                </a:solidFill>
                <a:latin typeface="Calibri" pitchFamily="34" charset="0"/>
                <a:ea typeface="Calibri" pitchFamily="34" charset="-122"/>
                <a:cs typeface="Calibri" pitchFamily="34" charset="-120"/>
              </a:rPr>
              <a:t>REMEMBER</a:t>
            </a:r>
            <a:endParaRPr lang="en-US" sz="1200" dirty="0"/>
          </a:p>
        </p:txBody>
      </p:sp>
      <p:sp>
        <p:nvSpPr>
          <p:cNvPr id="21" name="Text 19"/>
          <p:cNvSpPr txBox="1"/>
          <p:nvPr/>
        </p:nvSpPr>
        <p:spPr>
          <a:xfrm>
            <a:off x="822960" y="5074920"/>
            <a:ext cx="4846320" cy="1005840"/>
          </a:xfrm>
          <a:prstGeom prst="rect">
            <a:avLst/>
          </a:prstGeom>
          <a:noFill/>
          <a:ln/>
        </p:spPr>
        <p:txBody>
          <a:bodyPr wrap="square" lIns="0" tIns="0" rIns="0" bIns="0" rtlCol="0" anchor="t"/>
          <a:lstStyle/>
          <a:p>
            <a:pPr marL="0" indent="0">
              <a:buNone/>
            </a:pPr>
            <a:r>
              <a:rPr lang="en-US" sz="1700" dirty="0">
                <a:solidFill>
                  <a:schemeClr val="tx1"/>
                </a:solidFill>
                <a:latin typeface="Calibri" pitchFamily="34" charset="0"/>
                <a:ea typeface="Calibri" pitchFamily="34" charset="-122"/>
                <a:cs typeface="Calibri" pitchFamily="34" charset="-120"/>
              </a:rPr>
              <a:t>Secure your email first, because it may be used to reset other accounts.</a:t>
            </a:r>
            <a:endParaRPr lang="en-US" sz="1700" dirty="0"/>
          </a:p>
        </p:txBody>
      </p:sp>
      <p:sp>
        <p:nvSpPr>
          <p:cNvPr id="22" name="note MFA FACTORS"/>
          <p:cNvSpPr/>
          <p:nvPr/>
        </p:nvSpPr>
        <p:spPr>
          <a:xfrm>
            <a:off x="6277356" y="4572000"/>
            <a:ext cx="5362956" cy="1645920"/>
          </a:xfrm>
          <a:prstGeom prst="roundRect">
            <a:avLst>
              <a:gd name="adj" fmla="val 5556"/>
            </a:avLst>
          </a:prstGeom>
          <a:solidFill>
            <a:srgbClr val="DDF1EE"/>
          </a:solidFill>
          <a:ln w="12700">
            <a:solidFill>
              <a:srgbClr val="DDF1EE"/>
            </a:solidFill>
            <a:prstDash val="solid"/>
          </a:ln>
        </p:spPr>
        <p:txBody>
          <a:bodyPr/>
          <a:lstStyle/>
          <a:p>
            <a:endParaRPr lang="en-GB"/>
          </a:p>
        </p:txBody>
      </p:sp>
      <p:sp>
        <p:nvSpPr>
          <p:cNvPr id="23" name="Text 21"/>
          <p:cNvSpPr txBox="1"/>
          <p:nvPr/>
        </p:nvSpPr>
        <p:spPr>
          <a:xfrm>
            <a:off x="6551676" y="4754880"/>
            <a:ext cx="3657600" cy="274320"/>
          </a:xfrm>
          <a:prstGeom prst="rect">
            <a:avLst/>
          </a:prstGeom>
          <a:noFill/>
          <a:ln/>
        </p:spPr>
        <p:txBody>
          <a:bodyPr wrap="square" lIns="0" tIns="0" rIns="0" bIns="0" rtlCol="0" anchor="t"/>
          <a:lstStyle/>
          <a:p>
            <a:pPr marL="0" indent="0">
              <a:buNone/>
            </a:pPr>
            <a:r>
              <a:rPr lang="en-US" sz="1200" b="1" kern="0" spc="200" dirty="0">
                <a:solidFill>
                  <a:srgbClr val="1E7A6E"/>
                </a:solidFill>
                <a:latin typeface="Calibri" pitchFamily="34" charset="0"/>
                <a:ea typeface="Calibri" pitchFamily="34" charset="-122"/>
                <a:cs typeface="Calibri" pitchFamily="34" charset="-120"/>
              </a:rPr>
              <a:t>MFA FACTORS</a:t>
            </a:r>
            <a:endParaRPr lang="en-US" sz="1200" dirty="0"/>
          </a:p>
        </p:txBody>
      </p:sp>
      <p:sp>
        <p:nvSpPr>
          <p:cNvPr id="24" name="Text 22"/>
          <p:cNvSpPr txBox="1"/>
          <p:nvPr/>
        </p:nvSpPr>
        <p:spPr>
          <a:xfrm>
            <a:off x="6551676" y="5074920"/>
            <a:ext cx="4846320" cy="1005840"/>
          </a:xfrm>
          <a:prstGeom prst="rect">
            <a:avLst/>
          </a:prstGeom>
          <a:noFill/>
          <a:ln/>
        </p:spPr>
        <p:txBody>
          <a:bodyPr wrap="square" lIns="0" tIns="0" rIns="0" bIns="0" rtlCol="0" anchor="t"/>
          <a:lstStyle/>
          <a:p>
            <a:pPr marL="0" indent="0">
              <a:buNone/>
            </a:pPr>
            <a:r>
              <a:rPr lang="en-US" sz="1700" dirty="0">
                <a:solidFill>
                  <a:schemeClr val="tx1"/>
                </a:solidFill>
                <a:latin typeface="Calibri" pitchFamily="34" charset="0"/>
                <a:ea typeface="Calibri" pitchFamily="34" charset="-122"/>
                <a:cs typeface="Calibri" pitchFamily="34" charset="-120"/>
              </a:rPr>
              <a:t>Something you know, have or are. Authenticator apps and security keys are alternatives to SMS codes.</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Phishing</a:t>
            </a:r>
            <a:endParaRPr lang="en-US" sz="3400" dirty="0"/>
          </a:p>
        </p:txBody>
      </p:sp>
      <p:sp>
        <p:nvSpPr>
          <p:cNvPr id="3" name="Text 1"/>
          <p:cNvSpPr txBox="1"/>
          <p:nvPr/>
        </p:nvSpPr>
        <p:spPr>
          <a:xfrm>
            <a:off x="548640" y="1078992"/>
            <a:ext cx="11064240" cy="320040"/>
          </a:xfrm>
          <a:prstGeom prst="rect">
            <a:avLst/>
          </a:prstGeom>
          <a:noFill/>
          <a:ln/>
        </p:spPr>
        <p:txBody>
          <a:bodyPr wrap="square" lIns="0" tIns="0" rIns="0" bIns="0" rtlCol="0" anchor="t"/>
          <a:lstStyle/>
          <a:p>
            <a:pPr marL="0" indent="0">
              <a:buNone/>
            </a:pPr>
            <a:r>
              <a:rPr lang="en-US" sz="1800" i="1" dirty="0">
                <a:solidFill>
                  <a:srgbClr val="4A5876"/>
                </a:solidFill>
                <a:latin typeface="Calibri" pitchFamily="34" charset="0"/>
                <a:ea typeface="Calibri" pitchFamily="34" charset="-122"/>
                <a:cs typeface="Calibri" pitchFamily="34" charset="-120"/>
              </a:rPr>
              <a:t>Pause when a message pressures you</a:t>
            </a:r>
            <a:endParaRPr lang="en-US" sz="1800" dirty="0"/>
          </a:p>
        </p:txBody>
      </p:sp>
      <p:sp>
        <p:nvSpPr>
          <p:cNvPr id="4" name="phishing intro"/>
          <p:cNvSpPr/>
          <p:nvPr/>
        </p:nvSpPr>
        <p:spPr>
          <a:xfrm>
            <a:off x="548640" y="1645920"/>
            <a:ext cx="6400800" cy="1280160"/>
          </a:xfrm>
          <a:prstGeom prst="roundRect">
            <a:avLst>
              <a:gd name="adj" fmla="val 7143"/>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5" name="Text 3"/>
          <p:cNvSpPr txBox="1"/>
          <p:nvPr/>
        </p:nvSpPr>
        <p:spPr>
          <a:xfrm>
            <a:off x="777240" y="1645920"/>
            <a:ext cx="5943600" cy="1280160"/>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Phishing aims to make people reveal information by impersonating someone or an organisation they may know. It can do this by making you open files or sign in on fake pages. It exploits human trust, such as habit and emotions.</a:t>
            </a:r>
            <a:endParaRPr lang="en-US" sz="1400" dirty="0"/>
          </a:p>
        </p:txBody>
      </p:sp>
      <p:sp>
        <p:nvSpPr>
          <p:cNvPr id="6" name="red flags"/>
          <p:cNvSpPr/>
          <p:nvPr/>
        </p:nvSpPr>
        <p:spPr>
          <a:xfrm>
            <a:off x="548640" y="3108960"/>
            <a:ext cx="6400800" cy="2148840"/>
          </a:xfrm>
          <a:prstGeom prst="roundRect">
            <a:avLst>
              <a:gd name="adj" fmla="val 425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7" name="Text 5"/>
          <p:cNvSpPr txBox="1"/>
          <p:nvPr/>
        </p:nvSpPr>
        <p:spPr>
          <a:xfrm>
            <a:off x="777240" y="3218688"/>
            <a:ext cx="5486400" cy="274320"/>
          </a:xfrm>
          <a:prstGeom prst="rect">
            <a:avLst/>
          </a:prstGeom>
          <a:noFill/>
          <a:ln/>
        </p:spPr>
        <p:txBody>
          <a:bodyPr wrap="square" lIns="0" tIns="0" rIns="0" bIns="0" rtlCol="0" anchor="t"/>
          <a:lstStyle/>
          <a:p>
            <a:pPr marL="0" indent="0">
              <a:buNone/>
            </a:pPr>
            <a:r>
              <a:rPr lang="en-US" sz="1200" b="1" kern="0" spc="200" dirty="0">
                <a:solidFill>
                  <a:srgbClr val="D64541"/>
                </a:solidFill>
                <a:latin typeface="Calibri" pitchFamily="34" charset="0"/>
                <a:ea typeface="Calibri" pitchFamily="34" charset="-122"/>
                <a:cs typeface="Calibri" pitchFamily="34" charset="-120"/>
              </a:rPr>
              <a:t>RED FLAGS TO STAY CAUTIOUS OF</a:t>
            </a:r>
            <a:endParaRPr lang="en-US" sz="1200" dirty="0"/>
          </a:p>
        </p:txBody>
      </p:sp>
      <p:sp>
        <p:nvSpPr>
          <p:cNvPr id="8" name="Text 6"/>
          <p:cNvSpPr txBox="1"/>
          <p:nvPr/>
        </p:nvSpPr>
        <p:spPr>
          <a:xfrm>
            <a:off x="777240" y="3547872"/>
            <a:ext cx="5943600" cy="16459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Urgency, fear or a threat of account closure or an emergency</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Unexpected links or attachments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Spelling mistakes or addressing using all capitals</a:t>
            </a:r>
            <a:endParaRPr lang="en-US" sz="1500" dirty="0"/>
          </a:p>
          <a:p>
            <a:pPr marL="342900" indent="-342900">
              <a:spcAft>
                <a:spcPts val="500"/>
              </a:spcAft>
              <a:buSzPct val="100000"/>
              <a:buChar char="•"/>
            </a:pPr>
            <a:r>
              <a:rPr lang="en-US" sz="1500" dirty="0">
                <a:solidFill>
                  <a:schemeClr val="tx1"/>
                </a:solidFill>
                <a:latin typeface="Calibri" pitchFamily="34" charset="0"/>
                <a:ea typeface="Calibri" pitchFamily="34" charset="-122"/>
                <a:cs typeface="Calibri" pitchFamily="34" charset="-120"/>
              </a:rPr>
              <a:t>Requests for passwords, codes or unusual payments</a:t>
            </a:r>
            <a:endParaRPr lang="en-US" sz="1500" dirty="0"/>
          </a:p>
        </p:txBody>
      </p:sp>
      <p:sp>
        <p:nvSpPr>
          <p:cNvPr id="9" name="example message"/>
          <p:cNvSpPr/>
          <p:nvPr/>
        </p:nvSpPr>
        <p:spPr>
          <a:xfrm>
            <a:off x="7223760" y="1645920"/>
            <a:ext cx="4416552" cy="1783080"/>
          </a:xfrm>
          <a:prstGeom prst="roundRect">
            <a:avLst>
              <a:gd name="adj" fmla="val 5128"/>
            </a:avLst>
          </a:prstGeom>
          <a:solidFill>
            <a:srgbClr val="FADEDC"/>
          </a:solidFill>
          <a:ln w="12700">
            <a:solidFill>
              <a:srgbClr val="D64541"/>
            </a:solidFill>
            <a:prstDash val="solid"/>
          </a:ln>
        </p:spPr>
        <p:txBody>
          <a:bodyPr/>
          <a:lstStyle/>
          <a:p>
            <a:endParaRPr lang="en-GB"/>
          </a:p>
        </p:txBody>
      </p:sp>
      <p:sp>
        <p:nvSpPr>
          <p:cNvPr id="10" name="Text 8"/>
          <p:cNvSpPr txBox="1"/>
          <p:nvPr/>
        </p:nvSpPr>
        <p:spPr>
          <a:xfrm>
            <a:off x="7452360" y="1645920"/>
            <a:ext cx="4023360" cy="1783080"/>
          </a:xfrm>
          <a:prstGeom prst="rect">
            <a:avLst/>
          </a:prstGeom>
          <a:noFill/>
          <a:ln/>
        </p:spPr>
        <p:txBody>
          <a:bodyPr wrap="square" lIns="0" tIns="0" rIns="0" bIns="0" rtlCol="0" anchor="ctr"/>
          <a:lstStyle/>
          <a:p>
            <a:pPr marL="0" indent="0">
              <a:spcAft>
                <a:spcPts val="600"/>
              </a:spcAft>
              <a:buNone/>
            </a:pPr>
            <a:r>
              <a:rPr lang="en-US" sz="1300" b="1" dirty="0">
                <a:solidFill>
                  <a:srgbClr val="A8262B"/>
                </a:solidFill>
                <a:latin typeface="Calibri" pitchFamily="34" charset="0"/>
                <a:ea typeface="Calibri" pitchFamily="34" charset="-122"/>
                <a:cs typeface="Calibri" pitchFamily="34" charset="-120"/>
              </a:rPr>
              <a:t>URGENT ACCOUNT NOTICE</a:t>
            </a:r>
            <a:endParaRPr lang="en-US" sz="1300" dirty="0"/>
          </a:p>
          <a:p>
            <a:pPr marL="0" indent="0">
              <a:spcAft>
                <a:spcPts val="600"/>
              </a:spcAft>
              <a:buNone/>
            </a:pPr>
            <a:r>
              <a:rPr lang="en-US" sz="1600" i="1" dirty="0">
                <a:solidFill>
                  <a:schemeClr val="tx1"/>
                </a:solidFill>
                <a:latin typeface="Calibri" pitchFamily="34" charset="0"/>
                <a:ea typeface="Calibri" pitchFamily="34" charset="-122"/>
                <a:cs typeface="Calibri" pitchFamily="34" charset="-120"/>
              </a:rPr>
              <a:t>“Your account will be locked in 10 minutes. Verify your password now.”</a:t>
            </a:r>
            <a:endParaRPr lang="en-US" sz="1300" dirty="0"/>
          </a:p>
          <a:p>
            <a:pPr marL="0" indent="0">
              <a:spcAft>
                <a:spcPts val="600"/>
              </a:spcAft>
              <a:buNone/>
            </a:pPr>
            <a:r>
              <a:rPr lang="en-US" sz="1300" dirty="0">
                <a:solidFill>
                  <a:srgbClr val="4A5876"/>
                </a:solidFill>
                <a:latin typeface="Calibri" pitchFamily="34" charset="0"/>
                <a:ea typeface="Calibri" pitchFamily="34" charset="-122"/>
                <a:cs typeface="Calibri" pitchFamily="34" charset="-120"/>
              </a:rPr>
              <a:t>Phone number used starts with 073 or 078</a:t>
            </a:r>
            <a:endParaRPr lang="en-US" sz="1300" dirty="0"/>
          </a:p>
        </p:txBody>
      </p:sp>
      <p:sp>
        <p:nvSpPr>
          <p:cNvPr id="11" name="phishing types"/>
          <p:cNvSpPr/>
          <p:nvPr/>
        </p:nvSpPr>
        <p:spPr>
          <a:xfrm>
            <a:off x="7223760" y="3566160"/>
            <a:ext cx="4416552" cy="1691640"/>
          </a:xfrm>
          <a:prstGeom prst="roundRect">
            <a:avLst>
              <a:gd name="adj" fmla="val 540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2" name="Text 10"/>
          <p:cNvSpPr txBox="1"/>
          <p:nvPr/>
        </p:nvSpPr>
        <p:spPr>
          <a:xfrm>
            <a:off x="7406640" y="3566160"/>
            <a:ext cx="4069080" cy="1691640"/>
          </a:xfrm>
          <a:prstGeom prst="rect">
            <a:avLst/>
          </a:prstGeom>
          <a:noFill/>
          <a:ln/>
        </p:spPr>
        <p:txBody>
          <a:bodyPr wrap="square" lIns="0" tIns="0" rIns="0" bIns="0" rtlCol="0" anchor="ctr"/>
          <a:lstStyle/>
          <a:p>
            <a:pPr marL="0" indent="0">
              <a:buNone/>
            </a:pPr>
            <a:r>
              <a:rPr lang="en-US" sz="1200" dirty="0">
                <a:solidFill>
                  <a:schemeClr val="tx1"/>
                </a:solidFill>
                <a:latin typeface="Calibri" pitchFamily="34" charset="0"/>
                <a:ea typeface="Calibri" pitchFamily="34" charset="-122"/>
                <a:cs typeface="Calibri" pitchFamily="34" charset="-120"/>
              </a:rPr>
              <a:t>Smishing occurs via text message whereas vishing occurs via phone call, which is more effective as victims cannot stop to think and analyse what is being asked, e.g. a caller could pose as a bank fraud team. Spear phishing is more targeted as it targets one specific group or individuals by using real details which are personal to them, making it more believable.</a:t>
            </a:r>
            <a:endParaRPr lang="en-US" sz="1200" dirty="0"/>
          </a:p>
        </p:txBody>
      </p:sp>
      <p:sp>
        <p:nvSpPr>
          <p:cNvPr id="13" name="phishing action"/>
          <p:cNvSpPr/>
          <p:nvPr/>
        </p:nvSpPr>
        <p:spPr>
          <a:xfrm>
            <a:off x="548640" y="5486400"/>
            <a:ext cx="11091672" cy="731520"/>
          </a:xfrm>
          <a:prstGeom prst="roundRect">
            <a:avLst>
              <a:gd name="adj" fmla="val 12500"/>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4" name="Text 12"/>
          <p:cNvSpPr txBox="1"/>
          <p:nvPr/>
        </p:nvSpPr>
        <p:spPr>
          <a:xfrm>
            <a:off x="822960" y="5486400"/>
            <a:ext cx="10543032" cy="731520"/>
          </a:xfrm>
          <a:prstGeom prst="rect">
            <a:avLst/>
          </a:prstGeom>
          <a:noFill/>
          <a:ln/>
        </p:spPr>
        <p:txBody>
          <a:bodyPr wrap="square" lIns="0" tIns="0" rIns="0" bIns="0" rtlCol="0" anchor="ctr"/>
          <a:lstStyle/>
          <a:p>
            <a:pPr marL="0" indent="0">
              <a:buNone/>
            </a:pPr>
            <a:r>
              <a:rPr lang="en-US" sz="1700" b="1" dirty="0">
                <a:solidFill>
                  <a:srgbClr val="FFFFFF"/>
                </a:solidFill>
              </a:rPr>
              <a:t>Take a second to pause  →  do not click on anything  →  report to </a:t>
            </a:r>
            <a:r>
              <a:rPr lang="en-US" sz="1700" b="1" dirty="0">
                <a:solidFill>
                  <a:schemeClr val="accent2"/>
                </a:solidFill>
              </a:rPr>
              <a:t>report@phishing.gov.uk</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Patching, devices and public Wi-Fi</a:t>
            </a:r>
            <a:endParaRPr lang="en-US" sz="3400" dirty="0"/>
          </a:p>
        </p:txBody>
      </p:sp>
      <p:sp>
        <p:nvSpPr>
          <p:cNvPr id="3" name="Text 1"/>
          <p:cNvSpPr txBox="1"/>
          <p:nvPr/>
        </p:nvSpPr>
        <p:spPr>
          <a:xfrm>
            <a:off x="548640" y="1078992"/>
            <a:ext cx="11064240" cy="320040"/>
          </a:xfrm>
          <a:prstGeom prst="rect">
            <a:avLst/>
          </a:prstGeom>
          <a:noFill/>
          <a:ln/>
        </p:spPr>
        <p:txBody>
          <a:bodyPr wrap="square" lIns="0" tIns="0" rIns="0" bIns="0" rtlCol="0" anchor="t"/>
          <a:lstStyle/>
          <a:p>
            <a:pPr marL="0" indent="0">
              <a:buNone/>
            </a:pPr>
            <a:r>
              <a:rPr lang="en-US" sz="1800" i="1" dirty="0">
                <a:solidFill>
                  <a:srgbClr val="4A5876"/>
                </a:solidFill>
                <a:latin typeface="Calibri" pitchFamily="34" charset="0"/>
                <a:ea typeface="Calibri" pitchFamily="34" charset="-122"/>
                <a:cs typeface="Calibri" pitchFamily="34" charset="-120"/>
              </a:rPr>
              <a:t>Reduce common routes into your data</a:t>
            </a:r>
            <a:endParaRPr lang="en-US" sz="1800" dirty="0"/>
          </a:p>
        </p:txBody>
      </p:sp>
      <p:sp>
        <p:nvSpPr>
          <p:cNvPr id="4" name="device card 01"/>
          <p:cNvSpPr/>
          <p:nvPr/>
        </p:nvSpPr>
        <p:spPr>
          <a:xfrm>
            <a:off x="548640" y="1645920"/>
            <a:ext cx="3520440" cy="201168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5" name="number 01"/>
          <p:cNvSpPr/>
          <p:nvPr/>
        </p:nvSpPr>
        <p:spPr>
          <a:xfrm>
            <a:off x="804672" y="1874520"/>
            <a:ext cx="640080" cy="640080"/>
          </a:xfrm>
          <a:prstGeom prst="ellipse">
            <a:avLst/>
          </a:prstGeom>
          <a:solidFill>
            <a:srgbClr val="2A9D8F"/>
          </a:solidFill>
          <a:ln w="12700">
            <a:solidFill>
              <a:srgbClr val="2A9D8F"/>
            </a:solidFill>
            <a:prstDash val="solid"/>
          </a:ln>
        </p:spPr>
        <p:txBody>
          <a:bodyPr/>
          <a:lstStyle/>
          <a:p>
            <a:endParaRPr lang="en-GB"/>
          </a:p>
        </p:txBody>
      </p:sp>
      <p:sp>
        <p:nvSpPr>
          <p:cNvPr id="6" name="Text 4"/>
          <p:cNvSpPr txBox="1"/>
          <p:nvPr/>
        </p:nvSpPr>
        <p:spPr>
          <a:xfrm>
            <a:off x="804672" y="18745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Text 5"/>
          <p:cNvSpPr txBox="1"/>
          <p:nvPr/>
        </p:nvSpPr>
        <p:spPr>
          <a:xfrm>
            <a:off x="1600200" y="1874520"/>
            <a:ext cx="2286000" cy="64008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Update promptly</a:t>
            </a:r>
            <a:endParaRPr lang="en-US" sz="1900" dirty="0"/>
          </a:p>
        </p:txBody>
      </p:sp>
      <p:sp>
        <p:nvSpPr>
          <p:cNvPr id="8" name="Text 6"/>
          <p:cNvSpPr txBox="1"/>
          <p:nvPr/>
        </p:nvSpPr>
        <p:spPr>
          <a:xfrm>
            <a:off x="804672" y="2697480"/>
            <a:ext cx="301752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Patches fix known weaknesses in operating systems, browsers and apps.</a:t>
            </a:r>
            <a:endParaRPr lang="en-US" sz="1500" dirty="0"/>
          </a:p>
        </p:txBody>
      </p:sp>
      <p:sp>
        <p:nvSpPr>
          <p:cNvPr id="9" name="device card 02"/>
          <p:cNvSpPr/>
          <p:nvPr/>
        </p:nvSpPr>
        <p:spPr>
          <a:xfrm>
            <a:off x="4334256" y="1645920"/>
            <a:ext cx="3520440" cy="201168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0" name="number 02"/>
          <p:cNvSpPr/>
          <p:nvPr/>
        </p:nvSpPr>
        <p:spPr>
          <a:xfrm>
            <a:off x="4590288" y="1874520"/>
            <a:ext cx="640080" cy="640080"/>
          </a:xfrm>
          <a:prstGeom prst="ellipse">
            <a:avLst/>
          </a:prstGeom>
          <a:solidFill>
            <a:srgbClr val="1F3A6B"/>
          </a:solidFill>
          <a:ln w="12700">
            <a:solidFill>
              <a:srgbClr val="1F3A6B"/>
            </a:solidFill>
            <a:prstDash val="solid"/>
          </a:ln>
        </p:spPr>
        <p:txBody>
          <a:bodyPr/>
          <a:lstStyle/>
          <a:p>
            <a:endParaRPr lang="en-GB"/>
          </a:p>
        </p:txBody>
      </p:sp>
      <p:sp>
        <p:nvSpPr>
          <p:cNvPr id="11" name="Text 9"/>
          <p:cNvSpPr txBox="1"/>
          <p:nvPr/>
        </p:nvSpPr>
        <p:spPr>
          <a:xfrm>
            <a:off x="4590288" y="18745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5385816" y="1874520"/>
            <a:ext cx="2286000" cy="64008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Lock and encrypt</a:t>
            </a:r>
            <a:endParaRPr lang="en-US" sz="1900" dirty="0"/>
          </a:p>
        </p:txBody>
      </p:sp>
      <p:sp>
        <p:nvSpPr>
          <p:cNvPr id="13" name="Text 11"/>
          <p:cNvSpPr txBox="1"/>
          <p:nvPr/>
        </p:nvSpPr>
        <p:spPr>
          <a:xfrm>
            <a:off x="4590288" y="2697480"/>
            <a:ext cx="301752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Screen locks and device encryption help protect data if a device is lost.</a:t>
            </a:r>
            <a:endParaRPr lang="en-US" sz="1500" dirty="0"/>
          </a:p>
        </p:txBody>
      </p:sp>
      <p:sp>
        <p:nvSpPr>
          <p:cNvPr id="14" name="device card 03"/>
          <p:cNvSpPr/>
          <p:nvPr/>
        </p:nvSpPr>
        <p:spPr>
          <a:xfrm>
            <a:off x="8119872" y="1645920"/>
            <a:ext cx="3520440" cy="2011680"/>
          </a:xfrm>
          <a:prstGeom prst="roundRect">
            <a:avLst>
              <a:gd name="adj" fmla="val 4545"/>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5" name="number 03"/>
          <p:cNvSpPr/>
          <p:nvPr/>
        </p:nvSpPr>
        <p:spPr>
          <a:xfrm>
            <a:off x="8375904" y="1874520"/>
            <a:ext cx="640080" cy="640080"/>
          </a:xfrm>
          <a:prstGeom prst="ellipse">
            <a:avLst/>
          </a:prstGeom>
          <a:solidFill>
            <a:srgbClr val="D64541"/>
          </a:solidFill>
          <a:ln w="12700">
            <a:solidFill>
              <a:srgbClr val="D64541"/>
            </a:solidFill>
            <a:prstDash val="solid"/>
          </a:ln>
        </p:spPr>
        <p:txBody>
          <a:bodyPr/>
          <a:lstStyle/>
          <a:p>
            <a:endParaRPr lang="en-GB"/>
          </a:p>
        </p:txBody>
      </p:sp>
      <p:sp>
        <p:nvSpPr>
          <p:cNvPr id="16" name="Text 14"/>
          <p:cNvSpPr txBox="1"/>
          <p:nvPr/>
        </p:nvSpPr>
        <p:spPr>
          <a:xfrm>
            <a:off x="8375904" y="18745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7" name="Text 15"/>
          <p:cNvSpPr txBox="1"/>
          <p:nvPr/>
        </p:nvSpPr>
        <p:spPr>
          <a:xfrm>
            <a:off x="9171432" y="1874520"/>
            <a:ext cx="2286000" cy="640080"/>
          </a:xfrm>
          <a:prstGeom prst="rect">
            <a:avLst/>
          </a:prstGeom>
          <a:noFill/>
          <a:ln/>
        </p:spPr>
        <p:txBody>
          <a:bodyPr wrap="square" lIns="0" tIns="0" rIns="0" bIns="0" rtlCol="0" anchor="ctr"/>
          <a:lstStyle/>
          <a:p>
            <a:pPr marL="0" indent="0">
              <a:buNone/>
            </a:pPr>
            <a:r>
              <a:rPr lang="en-US" sz="1900" b="1" dirty="0">
                <a:solidFill>
                  <a:schemeClr val="tx2"/>
                </a:solidFill>
                <a:latin typeface="Calibri" pitchFamily="34" charset="0"/>
                <a:ea typeface="Calibri" pitchFamily="34" charset="-122"/>
                <a:cs typeface="Calibri" pitchFamily="34" charset="-120"/>
              </a:rPr>
              <a:t>Use trusted apps</a:t>
            </a:r>
            <a:endParaRPr lang="en-US" sz="1900" dirty="0"/>
          </a:p>
        </p:txBody>
      </p:sp>
      <p:sp>
        <p:nvSpPr>
          <p:cNvPr id="18" name="Text 16"/>
          <p:cNvSpPr txBox="1"/>
          <p:nvPr/>
        </p:nvSpPr>
        <p:spPr>
          <a:xfrm>
            <a:off x="8375904" y="2697480"/>
            <a:ext cx="301752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Install from official stores or verified publishers; avoid unknown USB devices.</a:t>
            </a:r>
            <a:endParaRPr lang="en-US" sz="1500" dirty="0"/>
          </a:p>
        </p:txBody>
      </p:sp>
      <p:sp>
        <p:nvSpPr>
          <p:cNvPr id="19" name="Text 17"/>
          <p:cNvSpPr txBox="1"/>
          <p:nvPr/>
        </p:nvSpPr>
        <p:spPr>
          <a:xfrm>
            <a:off x="548640" y="3931920"/>
            <a:ext cx="4572000" cy="274320"/>
          </a:xfrm>
          <a:prstGeom prst="rect">
            <a:avLst/>
          </a:prstGeom>
          <a:noFill/>
          <a:ln/>
        </p:spPr>
        <p:txBody>
          <a:bodyPr wrap="square" lIns="0" tIns="0" rIns="0" bIns="0" rtlCol="0" anchor="t"/>
          <a:lstStyle/>
          <a:p>
            <a:pPr marL="0" indent="0">
              <a:buNone/>
            </a:pPr>
            <a:r>
              <a:rPr lang="en-US" sz="1200" b="1" kern="0" spc="200" dirty="0">
                <a:solidFill>
                  <a:srgbClr val="4A5876"/>
                </a:solidFill>
                <a:latin typeface="Calibri" pitchFamily="34" charset="0"/>
                <a:ea typeface="Calibri" pitchFamily="34" charset="-122"/>
                <a:cs typeface="Calibri" pitchFamily="34" charset="-120"/>
              </a:rPr>
              <a:t>ON PUBLIC WI-FI</a:t>
            </a:r>
            <a:endParaRPr lang="en-US" sz="1200" dirty="0"/>
          </a:p>
        </p:txBody>
      </p:sp>
      <p:sp>
        <p:nvSpPr>
          <p:cNvPr id="20" name="wifi card HTTPS"/>
          <p:cNvSpPr/>
          <p:nvPr/>
        </p:nvSpPr>
        <p:spPr>
          <a:xfrm>
            <a:off x="548640" y="4297680"/>
            <a:ext cx="5362956" cy="1920240"/>
          </a:xfrm>
          <a:prstGeom prst="roundRect">
            <a:avLst>
              <a:gd name="adj" fmla="val 4762"/>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1" name="HTTPS circle"/>
          <p:cNvSpPr/>
          <p:nvPr/>
        </p:nvSpPr>
        <p:spPr>
          <a:xfrm>
            <a:off x="804672" y="4553712"/>
            <a:ext cx="777240" cy="777240"/>
          </a:xfrm>
          <a:prstGeom prst="ellipse">
            <a:avLst/>
          </a:prstGeom>
          <a:solidFill>
            <a:srgbClr val="2A9D8F"/>
          </a:solidFill>
          <a:ln w="12700">
            <a:solidFill>
              <a:srgbClr val="2A9D8F"/>
            </a:solidFill>
            <a:prstDash val="solid"/>
          </a:ln>
        </p:spPr>
        <p:txBody>
          <a:bodyPr/>
          <a:lstStyle/>
          <a:p>
            <a:endParaRPr lang="en-GB"/>
          </a:p>
        </p:txBody>
      </p:sp>
      <p:pic>
        <p:nvPicPr>
          <p:cNvPr id="22" name="HTTPS icon" descr="HTTPS"/>
          <p:cNvPicPr>
            <a:picLocks noChangeAspect="1"/>
          </p:cNvPicPr>
          <p:nvPr/>
        </p:nvPicPr>
        <p:blipFill>
          <a:blip r:embed="rId3"/>
          <a:stretch>
            <a:fillRect/>
          </a:stretch>
        </p:blipFill>
        <p:spPr>
          <a:xfrm>
            <a:off x="1006754" y="4755794"/>
            <a:ext cx="373075" cy="373075"/>
          </a:xfrm>
          <a:prstGeom prst="rect">
            <a:avLst/>
          </a:prstGeom>
        </p:spPr>
      </p:pic>
      <p:sp>
        <p:nvSpPr>
          <p:cNvPr id="23" name="Text 20"/>
          <p:cNvSpPr txBox="1"/>
          <p:nvPr/>
        </p:nvSpPr>
        <p:spPr>
          <a:xfrm>
            <a:off x="1828800" y="4572000"/>
            <a:ext cx="3840480" cy="411480"/>
          </a:xfrm>
          <a:prstGeom prst="rect">
            <a:avLst/>
          </a:prstGeom>
          <a:noFill/>
          <a:ln/>
        </p:spPr>
        <p:txBody>
          <a:bodyPr wrap="square" lIns="0" tIns="0" rIns="0" bIns="0" rtlCol="0" anchor="t"/>
          <a:lstStyle/>
          <a:p>
            <a:pPr marL="0" indent="0">
              <a:buNone/>
            </a:pPr>
            <a:r>
              <a:rPr lang="en-US" sz="2100" b="1" dirty="0">
                <a:solidFill>
                  <a:schemeClr val="tx2"/>
                </a:solidFill>
                <a:latin typeface="Calibri" pitchFamily="34" charset="0"/>
                <a:ea typeface="Calibri" pitchFamily="34" charset="-122"/>
                <a:cs typeface="Calibri" pitchFamily="34" charset="-120"/>
              </a:rPr>
              <a:t>HTTPS</a:t>
            </a:r>
            <a:endParaRPr lang="en-US" sz="2100" dirty="0"/>
          </a:p>
        </p:txBody>
      </p:sp>
      <p:sp>
        <p:nvSpPr>
          <p:cNvPr id="24" name="Text 21"/>
          <p:cNvSpPr txBox="1"/>
          <p:nvPr/>
        </p:nvSpPr>
        <p:spPr>
          <a:xfrm>
            <a:off x="1828800" y="5047488"/>
            <a:ext cx="3840480" cy="10515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Encrypts traffic between your browser and the website.</a:t>
            </a:r>
            <a:endParaRPr lang="en-US" sz="1500" dirty="0"/>
          </a:p>
        </p:txBody>
      </p:sp>
      <p:sp>
        <p:nvSpPr>
          <p:cNvPr id="25" name="wifi card VPN"/>
          <p:cNvSpPr/>
          <p:nvPr/>
        </p:nvSpPr>
        <p:spPr>
          <a:xfrm>
            <a:off x="6277356" y="4297680"/>
            <a:ext cx="5362956" cy="1920240"/>
          </a:xfrm>
          <a:prstGeom prst="roundRect">
            <a:avLst>
              <a:gd name="adj" fmla="val 4762"/>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6" name="VPN circle"/>
          <p:cNvSpPr/>
          <p:nvPr/>
        </p:nvSpPr>
        <p:spPr>
          <a:xfrm>
            <a:off x="6533388" y="4553712"/>
            <a:ext cx="777240" cy="777240"/>
          </a:xfrm>
          <a:prstGeom prst="ellipse">
            <a:avLst/>
          </a:prstGeom>
          <a:solidFill>
            <a:srgbClr val="1F3A6B"/>
          </a:solidFill>
          <a:ln w="12700">
            <a:solidFill>
              <a:srgbClr val="1F3A6B"/>
            </a:solidFill>
            <a:prstDash val="solid"/>
          </a:ln>
        </p:spPr>
        <p:txBody>
          <a:bodyPr/>
          <a:lstStyle/>
          <a:p>
            <a:endParaRPr lang="en-GB"/>
          </a:p>
        </p:txBody>
      </p:sp>
      <p:pic>
        <p:nvPicPr>
          <p:cNvPr id="27" name="VPN icon" descr="VPN"/>
          <p:cNvPicPr>
            <a:picLocks noChangeAspect="1"/>
          </p:cNvPicPr>
          <p:nvPr/>
        </p:nvPicPr>
        <p:blipFill>
          <a:blip r:embed="rId4"/>
          <a:stretch>
            <a:fillRect/>
          </a:stretch>
        </p:blipFill>
        <p:spPr>
          <a:xfrm>
            <a:off x="6735470" y="4755794"/>
            <a:ext cx="373075" cy="373075"/>
          </a:xfrm>
          <a:prstGeom prst="rect">
            <a:avLst/>
          </a:prstGeom>
        </p:spPr>
      </p:pic>
      <p:sp>
        <p:nvSpPr>
          <p:cNvPr id="28" name="Text 24"/>
          <p:cNvSpPr txBox="1"/>
          <p:nvPr/>
        </p:nvSpPr>
        <p:spPr>
          <a:xfrm>
            <a:off x="7557516" y="4572000"/>
            <a:ext cx="3840480" cy="411480"/>
          </a:xfrm>
          <a:prstGeom prst="rect">
            <a:avLst/>
          </a:prstGeom>
          <a:noFill/>
          <a:ln/>
        </p:spPr>
        <p:txBody>
          <a:bodyPr wrap="square" lIns="0" tIns="0" rIns="0" bIns="0" rtlCol="0" anchor="t"/>
          <a:lstStyle/>
          <a:p>
            <a:pPr marL="0" indent="0">
              <a:buNone/>
            </a:pPr>
            <a:r>
              <a:rPr lang="en-US" sz="2100" b="1" dirty="0">
                <a:solidFill>
                  <a:schemeClr val="tx2"/>
                </a:solidFill>
                <a:latin typeface="Calibri" pitchFamily="34" charset="0"/>
                <a:ea typeface="Calibri" pitchFamily="34" charset="-122"/>
                <a:cs typeface="Calibri" pitchFamily="34" charset="-120"/>
              </a:rPr>
              <a:t>VPN</a:t>
            </a:r>
            <a:endParaRPr lang="en-US" sz="2100" dirty="0"/>
          </a:p>
        </p:txBody>
      </p:sp>
      <p:sp>
        <p:nvSpPr>
          <p:cNvPr id="29" name="Text 25"/>
          <p:cNvSpPr txBox="1"/>
          <p:nvPr/>
        </p:nvSpPr>
        <p:spPr>
          <a:xfrm>
            <a:off x="7557516" y="5047488"/>
            <a:ext cx="3840480" cy="105156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Encrypts traffic to the VPN provider, but that does not mean every website is trustworthy.</a:t>
            </a:r>
            <a:endParaRPr lang="en-US" sz="1500" dirty="0"/>
          </a:p>
        </p:txBody>
      </p:sp>
      <p:sp>
        <p:nvSpPr>
          <p:cNvPr id="30"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Five fundamentals</a:t>
            </a:r>
            <a:endParaRPr lang="en-US" sz="3400" dirty="0"/>
          </a:p>
        </p:txBody>
      </p:sp>
      <p:sp>
        <p:nvSpPr>
          <p:cNvPr id="3" name="fundamental 1"/>
          <p:cNvSpPr/>
          <p:nvPr/>
        </p:nvSpPr>
        <p:spPr>
          <a:xfrm>
            <a:off x="548640" y="1417320"/>
            <a:ext cx="2057400" cy="3931920"/>
          </a:xfrm>
          <a:prstGeom prst="roundRect">
            <a:avLst>
              <a:gd name="adj" fmla="val 444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fundamental number 1"/>
          <p:cNvSpPr/>
          <p:nvPr/>
        </p:nvSpPr>
        <p:spPr>
          <a:xfrm>
            <a:off x="777240" y="1673352"/>
            <a:ext cx="640080" cy="640080"/>
          </a:xfrm>
          <a:prstGeom prst="ellipse">
            <a:avLst/>
          </a:prstGeom>
          <a:solidFill>
            <a:srgbClr val="2A9D8F"/>
          </a:solidFill>
          <a:ln w="12700">
            <a:solidFill>
              <a:srgbClr val="2A9D8F"/>
            </a:solidFill>
            <a:prstDash val="solid"/>
          </a:ln>
        </p:spPr>
        <p:txBody>
          <a:bodyPr/>
          <a:lstStyle/>
          <a:p>
            <a:endParaRPr lang="en-GB"/>
          </a:p>
        </p:txBody>
      </p:sp>
      <p:sp>
        <p:nvSpPr>
          <p:cNvPr id="5" name="Text 3"/>
          <p:cNvSpPr txBox="1"/>
          <p:nvPr/>
        </p:nvSpPr>
        <p:spPr>
          <a:xfrm>
            <a:off x="777240" y="16733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777240" y="2468880"/>
            <a:ext cx="1645920" cy="68580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Unique passwords</a:t>
            </a:r>
            <a:endParaRPr lang="en-US" sz="1700" dirty="0"/>
          </a:p>
        </p:txBody>
      </p:sp>
      <p:sp>
        <p:nvSpPr>
          <p:cNvPr id="7" name="Text 5"/>
          <p:cNvSpPr txBox="1"/>
          <p:nvPr/>
        </p:nvSpPr>
        <p:spPr>
          <a:xfrm>
            <a:off x="777240" y="3200400"/>
            <a:ext cx="1645920" cy="2057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password manager reduces phishing risk, as it only auto-fills on the exact domain. It also flags weak passwords and syncs across devices.</a:t>
            </a:r>
            <a:endParaRPr lang="en-US" sz="1400" dirty="0"/>
          </a:p>
        </p:txBody>
      </p:sp>
      <p:sp>
        <p:nvSpPr>
          <p:cNvPr id="8" name="fundamental 2"/>
          <p:cNvSpPr/>
          <p:nvPr/>
        </p:nvSpPr>
        <p:spPr>
          <a:xfrm>
            <a:off x="2807208" y="1417320"/>
            <a:ext cx="2057400" cy="3931920"/>
          </a:xfrm>
          <a:prstGeom prst="roundRect">
            <a:avLst>
              <a:gd name="adj" fmla="val 444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9" name="fundamental number 2"/>
          <p:cNvSpPr/>
          <p:nvPr/>
        </p:nvSpPr>
        <p:spPr>
          <a:xfrm>
            <a:off x="3035808" y="1673352"/>
            <a:ext cx="640080" cy="640080"/>
          </a:xfrm>
          <a:prstGeom prst="ellipse">
            <a:avLst/>
          </a:prstGeom>
          <a:solidFill>
            <a:srgbClr val="1F3A6B"/>
          </a:solidFill>
          <a:ln w="12700">
            <a:solidFill>
              <a:srgbClr val="1F3A6B"/>
            </a:solidFill>
            <a:prstDash val="solid"/>
          </a:ln>
        </p:spPr>
        <p:txBody>
          <a:bodyPr/>
          <a:lstStyle/>
          <a:p>
            <a:endParaRPr lang="en-GB"/>
          </a:p>
        </p:txBody>
      </p:sp>
      <p:sp>
        <p:nvSpPr>
          <p:cNvPr id="10" name="Text 8"/>
          <p:cNvSpPr txBox="1"/>
          <p:nvPr/>
        </p:nvSpPr>
        <p:spPr>
          <a:xfrm>
            <a:off x="3035808" y="16733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1" name="Text 9"/>
          <p:cNvSpPr txBox="1"/>
          <p:nvPr/>
        </p:nvSpPr>
        <p:spPr>
          <a:xfrm>
            <a:off x="3035808" y="2468880"/>
            <a:ext cx="1645920" cy="68580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Enable MFA</a:t>
            </a:r>
            <a:endParaRPr lang="en-US" sz="1700" dirty="0"/>
          </a:p>
        </p:txBody>
      </p:sp>
      <p:sp>
        <p:nvSpPr>
          <p:cNvPr id="12" name="Text 10"/>
          <p:cNvSpPr txBox="1"/>
          <p:nvPr/>
        </p:nvSpPr>
        <p:spPr>
          <a:xfrm>
            <a:off x="3035808" y="3200400"/>
            <a:ext cx="1645920" cy="2057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Never share sign-in codes. Authentication can be something you know (a password), something you have (an authenticator app) or something you are (a face scan).</a:t>
            </a:r>
            <a:endParaRPr lang="en-US" sz="1400" dirty="0"/>
          </a:p>
        </p:txBody>
      </p:sp>
      <p:sp>
        <p:nvSpPr>
          <p:cNvPr id="13" name="fundamental 3"/>
          <p:cNvSpPr/>
          <p:nvPr/>
        </p:nvSpPr>
        <p:spPr>
          <a:xfrm>
            <a:off x="5065776" y="1417320"/>
            <a:ext cx="2057400" cy="3931920"/>
          </a:xfrm>
          <a:prstGeom prst="roundRect">
            <a:avLst>
              <a:gd name="adj" fmla="val 444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4" name="fundamental number 3"/>
          <p:cNvSpPr/>
          <p:nvPr/>
        </p:nvSpPr>
        <p:spPr>
          <a:xfrm>
            <a:off x="5294376" y="1673352"/>
            <a:ext cx="640080" cy="640080"/>
          </a:xfrm>
          <a:prstGeom prst="ellipse">
            <a:avLst/>
          </a:prstGeom>
          <a:solidFill>
            <a:srgbClr val="D64541"/>
          </a:solidFill>
          <a:ln w="12700">
            <a:solidFill>
              <a:srgbClr val="D64541"/>
            </a:solidFill>
            <a:prstDash val="solid"/>
          </a:ln>
        </p:spPr>
        <p:txBody>
          <a:bodyPr/>
          <a:lstStyle/>
          <a:p>
            <a:endParaRPr lang="en-GB"/>
          </a:p>
        </p:txBody>
      </p:sp>
      <p:sp>
        <p:nvSpPr>
          <p:cNvPr id="15" name="Text 13"/>
          <p:cNvSpPr txBox="1"/>
          <p:nvPr/>
        </p:nvSpPr>
        <p:spPr>
          <a:xfrm>
            <a:off x="5294376" y="16733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6" name="Text 14"/>
          <p:cNvSpPr txBox="1"/>
          <p:nvPr/>
        </p:nvSpPr>
        <p:spPr>
          <a:xfrm>
            <a:off x="5294376" y="2468880"/>
            <a:ext cx="1645920" cy="68580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Pause before clicking</a:t>
            </a:r>
            <a:endParaRPr lang="en-US" sz="1700" dirty="0"/>
          </a:p>
        </p:txBody>
      </p:sp>
      <p:sp>
        <p:nvSpPr>
          <p:cNvPr id="17" name="Text 15"/>
          <p:cNvSpPr txBox="1"/>
          <p:nvPr/>
        </p:nvSpPr>
        <p:spPr>
          <a:xfrm>
            <a:off x="5294376" y="3200400"/>
            <a:ext cx="1645920" cy="2057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Verify unexpected requests separately.</a:t>
            </a:r>
            <a:endParaRPr lang="en-US" sz="1400" dirty="0"/>
          </a:p>
        </p:txBody>
      </p:sp>
      <p:sp>
        <p:nvSpPr>
          <p:cNvPr id="18" name="fundamental 4"/>
          <p:cNvSpPr/>
          <p:nvPr/>
        </p:nvSpPr>
        <p:spPr>
          <a:xfrm>
            <a:off x="7324344" y="1417320"/>
            <a:ext cx="2057400" cy="3931920"/>
          </a:xfrm>
          <a:prstGeom prst="roundRect">
            <a:avLst>
              <a:gd name="adj" fmla="val 444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9" name="fundamental number 4"/>
          <p:cNvSpPr/>
          <p:nvPr/>
        </p:nvSpPr>
        <p:spPr>
          <a:xfrm>
            <a:off x="7552944" y="1673352"/>
            <a:ext cx="640080" cy="640080"/>
          </a:xfrm>
          <a:prstGeom prst="ellipse">
            <a:avLst/>
          </a:prstGeom>
          <a:solidFill>
            <a:srgbClr val="C98F12"/>
          </a:solidFill>
          <a:ln w="12700">
            <a:solidFill>
              <a:srgbClr val="C98F12"/>
            </a:solidFill>
            <a:prstDash val="solid"/>
          </a:ln>
        </p:spPr>
        <p:txBody>
          <a:bodyPr/>
          <a:lstStyle/>
          <a:p>
            <a:endParaRPr lang="en-GB"/>
          </a:p>
        </p:txBody>
      </p:sp>
      <p:sp>
        <p:nvSpPr>
          <p:cNvPr id="20" name="Text 18"/>
          <p:cNvSpPr txBox="1"/>
          <p:nvPr/>
        </p:nvSpPr>
        <p:spPr>
          <a:xfrm>
            <a:off x="7552944" y="16733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21" name="Text 19"/>
          <p:cNvSpPr txBox="1"/>
          <p:nvPr/>
        </p:nvSpPr>
        <p:spPr>
          <a:xfrm>
            <a:off x="7552944" y="2468880"/>
            <a:ext cx="1645920" cy="68580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Update and lock devices</a:t>
            </a:r>
            <a:endParaRPr lang="en-US" sz="1700" dirty="0"/>
          </a:p>
        </p:txBody>
      </p:sp>
      <p:sp>
        <p:nvSpPr>
          <p:cNvPr id="22" name="Text 20"/>
          <p:cNvSpPr txBox="1"/>
          <p:nvPr/>
        </p:nvSpPr>
        <p:spPr>
          <a:xfrm>
            <a:off x="7552944" y="3200400"/>
            <a:ext cx="1645920" cy="2057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Patch software and protect stored data.</a:t>
            </a:r>
            <a:endParaRPr lang="en-US" sz="1400" dirty="0"/>
          </a:p>
        </p:txBody>
      </p:sp>
      <p:sp>
        <p:nvSpPr>
          <p:cNvPr id="23" name="fundamental 5"/>
          <p:cNvSpPr/>
          <p:nvPr/>
        </p:nvSpPr>
        <p:spPr>
          <a:xfrm>
            <a:off x="9582912" y="1417320"/>
            <a:ext cx="2057400" cy="3931920"/>
          </a:xfrm>
          <a:prstGeom prst="roundRect">
            <a:avLst>
              <a:gd name="adj" fmla="val 4444"/>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24" name="fundamental number 5"/>
          <p:cNvSpPr/>
          <p:nvPr/>
        </p:nvSpPr>
        <p:spPr>
          <a:xfrm>
            <a:off x="9811512" y="1673352"/>
            <a:ext cx="640080" cy="640080"/>
          </a:xfrm>
          <a:prstGeom prst="ellipse">
            <a:avLst/>
          </a:prstGeom>
          <a:solidFill>
            <a:srgbClr val="2A9D8F"/>
          </a:solidFill>
          <a:ln w="12700">
            <a:solidFill>
              <a:srgbClr val="2A9D8F"/>
            </a:solidFill>
            <a:prstDash val="solid"/>
          </a:ln>
        </p:spPr>
        <p:txBody>
          <a:bodyPr/>
          <a:lstStyle/>
          <a:p>
            <a:endParaRPr lang="en-GB"/>
          </a:p>
        </p:txBody>
      </p:sp>
      <p:sp>
        <p:nvSpPr>
          <p:cNvPr id="25" name="Text 23"/>
          <p:cNvSpPr txBox="1"/>
          <p:nvPr/>
        </p:nvSpPr>
        <p:spPr>
          <a:xfrm>
            <a:off x="9811512" y="16733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05</a:t>
            </a:r>
            <a:endParaRPr lang="en-US" sz="1800" dirty="0"/>
          </a:p>
        </p:txBody>
      </p:sp>
      <p:sp>
        <p:nvSpPr>
          <p:cNvPr id="26" name="Text 24"/>
          <p:cNvSpPr txBox="1"/>
          <p:nvPr/>
        </p:nvSpPr>
        <p:spPr>
          <a:xfrm>
            <a:off x="9811512" y="2468880"/>
            <a:ext cx="1645920" cy="68580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Use Wi-Fi thoughtfully</a:t>
            </a:r>
            <a:endParaRPr lang="en-US" sz="1700" dirty="0"/>
          </a:p>
        </p:txBody>
      </p:sp>
      <p:sp>
        <p:nvSpPr>
          <p:cNvPr id="27" name="Text 25"/>
          <p:cNvSpPr txBox="1"/>
          <p:nvPr/>
        </p:nvSpPr>
        <p:spPr>
          <a:xfrm>
            <a:off x="9811512" y="3200400"/>
            <a:ext cx="1645920" cy="2057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Check the network; use HTTPS and consider mobile data.</a:t>
            </a:r>
            <a:endParaRPr lang="en-US" sz="1400" dirty="0"/>
          </a:p>
        </p:txBody>
      </p:sp>
      <p:sp>
        <p:nvSpPr>
          <p:cNvPr id="28" name="referencing"/>
          <p:cNvSpPr/>
          <p:nvPr/>
        </p:nvSpPr>
        <p:spPr>
          <a:xfrm>
            <a:off x="548640" y="5577840"/>
            <a:ext cx="11091672" cy="640080"/>
          </a:xfrm>
          <a:prstGeom prst="roundRect">
            <a:avLst>
              <a:gd name="adj" fmla="val 14286"/>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29" name="Text 27"/>
          <p:cNvSpPr txBox="1"/>
          <p:nvPr/>
        </p:nvSpPr>
        <p:spPr>
          <a:xfrm>
            <a:off x="822960" y="5577840"/>
            <a:ext cx="10543032" cy="640080"/>
          </a:xfrm>
          <a:prstGeom prst="rect">
            <a:avLst/>
          </a:prstGeom>
          <a:noFill/>
          <a:ln/>
        </p:spPr>
        <p:txBody>
          <a:bodyPr wrap="square" lIns="0" tIns="0" rIns="0" bIns="0" rtlCol="0" anchor="ctr"/>
          <a:lstStyle/>
          <a:p>
            <a:pPr marL="0" indent="0">
              <a:buNone/>
            </a:pPr>
            <a:r>
              <a:rPr lang="en-US" sz="1700" b="1" dirty="0">
                <a:solidFill>
                  <a:srgbClr val="FFFFFF"/>
                </a:solidFill>
              </a:rPr>
              <a:t>Harvard referencing is used throughout to ensure solid evidence.</a:t>
            </a:r>
            <a:endParaRPr lang="en-US" sz="1700" dirty="0"/>
          </a:p>
        </p:txBody>
      </p:sp>
      <p:sp>
        <p:nvSpPr>
          <p:cNvPr id="30"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Reflection: what connects the four projects</a:t>
            </a:r>
            <a:endParaRPr lang="en-US" sz="3400" dirty="0"/>
          </a:p>
        </p:txBody>
      </p:sp>
      <p:sp>
        <p:nvSpPr>
          <p:cNvPr id="3" name="reflection card Plan, then build"/>
          <p:cNvSpPr/>
          <p:nvPr/>
        </p:nvSpPr>
        <p:spPr>
          <a:xfrm>
            <a:off x="548640" y="1645920"/>
            <a:ext cx="5362956" cy="1920240"/>
          </a:xfrm>
          <a:prstGeom prst="roundRect">
            <a:avLst>
              <a:gd name="adj" fmla="val 4762"/>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Plan, then build circle"/>
          <p:cNvSpPr/>
          <p:nvPr/>
        </p:nvSpPr>
        <p:spPr>
          <a:xfrm>
            <a:off x="914400" y="2194560"/>
            <a:ext cx="822960" cy="822960"/>
          </a:xfrm>
          <a:prstGeom prst="ellipse">
            <a:avLst/>
          </a:prstGeom>
          <a:solidFill>
            <a:srgbClr val="2A9D8F"/>
          </a:solidFill>
          <a:ln w="12700">
            <a:solidFill>
              <a:srgbClr val="2A9D8F"/>
            </a:solidFill>
            <a:prstDash val="solid"/>
          </a:ln>
        </p:spPr>
        <p:txBody>
          <a:bodyPr/>
          <a:lstStyle/>
          <a:p>
            <a:endParaRPr lang="en-GB"/>
          </a:p>
        </p:txBody>
      </p:sp>
      <p:pic>
        <p:nvPicPr>
          <p:cNvPr id="5" name="Plan, then build icon" descr="Plan, then build"/>
          <p:cNvPicPr>
            <a:picLocks noChangeAspect="1"/>
          </p:cNvPicPr>
          <p:nvPr/>
        </p:nvPicPr>
        <p:blipFill>
          <a:blip r:embed="rId3"/>
          <a:stretch>
            <a:fillRect/>
          </a:stretch>
        </p:blipFill>
        <p:spPr>
          <a:xfrm>
            <a:off x="1128370" y="2408530"/>
            <a:ext cx="395021" cy="395021"/>
          </a:xfrm>
          <a:prstGeom prst="rect">
            <a:avLst/>
          </a:prstGeom>
        </p:spPr>
      </p:pic>
      <p:sp>
        <p:nvSpPr>
          <p:cNvPr id="6" name="Text 3"/>
          <p:cNvSpPr txBox="1"/>
          <p:nvPr/>
        </p:nvSpPr>
        <p:spPr>
          <a:xfrm>
            <a:off x="2011680" y="1645920"/>
            <a:ext cx="3625596" cy="192024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Plan, then build</a:t>
            </a:r>
            <a:endParaRPr lang="en-US" sz="2400" dirty="0"/>
          </a:p>
        </p:txBody>
      </p:sp>
      <p:sp>
        <p:nvSpPr>
          <p:cNvPr id="7" name="reflection card Prove it works"/>
          <p:cNvSpPr/>
          <p:nvPr/>
        </p:nvSpPr>
        <p:spPr>
          <a:xfrm>
            <a:off x="6277356" y="1645920"/>
            <a:ext cx="5362956" cy="1920240"/>
          </a:xfrm>
          <a:prstGeom prst="roundRect">
            <a:avLst>
              <a:gd name="adj" fmla="val 4762"/>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8" name="Prove it works circle"/>
          <p:cNvSpPr/>
          <p:nvPr/>
        </p:nvSpPr>
        <p:spPr>
          <a:xfrm>
            <a:off x="6643116" y="2194560"/>
            <a:ext cx="822960" cy="822960"/>
          </a:xfrm>
          <a:prstGeom prst="ellipse">
            <a:avLst/>
          </a:prstGeom>
          <a:solidFill>
            <a:srgbClr val="1F3A6B"/>
          </a:solidFill>
          <a:ln w="12700">
            <a:solidFill>
              <a:srgbClr val="1F3A6B"/>
            </a:solidFill>
            <a:prstDash val="solid"/>
          </a:ln>
        </p:spPr>
        <p:txBody>
          <a:bodyPr/>
          <a:lstStyle/>
          <a:p>
            <a:endParaRPr lang="en-GB"/>
          </a:p>
        </p:txBody>
      </p:sp>
      <p:pic>
        <p:nvPicPr>
          <p:cNvPr id="9" name="Prove it works icon" descr="Prove it works"/>
          <p:cNvPicPr>
            <a:picLocks noChangeAspect="1"/>
          </p:cNvPicPr>
          <p:nvPr/>
        </p:nvPicPr>
        <p:blipFill>
          <a:blip r:embed="rId4"/>
          <a:stretch>
            <a:fillRect/>
          </a:stretch>
        </p:blipFill>
        <p:spPr>
          <a:xfrm>
            <a:off x="6857086" y="2408530"/>
            <a:ext cx="395021" cy="395021"/>
          </a:xfrm>
          <a:prstGeom prst="rect">
            <a:avLst/>
          </a:prstGeom>
        </p:spPr>
      </p:pic>
      <p:sp>
        <p:nvSpPr>
          <p:cNvPr id="10" name="Text 6"/>
          <p:cNvSpPr txBox="1"/>
          <p:nvPr/>
        </p:nvSpPr>
        <p:spPr>
          <a:xfrm>
            <a:off x="7740396" y="1645920"/>
            <a:ext cx="3625596" cy="192024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Prove it works</a:t>
            </a:r>
            <a:endParaRPr lang="en-US" sz="2400" dirty="0"/>
          </a:p>
        </p:txBody>
      </p:sp>
      <p:sp>
        <p:nvSpPr>
          <p:cNvPr id="11" name="reflection card Work as a team"/>
          <p:cNvSpPr/>
          <p:nvPr/>
        </p:nvSpPr>
        <p:spPr>
          <a:xfrm>
            <a:off x="548640" y="3886200"/>
            <a:ext cx="5362956" cy="1920240"/>
          </a:xfrm>
          <a:prstGeom prst="roundRect">
            <a:avLst>
              <a:gd name="adj" fmla="val 4762"/>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2" name="Work as a team circle"/>
          <p:cNvSpPr/>
          <p:nvPr/>
        </p:nvSpPr>
        <p:spPr>
          <a:xfrm>
            <a:off x="914400" y="4434840"/>
            <a:ext cx="822960" cy="822960"/>
          </a:xfrm>
          <a:prstGeom prst="ellipse">
            <a:avLst/>
          </a:prstGeom>
          <a:solidFill>
            <a:srgbClr val="C98F12"/>
          </a:solidFill>
          <a:ln w="12700">
            <a:solidFill>
              <a:srgbClr val="C98F12"/>
            </a:solidFill>
            <a:prstDash val="solid"/>
          </a:ln>
        </p:spPr>
        <p:txBody>
          <a:bodyPr/>
          <a:lstStyle/>
          <a:p>
            <a:endParaRPr lang="en-GB"/>
          </a:p>
        </p:txBody>
      </p:sp>
      <p:pic>
        <p:nvPicPr>
          <p:cNvPr id="13" name="Work as a team icon" descr="Work as a team"/>
          <p:cNvPicPr>
            <a:picLocks noChangeAspect="1"/>
          </p:cNvPicPr>
          <p:nvPr/>
        </p:nvPicPr>
        <p:blipFill>
          <a:blip r:embed="rId5"/>
          <a:stretch>
            <a:fillRect/>
          </a:stretch>
        </p:blipFill>
        <p:spPr>
          <a:xfrm>
            <a:off x="1128370" y="4648810"/>
            <a:ext cx="395021" cy="395021"/>
          </a:xfrm>
          <a:prstGeom prst="rect">
            <a:avLst/>
          </a:prstGeom>
        </p:spPr>
      </p:pic>
      <p:sp>
        <p:nvSpPr>
          <p:cNvPr id="14" name="Text 9"/>
          <p:cNvSpPr txBox="1"/>
          <p:nvPr/>
        </p:nvSpPr>
        <p:spPr>
          <a:xfrm>
            <a:off x="2011680" y="3886200"/>
            <a:ext cx="3625596" cy="192024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Work as a team</a:t>
            </a:r>
            <a:endParaRPr lang="en-US" sz="2400" dirty="0"/>
          </a:p>
        </p:txBody>
      </p:sp>
      <p:sp>
        <p:nvSpPr>
          <p:cNvPr id="15" name="reflection card Honest about the journey"/>
          <p:cNvSpPr/>
          <p:nvPr/>
        </p:nvSpPr>
        <p:spPr>
          <a:xfrm>
            <a:off x="6277356" y="3886200"/>
            <a:ext cx="5362956" cy="1920240"/>
          </a:xfrm>
          <a:prstGeom prst="roundRect">
            <a:avLst>
              <a:gd name="adj" fmla="val 4762"/>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16" name="Honest about the journey circle"/>
          <p:cNvSpPr/>
          <p:nvPr/>
        </p:nvSpPr>
        <p:spPr>
          <a:xfrm>
            <a:off x="6643116" y="4434840"/>
            <a:ext cx="822960" cy="822960"/>
          </a:xfrm>
          <a:prstGeom prst="ellipse">
            <a:avLst/>
          </a:prstGeom>
          <a:solidFill>
            <a:srgbClr val="D64541"/>
          </a:solidFill>
          <a:ln w="12700">
            <a:solidFill>
              <a:srgbClr val="D64541"/>
            </a:solidFill>
            <a:prstDash val="solid"/>
          </a:ln>
        </p:spPr>
        <p:txBody>
          <a:bodyPr/>
          <a:lstStyle/>
          <a:p>
            <a:endParaRPr lang="en-GB"/>
          </a:p>
        </p:txBody>
      </p:sp>
      <p:pic>
        <p:nvPicPr>
          <p:cNvPr id="17" name="Honest about the journey icon" descr="Honest about the journey"/>
          <p:cNvPicPr>
            <a:picLocks noChangeAspect="1"/>
          </p:cNvPicPr>
          <p:nvPr/>
        </p:nvPicPr>
        <p:blipFill>
          <a:blip r:embed="rId6"/>
          <a:stretch>
            <a:fillRect/>
          </a:stretch>
        </p:blipFill>
        <p:spPr>
          <a:xfrm>
            <a:off x="6857086" y="4648810"/>
            <a:ext cx="395021" cy="395021"/>
          </a:xfrm>
          <a:prstGeom prst="rect">
            <a:avLst/>
          </a:prstGeom>
        </p:spPr>
      </p:pic>
      <p:sp>
        <p:nvSpPr>
          <p:cNvPr id="18" name="Text 12"/>
          <p:cNvSpPr txBox="1"/>
          <p:nvPr/>
        </p:nvSpPr>
        <p:spPr>
          <a:xfrm>
            <a:off x="7740396" y="3886200"/>
            <a:ext cx="3625596" cy="192024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Honest about the journey</a:t>
            </a: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50976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Use of generative AI</a:t>
            </a:r>
            <a:endParaRPr lang="en-US" sz="3400" dirty="0"/>
          </a:p>
        </p:txBody>
      </p:sp>
      <p:sp>
        <p:nvSpPr>
          <p:cNvPr id="3" name="gai card Where we used it"/>
          <p:cNvSpPr/>
          <p:nvPr/>
        </p:nvSpPr>
        <p:spPr>
          <a:xfrm>
            <a:off x="548640" y="1417320"/>
            <a:ext cx="5362956" cy="3749040"/>
          </a:xfrm>
          <a:prstGeom prst="roundRect">
            <a:avLst>
              <a:gd name="adj" fmla="val 2439"/>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4" name="Where we used it circle"/>
          <p:cNvSpPr/>
          <p:nvPr/>
        </p:nvSpPr>
        <p:spPr>
          <a:xfrm>
            <a:off x="822960" y="1691640"/>
            <a:ext cx="777240" cy="777240"/>
          </a:xfrm>
          <a:prstGeom prst="ellipse">
            <a:avLst/>
          </a:prstGeom>
          <a:solidFill>
            <a:srgbClr val="1F3A6B"/>
          </a:solidFill>
          <a:ln w="12700">
            <a:solidFill>
              <a:srgbClr val="1F3A6B"/>
            </a:solidFill>
            <a:prstDash val="solid"/>
          </a:ln>
        </p:spPr>
        <p:txBody>
          <a:bodyPr/>
          <a:lstStyle/>
          <a:p>
            <a:endParaRPr lang="en-GB"/>
          </a:p>
        </p:txBody>
      </p:sp>
      <p:pic>
        <p:nvPicPr>
          <p:cNvPr id="5" name="Where we used it icon" descr="Where we used it"/>
          <p:cNvPicPr>
            <a:picLocks noChangeAspect="1"/>
          </p:cNvPicPr>
          <p:nvPr/>
        </p:nvPicPr>
        <p:blipFill>
          <a:blip r:embed="rId3"/>
          <a:stretch>
            <a:fillRect/>
          </a:stretch>
        </p:blipFill>
        <p:spPr>
          <a:xfrm>
            <a:off x="1025042" y="1893722"/>
            <a:ext cx="373075" cy="373075"/>
          </a:xfrm>
          <a:prstGeom prst="rect">
            <a:avLst/>
          </a:prstGeom>
        </p:spPr>
      </p:pic>
      <p:sp>
        <p:nvSpPr>
          <p:cNvPr id="6" name="Text 3"/>
          <p:cNvSpPr txBox="1"/>
          <p:nvPr/>
        </p:nvSpPr>
        <p:spPr>
          <a:xfrm>
            <a:off x="1828800" y="1828800"/>
            <a:ext cx="3808476" cy="457200"/>
          </a:xfrm>
          <a:prstGeom prst="rect">
            <a:avLst/>
          </a:prstGeom>
          <a:noFill/>
          <a:ln/>
        </p:spPr>
        <p:txBody>
          <a:bodyPr wrap="square" lIns="0" tIns="0" rIns="0" bIns="0" rtlCol="0" anchor="ctr"/>
          <a:lstStyle/>
          <a:p>
            <a:pPr marL="0" indent="0">
              <a:buNone/>
            </a:pPr>
            <a:r>
              <a:rPr lang="en-US" sz="2100" b="1" dirty="0">
                <a:solidFill>
                  <a:schemeClr val="tx2"/>
                </a:solidFill>
                <a:latin typeface="Calibri" pitchFamily="34" charset="0"/>
                <a:ea typeface="Calibri" pitchFamily="34" charset="-122"/>
                <a:cs typeface="Calibri" pitchFamily="34" charset="-120"/>
              </a:rPr>
              <a:t>Where we used it</a:t>
            </a:r>
            <a:endParaRPr lang="en-US" sz="2100" dirty="0"/>
          </a:p>
        </p:txBody>
      </p:sp>
      <p:sp>
        <p:nvSpPr>
          <p:cNvPr id="7" name="Text 4"/>
          <p:cNvSpPr txBox="1"/>
          <p:nvPr/>
        </p:nvSpPr>
        <p:spPr>
          <a:xfrm>
            <a:off x="914400" y="2743200"/>
            <a:ext cx="4631436" cy="2286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Generative AI helped refine our slides.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It worked from our own reports, designs and test results.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It was a polishing aid, not a source of evidence.</a:t>
            </a:r>
            <a:endParaRPr lang="en-US" sz="1600" dirty="0"/>
          </a:p>
        </p:txBody>
      </p:sp>
      <p:sp>
        <p:nvSpPr>
          <p:cNvPr id="8" name="gai card How we checked it"/>
          <p:cNvSpPr/>
          <p:nvPr/>
        </p:nvSpPr>
        <p:spPr>
          <a:xfrm>
            <a:off x="6277356" y="1417320"/>
            <a:ext cx="5362956" cy="3749040"/>
          </a:xfrm>
          <a:prstGeom prst="roundRect">
            <a:avLst>
              <a:gd name="adj" fmla="val 2439"/>
            </a:avLst>
          </a:prstGeom>
          <a:solidFill>
            <a:schemeClr val="bg1"/>
          </a:solidFill>
          <a:ln w="9525">
            <a:solidFill>
              <a:srgbClr val="E3E8F2"/>
            </a:solidFill>
            <a:prstDash val="solid"/>
          </a:ln>
          <a:effectLst>
            <a:outerShdw blurRad="101600" dist="25400" dir="5400000" algn="bl" rotWithShape="0">
              <a:srgbClr val="000000">
                <a:alpha val="10000"/>
              </a:srgbClr>
            </a:outerShdw>
          </a:effectLst>
        </p:spPr>
        <p:txBody>
          <a:bodyPr/>
          <a:lstStyle/>
          <a:p>
            <a:endParaRPr lang="en-GB"/>
          </a:p>
        </p:txBody>
      </p:sp>
      <p:sp>
        <p:nvSpPr>
          <p:cNvPr id="9" name="How we checked it circle"/>
          <p:cNvSpPr/>
          <p:nvPr/>
        </p:nvSpPr>
        <p:spPr>
          <a:xfrm>
            <a:off x="6551676" y="1691640"/>
            <a:ext cx="777240" cy="777240"/>
          </a:xfrm>
          <a:prstGeom prst="ellipse">
            <a:avLst/>
          </a:prstGeom>
          <a:solidFill>
            <a:srgbClr val="2A9D8F"/>
          </a:solidFill>
          <a:ln w="12700">
            <a:solidFill>
              <a:srgbClr val="2A9D8F"/>
            </a:solidFill>
            <a:prstDash val="solid"/>
          </a:ln>
        </p:spPr>
        <p:txBody>
          <a:bodyPr/>
          <a:lstStyle/>
          <a:p>
            <a:endParaRPr lang="en-GB"/>
          </a:p>
        </p:txBody>
      </p:sp>
      <p:pic>
        <p:nvPicPr>
          <p:cNvPr id="10" name="How we checked it icon" descr="How we checked it"/>
          <p:cNvPicPr>
            <a:picLocks noChangeAspect="1"/>
          </p:cNvPicPr>
          <p:nvPr/>
        </p:nvPicPr>
        <p:blipFill>
          <a:blip r:embed="rId4"/>
          <a:stretch>
            <a:fillRect/>
          </a:stretch>
        </p:blipFill>
        <p:spPr>
          <a:xfrm>
            <a:off x="6753758" y="1893722"/>
            <a:ext cx="373075" cy="373075"/>
          </a:xfrm>
          <a:prstGeom prst="rect">
            <a:avLst/>
          </a:prstGeom>
        </p:spPr>
      </p:pic>
      <p:sp>
        <p:nvSpPr>
          <p:cNvPr id="11" name="Text 7"/>
          <p:cNvSpPr txBox="1"/>
          <p:nvPr/>
        </p:nvSpPr>
        <p:spPr>
          <a:xfrm>
            <a:off x="7557516" y="1828800"/>
            <a:ext cx="3808476" cy="457200"/>
          </a:xfrm>
          <a:prstGeom prst="rect">
            <a:avLst/>
          </a:prstGeom>
          <a:noFill/>
          <a:ln/>
        </p:spPr>
        <p:txBody>
          <a:bodyPr wrap="square" lIns="0" tIns="0" rIns="0" bIns="0" rtlCol="0" anchor="ctr"/>
          <a:lstStyle/>
          <a:p>
            <a:pPr marL="0" indent="0">
              <a:buNone/>
            </a:pPr>
            <a:r>
              <a:rPr lang="en-US" sz="2100" b="1" dirty="0">
                <a:solidFill>
                  <a:schemeClr val="tx2"/>
                </a:solidFill>
                <a:latin typeface="Calibri" pitchFamily="34" charset="0"/>
                <a:ea typeface="Calibri" pitchFamily="34" charset="-122"/>
                <a:cs typeface="Calibri" pitchFamily="34" charset="-120"/>
              </a:rPr>
              <a:t>How we checked it</a:t>
            </a:r>
            <a:endParaRPr lang="en-US" sz="2100" dirty="0"/>
          </a:p>
        </p:txBody>
      </p:sp>
      <p:sp>
        <p:nvSpPr>
          <p:cNvPr id="12" name="Text 8"/>
          <p:cNvSpPr txBox="1"/>
          <p:nvPr/>
        </p:nvSpPr>
        <p:spPr>
          <a:xfrm>
            <a:off x="6643116" y="2743200"/>
            <a:ext cx="4631436" cy="2286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Every figure and claim was checked against our reports and test results.</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AI output was corrected or rewritten where it was wrong.</a:t>
            </a:r>
            <a:endParaRPr lang="en-US" sz="1600" dirty="0"/>
          </a:p>
          <a:p>
            <a:pPr marL="342900" indent="-3429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The live demo runs our real program, not AI output.</a:t>
            </a:r>
            <a:endParaRPr lang="en-US" sz="1600" dirty="0"/>
          </a:p>
        </p:txBody>
      </p:sp>
      <p:sp>
        <p:nvSpPr>
          <p:cNvPr id="13" name="gai statement"/>
          <p:cNvSpPr/>
          <p:nvPr/>
        </p:nvSpPr>
        <p:spPr>
          <a:xfrm>
            <a:off x="548640" y="5440680"/>
            <a:ext cx="11091672" cy="777240"/>
          </a:xfrm>
          <a:prstGeom prst="roundRect">
            <a:avLst>
              <a:gd name="adj" fmla="val 11765"/>
            </a:avLst>
          </a:prstGeom>
          <a:solidFill>
            <a:schemeClr val="tx2"/>
          </a:solidFill>
          <a:ln w="12700">
            <a:solidFill>
              <a:schemeClr val="tx2"/>
            </a:solidFill>
            <a:prstDash val="solid"/>
          </a:ln>
          <a:effectLst>
            <a:outerShdw blurRad="101600" dist="25400" dir="5400000" algn="bl" rotWithShape="0">
              <a:srgbClr val="000000">
                <a:alpha val="10000"/>
              </a:srgbClr>
            </a:outerShdw>
          </a:effectLst>
        </p:spPr>
        <p:txBody>
          <a:bodyPr/>
          <a:lstStyle/>
          <a:p>
            <a:endParaRPr lang="en-GB"/>
          </a:p>
        </p:txBody>
      </p:sp>
      <p:sp>
        <p:nvSpPr>
          <p:cNvPr id="14" name="Text 10"/>
          <p:cNvSpPr txBox="1"/>
          <p:nvPr/>
        </p:nvSpPr>
        <p:spPr>
          <a:xfrm>
            <a:off x="868680" y="5440680"/>
            <a:ext cx="10515600" cy="777240"/>
          </a:xfrm>
          <a:prstGeom prst="rect">
            <a:avLst/>
          </a:prstGeom>
          <a:noFill/>
          <a:ln/>
        </p:spPr>
        <p:txBody>
          <a:bodyPr wrap="square" lIns="0" tIns="0" rIns="0" bIns="0" rtlCol="0" anchor="ctr"/>
          <a:lstStyle/>
          <a:p>
            <a:pPr marL="0" indent="0">
              <a:buNone/>
            </a:pPr>
            <a:r>
              <a:rPr lang="en-US" sz="1700" b="1" dirty="0">
                <a:solidFill>
                  <a:schemeClr val="bg1"/>
                </a:solidFill>
                <a:latin typeface="Calibri" pitchFamily="34" charset="0"/>
                <a:ea typeface="Calibri" pitchFamily="34" charset="-122"/>
                <a:cs typeface="Calibri" pitchFamily="34" charset="-120"/>
              </a:rPr>
              <a:t>The work, decisions and evidence are ours. We take responsibility for every claim in this presentation.</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822959" y="1688253"/>
            <a:ext cx="7288107" cy="1600200"/>
          </a:xfrm>
          <a:prstGeom prst="rect">
            <a:avLst/>
          </a:prstGeom>
          <a:noFill/>
          <a:ln/>
        </p:spPr>
        <p:txBody>
          <a:bodyPr wrap="square" lIns="0" tIns="0" rIns="0" bIns="0" rtlCol="0" anchor="t"/>
          <a:lstStyle/>
          <a:p>
            <a:pPr marL="0" indent="0">
              <a:buNone/>
            </a:pPr>
            <a:r>
              <a:rPr lang="en-US" sz="8800" b="1" kern="0" spc="300" dirty="0">
                <a:solidFill>
                  <a:schemeClr val="accent2"/>
                </a:solidFill>
                <a:latin typeface="Calibri" pitchFamily="34" charset="0"/>
                <a:ea typeface="Calibri" pitchFamily="34" charset="-122"/>
                <a:cs typeface="Calibri" pitchFamily="34" charset="-120"/>
              </a:rPr>
              <a:t>CONCLUSION</a:t>
            </a:r>
            <a:endParaRPr lang="en-US" sz="8800" dirty="0"/>
          </a:p>
        </p:txBody>
      </p:sp>
      <p:sp>
        <p:nvSpPr>
          <p:cNvPr id="4" name="closing circle 1"/>
          <p:cNvSpPr/>
          <p:nvPr/>
        </p:nvSpPr>
        <p:spPr>
          <a:xfrm>
            <a:off x="822960" y="4023360"/>
            <a:ext cx="1005840" cy="1005840"/>
          </a:xfrm>
          <a:prstGeom prst="ellipse">
            <a:avLst/>
          </a:prstGeom>
          <a:solidFill>
            <a:srgbClr val="2A9D8F"/>
          </a:solidFill>
          <a:ln w="19050">
            <a:solidFill>
              <a:srgbClr val="FFFFFF"/>
            </a:solidFill>
            <a:prstDash val="solid"/>
          </a:ln>
        </p:spPr>
        <p:txBody>
          <a:bodyPr/>
          <a:lstStyle/>
          <a:p>
            <a:endParaRPr lang="en-GB"/>
          </a:p>
        </p:txBody>
      </p:sp>
      <p:pic>
        <p:nvPicPr>
          <p:cNvPr id="5" name="closing icon 1" descr="Computing"/>
          <p:cNvPicPr>
            <a:picLocks noChangeAspect="1"/>
          </p:cNvPicPr>
          <p:nvPr/>
        </p:nvPicPr>
        <p:blipFill>
          <a:blip r:embed="rId3"/>
          <a:stretch>
            <a:fillRect/>
          </a:stretch>
        </p:blipFill>
        <p:spPr>
          <a:xfrm>
            <a:off x="1088136" y="4288536"/>
            <a:ext cx="475488" cy="475488"/>
          </a:xfrm>
          <a:prstGeom prst="rect">
            <a:avLst/>
          </a:prstGeom>
        </p:spPr>
      </p:pic>
      <p:sp>
        <p:nvSpPr>
          <p:cNvPr id="6" name="Text 3"/>
          <p:cNvSpPr txBox="1"/>
          <p:nvPr/>
        </p:nvSpPr>
        <p:spPr>
          <a:xfrm>
            <a:off x="1965960" y="4160520"/>
            <a:ext cx="1463040" cy="36576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Computing</a:t>
            </a:r>
            <a:endParaRPr lang="en-US" sz="1800" dirty="0"/>
          </a:p>
        </p:txBody>
      </p:sp>
      <p:sp>
        <p:nvSpPr>
          <p:cNvPr id="7" name="Text 4"/>
          <p:cNvSpPr txBox="1"/>
          <p:nvPr/>
        </p:nvSpPr>
        <p:spPr>
          <a:xfrm>
            <a:off x="1965960" y="4526280"/>
            <a:ext cx="1463040" cy="365760"/>
          </a:xfrm>
          <a:prstGeom prst="rect">
            <a:avLst/>
          </a:prstGeom>
          <a:noFill/>
          <a:ln/>
        </p:spPr>
        <p:txBody>
          <a:bodyPr wrap="square" lIns="0" tIns="0" rIns="0" bIns="0" rtlCol="0" anchor="t"/>
          <a:lstStyle/>
          <a:p>
            <a:pPr marL="0" indent="0">
              <a:buNone/>
            </a:pPr>
            <a:r>
              <a:rPr lang="en-US" sz="1500" i="1" dirty="0">
                <a:solidFill>
                  <a:srgbClr val="C9D3EA"/>
                </a:solidFill>
                <a:latin typeface="Calibri" pitchFamily="34" charset="0"/>
                <a:ea typeface="Calibri" pitchFamily="34" charset="-122"/>
                <a:cs typeface="Calibri" pitchFamily="34" charset="-120"/>
              </a:rPr>
              <a:t>the foundation</a:t>
            </a:r>
            <a:endParaRPr lang="en-US" sz="1500" dirty="0"/>
          </a:p>
        </p:txBody>
      </p:sp>
      <p:sp>
        <p:nvSpPr>
          <p:cNvPr id="8" name="closing circle 2"/>
          <p:cNvSpPr/>
          <p:nvPr/>
        </p:nvSpPr>
        <p:spPr>
          <a:xfrm>
            <a:off x="3566160" y="4023360"/>
            <a:ext cx="1005840" cy="1005840"/>
          </a:xfrm>
          <a:prstGeom prst="ellipse">
            <a:avLst/>
          </a:prstGeom>
          <a:solidFill>
            <a:srgbClr val="C98F12"/>
          </a:solidFill>
          <a:ln w="19050">
            <a:solidFill>
              <a:srgbClr val="FFFFFF"/>
            </a:solidFill>
            <a:prstDash val="solid"/>
          </a:ln>
        </p:spPr>
        <p:txBody>
          <a:bodyPr/>
          <a:lstStyle/>
          <a:p>
            <a:endParaRPr lang="en-GB"/>
          </a:p>
        </p:txBody>
      </p:sp>
      <p:pic>
        <p:nvPicPr>
          <p:cNvPr id="9" name="closing icon 2" descr="Software"/>
          <p:cNvPicPr>
            <a:picLocks noChangeAspect="1"/>
          </p:cNvPicPr>
          <p:nvPr/>
        </p:nvPicPr>
        <p:blipFill>
          <a:blip r:embed="rId4"/>
          <a:stretch>
            <a:fillRect/>
          </a:stretch>
        </p:blipFill>
        <p:spPr>
          <a:xfrm>
            <a:off x="3831336" y="4288536"/>
            <a:ext cx="475488" cy="475488"/>
          </a:xfrm>
          <a:prstGeom prst="rect">
            <a:avLst/>
          </a:prstGeom>
        </p:spPr>
      </p:pic>
      <p:sp>
        <p:nvSpPr>
          <p:cNvPr id="10" name="Text 6"/>
          <p:cNvSpPr txBox="1"/>
          <p:nvPr/>
        </p:nvSpPr>
        <p:spPr>
          <a:xfrm>
            <a:off x="4709160" y="4160520"/>
            <a:ext cx="1463040" cy="36576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Software</a:t>
            </a:r>
            <a:endParaRPr lang="en-US" sz="1800" dirty="0"/>
          </a:p>
        </p:txBody>
      </p:sp>
      <p:sp>
        <p:nvSpPr>
          <p:cNvPr id="11" name="Text 7"/>
          <p:cNvSpPr txBox="1"/>
          <p:nvPr/>
        </p:nvSpPr>
        <p:spPr>
          <a:xfrm>
            <a:off x="4709160" y="4526280"/>
            <a:ext cx="1463040" cy="365760"/>
          </a:xfrm>
          <a:prstGeom prst="rect">
            <a:avLst/>
          </a:prstGeom>
          <a:noFill/>
          <a:ln/>
        </p:spPr>
        <p:txBody>
          <a:bodyPr wrap="square" lIns="0" tIns="0" rIns="0" bIns="0" rtlCol="0" anchor="t"/>
          <a:lstStyle/>
          <a:p>
            <a:pPr marL="0" indent="0">
              <a:buNone/>
            </a:pPr>
            <a:r>
              <a:rPr lang="en-US" sz="1500" i="1" dirty="0">
                <a:solidFill>
                  <a:srgbClr val="C9D3EA"/>
                </a:solidFill>
                <a:latin typeface="Calibri" pitchFamily="34" charset="0"/>
                <a:ea typeface="Calibri" pitchFamily="34" charset="-122"/>
                <a:cs typeface="Calibri" pitchFamily="34" charset="-120"/>
              </a:rPr>
              <a:t>the solution</a:t>
            </a:r>
            <a:endParaRPr lang="en-US" sz="1500" dirty="0"/>
          </a:p>
        </p:txBody>
      </p:sp>
      <p:sp>
        <p:nvSpPr>
          <p:cNvPr id="12" name="closing circle 3"/>
          <p:cNvSpPr/>
          <p:nvPr/>
        </p:nvSpPr>
        <p:spPr>
          <a:xfrm>
            <a:off x="6309360" y="4023360"/>
            <a:ext cx="1005840" cy="1005840"/>
          </a:xfrm>
          <a:prstGeom prst="ellipse">
            <a:avLst/>
          </a:prstGeom>
          <a:solidFill>
            <a:srgbClr val="1F3A6B"/>
          </a:solidFill>
          <a:ln w="19050">
            <a:solidFill>
              <a:srgbClr val="FFFFFF"/>
            </a:solidFill>
            <a:prstDash val="solid"/>
          </a:ln>
        </p:spPr>
        <p:txBody>
          <a:bodyPr/>
          <a:lstStyle/>
          <a:p>
            <a:endParaRPr lang="en-GB"/>
          </a:p>
        </p:txBody>
      </p:sp>
      <p:pic>
        <p:nvPicPr>
          <p:cNvPr id="13" name="closing icon 3" descr="Networking"/>
          <p:cNvPicPr>
            <a:picLocks noChangeAspect="1"/>
          </p:cNvPicPr>
          <p:nvPr/>
        </p:nvPicPr>
        <p:blipFill>
          <a:blip r:embed="rId5"/>
          <a:stretch>
            <a:fillRect/>
          </a:stretch>
        </p:blipFill>
        <p:spPr>
          <a:xfrm>
            <a:off x="6574536" y="4288536"/>
            <a:ext cx="475488" cy="475488"/>
          </a:xfrm>
          <a:prstGeom prst="rect">
            <a:avLst/>
          </a:prstGeom>
        </p:spPr>
      </p:pic>
      <p:sp>
        <p:nvSpPr>
          <p:cNvPr id="14" name="Text 9"/>
          <p:cNvSpPr txBox="1"/>
          <p:nvPr/>
        </p:nvSpPr>
        <p:spPr>
          <a:xfrm>
            <a:off x="7452360" y="4160520"/>
            <a:ext cx="1463040" cy="36576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Networking</a:t>
            </a:r>
            <a:endParaRPr lang="en-US" sz="1800" dirty="0"/>
          </a:p>
        </p:txBody>
      </p:sp>
      <p:sp>
        <p:nvSpPr>
          <p:cNvPr id="15" name="Text 10"/>
          <p:cNvSpPr txBox="1"/>
          <p:nvPr/>
        </p:nvSpPr>
        <p:spPr>
          <a:xfrm>
            <a:off x="7452360" y="4526280"/>
            <a:ext cx="1463040" cy="365760"/>
          </a:xfrm>
          <a:prstGeom prst="rect">
            <a:avLst/>
          </a:prstGeom>
          <a:noFill/>
          <a:ln/>
        </p:spPr>
        <p:txBody>
          <a:bodyPr wrap="square" lIns="0" tIns="0" rIns="0" bIns="0" rtlCol="0" anchor="t"/>
          <a:lstStyle/>
          <a:p>
            <a:pPr marL="0" indent="0">
              <a:buNone/>
            </a:pPr>
            <a:r>
              <a:rPr lang="en-US" sz="1500" i="1" dirty="0">
                <a:solidFill>
                  <a:srgbClr val="C9D3EA"/>
                </a:solidFill>
                <a:latin typeface="Calibri" pitchFamily="34" charset="0"/>
                <a:ea typeface="Calibri" pitchFamily="34" charset="-122"/>
                <a:cs typeface="Calibri" pitchFamily="34" charset="-120"/>
              </a:rPr>
              <a:t>the connection</a:t>
            </a:r>
            <a:endParaRPr lang="en-US" sz="1500" dirty="0"/>
          </a:p>
        </p:txBody>
      </p:sp>
      <p:sp>
        <p:nvSpPr>
          <p:cNvPr id="16" name="closing circle 4"/>
          <p:cNvSpPr/>
          <p:nvPr/>
        </p:nvSpPr>
        <p:spPr>
          <a:xfrm>
            <a:off x="9052560" y="4023360"/>
            <a:ext cx="1005840" cy="1005840"/>
          </a:xfrm>
          <a:prstGeom prst="ellipse">
            <a:avLst/>
          </a:prstGeom>
          <a:solidFill>
            <a:srgbClr val="D64541"/>
          </a:solidFill>
          <a:ln w="19050">
            <a:solidFill>
              <a:srgbClr val="FFFFFF"/>
            </a:solidFill>
            <a:prstDash val="solid"/>
          </a:ln>
        </p:spPr>
        <p:txBody>
          <a:bodyPr/>
          <a:lstStyle/>
          <a:p>
            <a:endParaRPr lang="en-GB"/>
          </a:p>
        </p:txBody>
      </p:sp>
      <p:pic>
        <p:nvPicPr>
          <p:cNvPr id="17" name="closing icon 4" descr="Security"/>
          <p:cNvPicPr>
            <a:picLocks noChangeAspect="1"/>
          </p:cNvPicPr>
          <p:nvPr/>
        </p:nvPicPr>
        <p:blipFill>
          <a:blip r:embed="rId6"/>
          <a:stretch>
            <a:fillRect/>
          </a:stretch>
        </p:blipFill>
        <p:spPr>
          <a:xfrm>
            <a:off x="9317736" y="4288536"/>
            <a:ext cx="475488" cy="475488"/>
          </a:xfrm>
          <a:prstGeom prst="rect">
            <a:avLst/>
          </a:prstGeom>
        </p:spPr>
      </p:pic>
      <p:sp>
        <p:nvSpPr>
          <p:cNvPr id="18" name="Text 12"/>
          <p:cNvSpPr txBox="1"/>
          <p:nvPr/>
        </p:nvSpPr>
        <p:spPr>
          <a:xfrm>
            <a:off x="10195560" y="4160520"/>
            <a:ext cx="1463040" cy="36576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Security</a:t>
            </a:r>
            <a:endParaRPr lang="en-US" sz="1800" dirty="0"/>
          </a:p>
        </p:txBody>
      </p:sp>
      <p:sp>
        <p:nvSpPr>
          <p:cNvPr id="19" name="Text 13"/>
          <p:cNvSpPr txBox="1"/>
          <p:nvPr/>
        </p:nvSpPr>
        <p:spPr>
          <a:xfrm>
            <a:off x="10195560" y="4526280"/>
            <a:ext cx="1463040" cy="365760"/>
          </a:xfrm>
          <a:prstGeom prst="rect">
            <a:avLst/>
          </a:prstGeom>
          <a:noFill/>
          <a:ln/>
        </p:spPr>
        <p:txBody>
          <a:bodyPr wrap="square" lIns="0" tIns="0" rIns="0" bIns="0" rtlCol="0" anchor="t"/>
          <a:lstStyle/>
          <a:p>
            <a:pPr marL="0" indent="0">
              <a:buNone/>
            </a:pPr>
            <a:r>
              <a:rPr lang="en-US" sz="1500" i="1" dirty="0">
                <a:solidFill>
                  <a:srgbClr val="C9D3EA"/>
                </a:solidFill>
                <a:latin typeface="Calibri" pitchFamily="34" charset="0"/>
                <a:ea typeface="Calibri" pitchFamily="34" charset="-122"/>
                <a:cs typeface="Calibri" pitchFamily="34" charset="-120"/>
              </a:rPr>
              <a:t>the protection</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backdrop circle"/>
          <p:cNvSpPr/>
          <p:nvPr/>
        </p:nvSpPr>
        <p:spPr>
          <a:xfrm>
            <a:off x="7589520" y="640080"/>
            <a:ext cx="4572000" cy="4572000"/>
          </a:xfrm>
          <a:prstGeom prst="ellipse">
            <a:avLst/>
          </a:prstGeom>
          <a:solidFill>
            <a:schemeClr val="accent4">
              <a:alpha val="45000"/>
            </a:schemeClr>
          </a:solidFill>
          <a:ln w="12700">
            <a:solidFill>
              <a:schemeClr val="accent4"/>
            </a:solidFill>
            <a:prstDash val="solid"/>
          </a:ln>
        </p:spPr>
        <p:txBody>
          <a:bodyPr/>
          <a:lstStyle/>
          <a:p>
            <a:endParaRPr lang="en-GB"/>
          </a:p>
        </p:txBody>
      </p:sp>
      <p:sp>
        <p:nvSpPr>
          <p:cNvPr id="3" name="qa circle"/>
          <p:cNvSpPr/>
          <p:nvPr/>
        </p:nvSpPr>
        <p:spPr>
          <a:xfrm>
            <a:off x="8412480" y="1463040"/>
            <a:ext cx="2926080" cy="2926080"/>
          </a:xfrm>
          <a:prstGeom prst="ellipse">
            <a:avLst/>
          </a:prstGeom>
          <a:solidFill>
            <a:schemeClr val="accent2"/>
          </a:solidFill>
          <a:ln w="50800">
            <a:solidFill>
              <a:schemeClr val="tx2"/>
            </a:solidFill>
            <a:prstDash val="solid"/>
          </a:ln>
        </p:spPr>
        <p:txBody>
          <a:bodyPr/>
          <a:lstStyle/>
          <a:p>
            <a:endParaRPr lang="en-GB"/>
          </a:p>
        </p:txBody>
      </p:sp>
      <p:pic>
        <p:nvPicPr>
          <p:cNvPr id="4" name="qa icon" descr="Questions"/>
          <p:cNvPicPr>
            <a:picLocks noChangeAspect="1"/>
          </p:cNvPicPr>
          <p:nvPr/>
        </p:nvPicPr>
        <p:blipFill>
          <a:blip r:embed="rId3"/>
          <a:stretch>
            <a:fillRect/>
          </a:stretch>
        </p:blipFill>
        <p:spPr>
          <a:xfrm>
            <a:off x="9326880" y="2377440"/>
            <a:ext cx="1097280" cy="1097280"/>
          </a:xfrm>
          <a:prstGeom prst="rect">
            <a:avLst/>
          </a:prstGeom>
        </p:spPr>
      </p:pic>
      <p:sp>
        <p:nvSpPr>
          <p:cNvPr id="5" name="Text 2"/>
          <p:cNvSpPr txBox="1"/>
          <p:nvPr/>
        </p:nvSpPr>
        <p:spPr>
          <a:xfrm>
            <a:off x="822960" y="1554480"/>
            <a:ext cx="6400800" cy="548640"/>
          </a:xfrm>
          <a:prstGeom prst="rect">
            <a:avLst/>
          </a:prstGeom>
          <a:noFill/>
          <a:ln/>
        </p:spPr>
        <p:txBody>
          <a:bodyPr wrap="square" lIns="0" tIns="0" rIns="0" bIns="0" rtlCol="0" anchor="t"/>
          <a:lstStyle/>
          <a:p>
            <a:pPr marL="0" indent="0">
              <a:buNone/>
            </a:pPr>
            <a:r>
              <a:rPr lang="en-US" sz="2400" i="1" dirty="0">
                <a:solidFill>
                  <a:srgbClr val="C9D3EA"/>
                </a:solidFill>
                <a:latin typeface="Calibri" pitchFamily="34" charset="0"/>
                <a:ea typeface="Calibri" pitchFamily="34" charset="-122"/>
                <a:cs typeface="Calibri" pitchFamily="34" charset="-120"/>
              </a:rPr>
              <a:t>Thank you</a:t>
            </a:r>
            <a:endParaRPr lang="en-US" sz="2400" dirty="0"/>
          </a:p>
        </p:txBody>
      </p:sp>
      <p:sp>
        <p:nvSpPr>
          <p:cNvPr id="6" name="Text 3"/>
          <p:cNvSpPr txBox="1"/>
          <p:nvPr/>
        </p:nvSpPr>
        <p:spPr>
          <a:xfrm>
            <a:off x="822960" y="2194560"/>
            <a:ext cx="6766560" cy="1463040"/>
          </a:xfrm>
          <a:prstGeom prst="rect">
            <a:avLst/>
          </a:prstGeom>
          <a:noFill/>
          <a:ln/>
        </p:spPr>
        <p:txBody>
          <a:bodyPr wrap="square" lIns="0" tIns="0" rIns="0" bIns="0" rtlCol="0" anchor="ctr"/>
          <a:lstStyle/>
          <a:p>
            <a:pPr marL="0" indent="0">
              <a:buNone/>
            </a:pPr>
            <a:r>
              <a:rPr lang="en-US" sz="7200" b="1" dirty="0">
                <a:solidFill>
                  <a:schemeClr val="bg1"/>
                </a:solidFill>
                <a:latin typeface="Cambria" pitchFamily="34" charset="0"/>
                <a:ea typeface="Cambria" pitchFamily="34" charset="-122"/>
                <a:cs typeface="Cambria" pitchFamily="34" charset="-120"/>
              </a:rPr>
              <a:t>Questions?</a:t>
            </a:r>
            <a:endParaRPr lang="en-US" sz="7200" dirty="0"/>
          </a:p>
        </p:txBody>
      </p:sp>
      <p:sp>
        <p:nvSpPr>
          <p:cNvPr id="7" name="Text 4"/>
          <p:cNvSpPr txBox="1"/>
          <p:nvPr/>
        </p:nvSpPr>
        <p:spPr>
          <a:xfrm>
            <a:off x="822960" y="5394960"/>
            <a:ext cx="6858000" cy="731520"/>
          </a:xfrm>
          <a:prstGeom prst="rect">
            <a:avLst/>
          </a:prstGeom>
          <a:noFill/>
          <a:ln/>
        </p:spPr>
        <p:txBody>
          <a:bodyPr wrap="square" lIns="0" tIns="0" rIns="0" bIns="0" rtlCol="0" anchor="t"/>
          <a:lstStyle/>
          <a:p>
            <a:pPr marL="0" indent="0">
              <a:buNone/>
            </a:pPr>
            <a:r>
              <a:rPr lang="en-US" sz="1500" dirty="0">
                <a:solidFill>
                  <a:srgbClr val="C9D3EA"/>
                </a:solidFill>
                <a:latin typeface="Calibri" pitchFamily="34" charset="0"/>
                <a:ea typeface="Calibri" pitchFamily="34" charset="-122"/>
                <a:cs typeface="Calibri" pitchFamily="34" charset="-120"/>
              </a:rPr>
              <a:t>Team 3  ·  Enrique Manzano Ayala  ·  Chiamaka Eluwa  ·  Toby Mathew  ·  Fatimah Bibi</a:t>
            </a:r>
            <a:endParaRPr lang="en-US" sz="1500" dirty="0"/>
          </a:p>
        </p:txBody>
      </p:sp>
    </p:spTree>
  </p:cSld>
  <p:clrMapOvr>
    <a:masterClrMapping/>
  </p:clrMapOvr>
</p:sld>
</file>

<file path=ppt/theme/theme1.xml><?xml version="1.0" encoding="utf-8"?>
<a:theme xmlns:a="http://schemas.openxmlformats.org/drawingml/2006/main" name="Pennine Deck">
  <a:themeElements>
    <a:clrScheme name="Pennine Deck">
      <a:dk1>
        <a:srgbClr val="1B2335"/>
      </a:dk1>
      <a:lt1>
        <a:srgbClr val="FFFFFF"/>
      </a:lt1>
      <a:dk2>
        <a:srgbClr val="16264B"/>
      </a:dk2>
      <a:lt2>
        <a:srgbClr val="F4F6FB"/>
      </a:lt2>
      <a:accent1>
        <a:srgbClr val="2A9D8F"/>
      </a:accent1>
      <a:accent2>
        <a:srgbClr val="E0A82E"/>
      </a:accent2>
      <a:accent3>
        <a:srgbClr val="D64541"/>
      </a:accent3>
      <a:accent4>
        <a:srgbClr val="1F3A6B"/>
      </a:accent4>
      <a:accent5>
        <a:srgbClr val="7A8CA8"/>
      </a:accent5>
      <a:accent6>
        <a:srgbClr val="F3D9A4"/>
      </a:accent6>
      <a:hlink>
        <a:srgbClr val="2A9D8F"/>
      </a:hlink>
      <a:folHlink>
        <a:srgbClr val="7A8CA8"/>
      </a:folHlink>
    </a:clrScheme>
    <a:fontScheme name="Pennine D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2581</Words>
  <Application>Microsoft Office PowerPoint</Application>
  <PresentationFormat>Widescreen</PresentationFormat>
  <Paragraphs>508</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Courier New</vt:lpstr>
      <vt:lpstr>Pennine Deck</vt:lpstr>
      <vt:lpstr>PowerPoint Presentation</vt:lpstr>
      <vt:lpstr>Meet the team</vt:lpstr>
      <vt:lpstr>One story: from the machine to staying safe</vt:lpstr>
      <vt:lpstr>PowerPoint Presentation</vt:lpstr>
      <vt:lpstr>The problem: building PCs for four job roles</vt:lpstr>
      <vt:lpstr>The solution: five builds, one choice each</vt:lpstr>
      <vt:lpstr>The builds: one proposal for each role</vt:lpstr>
      <vt:lpstr>Database design: four linked tables</vt:lpstr>
      <vt:lpstr>SQL evidence: 11 queries, all tested</vt:lpstr>
      <vt:lpstr>Final review: 12 workstations, within budget</vt:lpstr>
      <vt:lpstr>PowerPoint Presentation</vt:lpstr>
      <vt:lpstr>The problem: pizza orders done by hand</vt:lpstr>
      <vt:lpstr>Our approach: the waterfall model</vt:lpstr>
      <vt:lpstr>Design: break the problem into small parts</vt:lpstr>
      <vt:lpstr>Live demo: the program running</vt:lpstr>
      <vt:lpstr>Testing: 19 tests, 3 kinds of data</vt:lpstr>
      <vt:lpstr>Testing found bugs, so we fixed them</vt:lpstr>
      <vt:lpstr>PowerPoint Presentation</vt:lpstr>
      <vt:lpstr>The problem: a network for a design studio</vt:lpstr>
      <vt:lpstr>The solution: a routed office LAN</vt:lpstr>
      <vt:lpstr>The network diagram</vt:lpstr>
      <vt:lpstr>Configuration: addresses and gateways</vt:lpstr>
      <vt:lpstr>PowerPoint Presentation</vt:lpstr>
      <vt:lpstr>Cybersecurity: safer choices online</vt:lpstr>
      <vt:lpstr>Password hygiene and MFA</vt:lpstr>
      <vt:lpstr>Phishing</vt:lpstr>
      <vt:lpstr>Patching, devices and public Wi-Fi</vt:lpstr>
      <vt:lpstr>Five fundamentals</vt:lpstr>
      <vt:lpstr>Reflection: what connects the four projects</vt:lpstr>
      <vt:lpstr>Use of generative AI</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3 Oral Presentation</dc:title>
  <dc:subject>PptxGenJS Presentation</dc:subject>
  <dc:creator>Chiamaka Eluwa</dc:creator>
  <cp:lastModifiedBy>Manzano Ayala, Enrique</cp:lastModifiedBy>
  <cp:revision>2</cp:revision>
  <dcterms:created xsi:type="dcterms:W3CDTF">2026-10-22T09:48:32Z</dcterms:created>
  <dcterms:modified xsi:type="dcterms:W3CDTF">2026-10-22T10:12:48Z</dcterms:modified>
</cp:coreProperties>
</file>